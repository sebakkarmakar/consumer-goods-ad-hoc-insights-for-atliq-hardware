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rts/chart2.xml" ContentType="application/vnd.openxmlformats-officedocument.drawingml.chart+xml"/>
  <Override PartName="/ppt/notesSlides/notesSlide11.xml" ContentType="application/vnd.openxmlformats-officedocument.presentationml.notesSlide+xml"/>
  <Override PartName="/ppt/charts/chart3.xml" ContentType="application/vnd.openxmlformats-officedocument.drawingml.chart+xml"/>
  <Override PartName="/ppt/notesSlides/notesSlide12.xml" ContentType="application/vnd.openxmlformats-officedocument.presentationml.notesSlide+xml"/>
  <Override PartName="/ppt/charts/chart4.xml" ContentType="application/vnd.openxmlformats-officedocument.drawingml.chart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charts/chart5.xml" ContentType="application/vnd.openxmlformats-officedocument.drawingml.chart+xml"/>
  <Override PartName="/ppt/notesSlides/notesSlide15.xml" ContentType="application/vnd.openxmlformats-officedocument.presentationml.notesSlide+xml"/>
  <Override PartName="/ppt/charts/chart6.xml" ContentType="application/vnd.openxmlformats-officedocument.drawingml.chart+xml"/>
  <Override PartName="/ppt/notesSlides/notesSlide16.xml" ContentType="application/vnd.openxmlformats-officedocument.presentationml.notesSlide+xml"/>
  <Override PartName="/ppt/charts/chart7.xml" ContentType="application/vnd.openxmlformats-officedocument.drawingml.chart+xml"/>
  <Override PartName="/ppt/notesSlides/notesSlide17.xml" ContentType="application/vnd.openxmlformats-officedocument.presentationml.notesSlide+xml"/>
  <Override PartName="/ppt/charts/chart8.xml" ContentType="application/vnd.openxmlformats-officedocument.drawingml.chart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charts/chart9.xml" ContentType="application/vnd.openxmlformats-officedocument.drawingml.chart+xml"/>
  <Override PartName="/ppt/notesSlides/notesSlide20.xml" ContentType="application/vnd.openxmlformats-officedocument.presentationml.notesSlide+xml"/>
  <Override PartName="/ppt/charts/chart10.xml" ContentType="application/vnd.openxmlformats-officedocument.drawingml.chart+xml"/>
  <Override PartName="/ppt/notesSlides/notesSlide21.xml" ContentType="application/vnd.openxmlformats-officedocument.presentationml.notesSlide+xml"/>
  <Override PartName="/ppt/charts/chart11.xml" ContentType="application/vnd.openxmlformats-officedocument.drawingml.chart+xml"/>
  <Override PartName="/ppt/charts/chart12.xml" ContentType="application/vnd.openxmlformats-officedocument.drawingml.chart+xml"/>
  <Override PartName="/ppt/charts/chart13.xml" ContentType="application/vnd.openxmlformats-officedocument.drawingml.chart+xml"/>
  <Override PartName="/ppt/notesSlides/notesSlide22.xml" ContentType="application/vnd.openxmlformats-officedocument.presentationml.notesSlide+xml"/>
  <Override PartName="/ppt/charts/chart14.xml" ContentType="application/vnd.openxmlformats-officedocument.drawingml.chart+xml"/>
  <Override PartName="/ppt/notesSlides/notesSlide23.xml" ContentType="application/vnd.openxmlformats-officedocument.presentationml.notesSlide+xml"/>
  <Override PartName="/ppt/charts/chart15.xml" ContentType="application/vnd.openxmlformats-officedocument.drawingml.chart+xml"/>
  <Override PartName="/ppt/notesSlides/notesSlide24.xml" ContentType="application/vnd.openxmlformats-officedocument.presentationml.notesSlide+xml"/>
  <Override PartName="/ppt/charts/chart16.xml" ContentType="application/vnd.openxmlformats-officedocument.drawingml.chart+xml"/>
  <Override PartName="/ppt/notesSlides/notesSlide25.xml" ContentType="application/vnd.openxmlformats-officedocument.presentationml.notesSlide+xml"/>
  <Override PartName="/ppt/charts/chart17.xml" ContentType="application/vnd.openxmlformats-officedocument.drawingml.chart+xml"/>
  <Override PartName="/ppt/notesSlides/notesSlide26.xml" ContentType="application/vnd.openxmlformats-officedocument.presentationml.notesSlide+xml"/>
  <Override PartName="/ppt/charts/chart18.xml" ContentType="application/vnd.openxmlformats-officedocument.drawingml.chart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97" r:id="rId29"/>
    <p:sldId id="296" r:id="rId30"/>
    <p:sldId id="295" r:id="rId31"/>
    <p:sldId id="283" r:id="rId32"/>
    <p:sldId id="284" r:id="rId33"/>
    <p:sldId id="285" r:id="rId34"/>
    <p:sldId id="286" r:id="rId35"/>
    <p:sldId id="287" r:id="rId36"/>
    <p:sldId id="288" r:id="rId37"/>
    <p:sldId id="289" r:id="rId38"/>
    <p:sldId id="290" r:id="rId39"/>
    <p:sldId id="291" r:id="rId40"/>
    <p:sldId id="292" r:id="rId41"/>
    <p:sldId id="293" r:id="rId42"/>
    <p:sldId id="294" r:id="rId43"/>
    <p:sldId id="298" r:id="rId4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pening" id="{A2B18DC6-6F00-3C59-CA7C-FAB98A04D405}">
          <p14:sldIdLst>
            <p14:sldId id="256"/>
          </p14:sldIdLst>
        </p14:section>
        <p14:section name="Context" id="{F9AD0CD2-DDEC-2610-E04F-D1DF3C603F2F}">
          <p14:sldIdLst>
            <p14:sldId id="257"/>
            <p14:sldId id="258"/>
            <p14:sldId id="259"/>
            <p14:sldId id="260"/>
            <p14:sldId id="261"/>
            <p14:sldId id="262"/>
          </p14:sldIdLst>
        </p14:section>
        <p14:section name="Analytics and insights" id="{E0897F5D-5814-81CC-7FA4-449EE75FC302}">
          <p14:sldIdLst>
            <p14:sldId id="263"/>
            <p14:sldId id="264"/>
            <p14:sldId id="265"/>
            <p14:sldId id="266"/>
            <p14:sldId id="267"/>
            <p14:sldId id="268"/>
            <p14:sldId id="269"/>
            <p14:sldId id="270"/>
            <p14:sldId id="271"/>
            <p14:sldId id="272"/>
            <p14:sldId id="273"/>
            <p14:sldId id="274"/>
            <p14:sldId id="275"/>
            <p14:sldId id="276"/>
            <p14:sldId id="277"/>
            <p14:sldId id="278"/>
            <p14:sldId id="279"/>
            <p14:sldId id="280"/>
            <p14:sldId id="281"/>
          </p14:sldIdLst>
        </p14:section>
        <p14:section name="Wrap-up" id="{9631867F-DEA5-BF34-6004-E1DC824843FB}">
          <p14:sldIdLst>
            <p14:sldId id="282"/>
            <p14:sldId id="297"/>
            <p14:sldId id="296"/>
            <p14:sldId id="295"/>
          </p14:sldIdLst>
        </p14:section>
        <p14:section name="Appendix" id="{9C9CB220-77D5-C8D6-CF0F-EB0BB6E2CABE}">
          <p14:sldIdLst>
            <p14:sldId id="283"/>
            <p14:sldId id="284"/>
            <p14:sldId id="285"/>
            <p14:sldId id="286"/>
            <p14:sldId id="287"/>
            <p14:sldId id="288"/>
            <p14:sldId id="289"/>
            <p14:sldId id="290"/>
            <p14:sldId id="291"/>
            <p14:sldId id="292"/>
            <p14:sldId id="293"/>
          </p14:sldIdLst>
        </p14:section>
        <p14:section name="Closing" id="{B53BE5B2-E696-DD22-8F45-1FDE03B1B707}">
          <p14:sldIdLst>
            <p14:sldId id="294"/>
            <p14:sldId id="29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3" d="100"/>
          <a:sy n="113" d="100"/>
        </p:scale>
        <p:origin x="47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8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9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_rels/chart10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9.xlsx"/></Relationships>
</file>

<file path=ppt/charts/_rels/chart1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0.xlsx"/></Relationships>
</file>

<file path=ppt/charts/_rels/chart1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1.xlsx"/></Relationships>
</file>

<file path=ppt/charts/_rels/chart1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2.xlsx"/></Relationships>
</file>

<file path=ppt/charts/_rels/chart1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3.xlsx"/></Relationships>
</file>

<file path=ppt/charts/_rels/chart1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4.xlsx"/></Relationships>
</file>

<file path=ppt/charts/_rels/chart1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5.xlsx"/></Relationships>
</file>

<file path=ppt/charts/_rels/chart1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6.xlsx"/></Relationships>
</file>

<file path=ppt/charts/_rels/chart18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7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11A3E"/>
                </a:solidFill>
                <a:latin typeface="+mn-lt"/>
              </a:defRPr>
            </a:pPr>
            <a:r>
              <a:rPr lang="en-IN" sz="1300" b="0" i="0" u="none" strike="noStrike">
                <a:solidFill>
                  <a:srgbClr val="111A3E"/>
                </a:solidFill>
                <a:latin typeface="+mn-lt"/>
              </a:rPr>
              <a:t>Products by division</a:t>
            </a:r>
          </a:p>
        </c:rich>
      </c:tx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Products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FFC53D"/>
              </a:solidFill>
              <a:ln w="25400" cap="flat">
                <a:solidFill>
                  <a:srgbClr val="111A3E"/>
                </a:solidFill>
                <a:prstDash val="solid"/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1-B084-43E4-84E0-F2947DFE55F0}"/>
              </c:ext>
            </c:extLst>
          </c:dPt>
          <c:dPt>
            <c:idx val="1"/>
            <c:bubble3D val="0"/>
            <c:spPr>
              <a:solidFill>
                <a:srgbClr val="FF5A5F"/>
              </a:solidFill>
              <a:ln w="25400" cap="flat">
                <a:solidFill>
                  <a:srgbClr val="111A3E"/>
                </a:solidFill>
                <a:prstDash val="solid"/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3-B084-43E4-84E0-F2947DFE55F0}"/>
              </c:ext>
            </c:extLst>
          </c:dPt>
          <c:dPt>
            <c:idx val="2"/>
            <c:bubble3D val="0"/>
            <c:spPr>
              <a:solidFill>
                <a:srgbClr val="22C3B0"/>
              </a:solidFill>
              <a:ln w="25400" cap="flat">
                <a:solidFill>
                  <a:srgbClr val="111A3E"/>
                </a:solidFill>
                <a:prstDash val="solid"/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5-B084-43E4-84E0-F2947DFE55F0}"/>
              </c:ext>
            </c:extLst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400" b="1" i="0" u="none" strike="noStrike">
                      <a:solidFill>
                        <a:srgbClr val="111A3E"/>
                      </a:solidFill>
                      <a:latin typeface="+mn-lt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B084-43E4-84E0-F2947DFE55F0}"/>
                </c:ext>
              </c:extLst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400" b="1" i="0" u="none" strike="noStrike">
                      <a:solidFill>
                        <a:srgbClr val="111A3E"/>
                      </a:solidFill>
                      <a:latin typeface="+mn-lt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B084-43E4-84E0-F2947DFE55F0}"/>
                </c:ext>
              </c:extLst>
            </c:dLbl>
            <c:dLbl>
              <c:idx val="2"/>
              <c:numFmt formatCode="General" sourceLinked="0"/>
              <c:spPr/>
              <c:txPr>
                <a:bodyPr/>
                <a:lstStyle/>
                <a:p>
                  <a:pPr>
                    <a:defRPr sz="1400" b="1" i="0" u="none" strike="noStrike">
                      <a:solidFill>
                        <a:srgbClr val="111A3E"/>
                      </a:solidFill>
                      <a:latin typeface="+mn-lt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B084-43E4-84E0-F2947DFE55F0}"/>
                </c:ext>
              </c:extLst>
            </c:dLbl>
            <c:numFmt formatCode="General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1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Sheet1!$A$2:$A$4</c:f>
              <c:strCache>
                <c:ptCount val="3"/>
                <c:pt idx="0">
                  <c:v>P&amp;A</c:v>
                </c:pt>
                <c:pt idx="1">
                  <c:v>PC</c:v>
                </c:pt>
                <c:pt idx="2">
                  <c:v>N&amp;S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200</c:v>
                </c:pt>
                <c:pt idx="1">
                  <c:v>161</c:v>
                </c:pt>
                <c:pt idx="2">
                  <c:v>36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B084-43E4-84E0-F2947DFE55F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2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111A3E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11A3E"/>
                </a:solidFill>
                <a:latin typeface="+mn-lt"/>
              </a:defRPr>
            </a:pPr>
            <a:r>
              <a:rPr lang="en-IN" sz="1400" b="0" i="0" u="none" strike="noStrike">
                <a:solidFill>
                  <a:srgbClr val="111A3E"/>
                </a:solidFill>
                <a:latin typeface="+mn-lt"/>
              </a:rPr>
              <a:t>Unique products sold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Unique products</c:v>
                </c:pt>
              </c:strCache>
            </c:strRef>
          </c:tx>
          <c:spPr>
            <a:solidFill>
              <a:srgbClr val="2B3A7A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2B3A7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8AB4-41C6-A615-0069A00B7672}"/>
              </c:ext>
            </c:extLst>
          </c:dPt>
          <c:dPt>
            <c:idx val="1"/>
            <c:invertIfNegative val="0"/>
            <c:bubble3D val="0"/>
            <c:spPr>
              <a:solidFill>
                <a:srgbClr val="FF5A5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8AB4-41C6-A615-0069A00B7672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1" i="0" u="none" strike="noStrike">
                    <a:solidFill>
                      <a:srgbClr val="111A3E"/>
                    </a:solidFill>
                    <a:latin typeface="+mn-lt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2020</c:v>
                </c:pt>
                <c:pt idx="1">
                  <c:v>2021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245</c:v>
                </c:pt>
                <c:pt idx="1">
                  <c:v>334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8AB4-41C6-A615-0069A00B7672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55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111A3E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400"/>
          <c:min val="0"/>
        </c:scaling>
        <c:delete val="1"/>
        <c:axPos val="l"/>
        <c:majorGridlines>
          <c:spPr>
            <a:ln w="9525" cap="flat">
              <a:solidFill>
                <a:srgbClr val="DCE3F7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11A3E"/>
                </a:solidFill>
                <a:latin typeface="+mn-lt"/>
              </a:defRPr>
            </a:pPr>
            <a:r>
              <a:rPr lang="en-IN" sz="1400" b="0" i="0" u="none" strike="noStrike">
                <a:solidFill>
                  <a:srgbClr val="111A3E"/>
                </a:solidFill>
                <a:latin typeface="+mn-lt"/>
              </a:rPr>
              <a:t>Unique products per segment</a:t>
            </a:r>
          </a:p>
        </c:rich>
      </c:tx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Products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FF5A5F"/>
              </a:solidFill>
              <a:ln w="25400" cap="flat">
                <a:solidFill>
                  <a:srgbClr val="111A3E"/>
                </a:solidFill>
                <a:prstDash val="solid"/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1-21F4-4336-B932-007C10D85277}"/>
              </c:ext>
            </c:extLst>
          </c:dPt>
          <c:dPt>
            <c:idx val="1"/>
            <c:bubble3D val="0"/>
            <c:spPr>
              <a:solidFill>
                <a:srgbClr val="FFC53D"/>
              </a:solidFill>
              <a:ln w="25400" cap="flat">
                <a:solidFill>
                  <a:srgbClr val="111A3E"/>
                </a:solidFill>
                <a:prstDash val="solid"/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3-21F4-4336-B932-007C10D85277}"/>
              </c:ext>
            </c:extLst>
          </c:dPt>
          <c:dPt>
            <c:idx val="2"/>
            <c:bubble3D val="0"/>
            <c:spPr>
              <a:solidFill>
                <a:srgbClr val="22C3B0"/>
              </a:solidFill>
              <a:ln w="25400" cap="flat">
                <a:solidFill>
                  <a:srgbClr val="111A3E"/>
                </a:solidFill>
                <a:prstDash val="solid"/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5-21F4-4336-B932-007C10D85277}"/>
              </c:ext>
            </c:extLst>
          </c:dPt>
          <c:dPt>
            <c:idx val="3"/>
            <c:bubble3D val="0"/>
            <c:spPr>
              <a:solidFill>
                <a:srgbClr val="7DB8FF"/>
              </a:solidFill>
              <a:ln w="25400" cap="flat">
                <a:solidFill>
                  <a:srgbClr val="111A3E"/>
                </a:solidFill>
                <a:prstDash val="solid"/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7-21F4-4336-B932-007C10D85277}"/>
              </c:ext>
            </c:extLst>
          </c:dPt>
          <c:dPt>
            <c:idx val="4"/>
            <c:bubble3D val="0"/>
            <c:spPr>
              <a:solidFill>
                <a:srgbClr val="B7A8FF"/>
              </a:solidFill>
              <a:ln w="25400" cap="flat">
                <a:solidFill>
                  <a:srgbClr val="111A3E"/>
                </a:solidFill>
                <a:prstDash val="solid"/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9-21F4-4336-B932-007C10D85277}"/>
              </c:ext>
            </c:extLst>
          </c:dPt>
          <c:dPt>
            <c:idx val="5"/>
            <c:bubble3D val="0"/>
            <c:spPr>
              <a:solidFill>
                <a:srgbClr val="FF8A3D"/>
              </a:solidFill>
              <a:ln w="25400" cap="flat">
                <a:solidFill>
                  <a:srgbClr val="111A3E"/>
                </a:solidFill>
                <a:prstDash val="solid"/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B-21F4-4336-B932-007C10D85277}"/>
              </c:ext>
            </c:extLst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400" b="1" i="0" u="none" strike="noStrike">
                      <a:solidFill>
                        <a:srgbClr val="111A3E"/>
                      </a:solidFill>
                      <a:latin typeface="+mn-lt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21F4-4336-B932-007C10D85277}"/>
                </c:ext>
              </c:extLst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400" b="1" i="0" u="none" strike="noStrike">
                      <a:solidFill>
                        <a:srgbClr val="111A3E"/>
                      </a:solidFill>
                      <a:latin typeface="+mn-lt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21F4-4336-B932-007C10D85277}"/>
                </c:ext>
              </c:extLst>
            </c:dLbl>
            <c:dLbl>
              <c:idx val="2"/>
              <c:numFmt formatCode="General" sourceLinked="0"/>
              <c:spPr/>
              <c:txPr>
                <a:bodyPr/>
                <a:lstStyle/>
                <a:p>
                  <a:pPr>
                    <a:defRPr sz="1400" b="1" i="0" u="none" strike="noStrike">
                      <a:solidFill>
                        <a:srgbClr val="111A3E"/>
                      </a:solidFill>
                      <a:latin typeface="+mn-lt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21F4-4336-B932-007C10D85277}"/>
                </c:ext>
              </c:extLst>
            </c:dLbl>
            <c:dLbl>
              <c:idx val="3"/>
              <c:numFmt formatCode="General" sourceLinked="0"/>
              <c:spPr/>
              <c:txPr>
                <a:bodyPr/>
                <a:lstStyle/>
                <a:p>
                  <a:pPr>
                    <a:defRPr sz="1400" b="1" i="0" u="none" strike="noStrike">
                      <a:solidFill>
                        <a:srgbClr val="111A3E"/>
                      </a:solidFill>
                      <a:latin typeface="+mn-lt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21F4-4336-B932-007C10D85277}"/>
                </c:ext>
              </c:extLst>
            </c:dLbl>
            <c:dLbl>
              <c:idx val="4"/>
              <c:numFmt formatCode="General" sourceLinked="0"/>
              <c:spPr/>
              <c:txPr>
                <a:bodyPr/>
                <a:lstStyle/>
                <a:p>
                  <a:pPr>
                    <a:defRPr sz="1400" b="1" i="0" u="none" strike="noStrike">
                      <a:solidFill>
                        <a:srgbClr val="111A3E"/>
                      </a:solidFill>
                      <a:latin typeface="+mn-lt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21F4-4336-B932-007C10D85277}"/>
                </c:ext>
              </c:extLst>
            </c:dLbl>
            <c:dLbl>
              <c:idx val="5"/>
              <c:numFmt formatCode="General" sourceLinked="0"/>
              <c:spPr/>
              <c:txPr>
                <a:bodyPr/>
                <a:lstStyle/>
                <a:p>
                  <a:pPr>
                    <a:defRPr sz="1400" b="1" i="0" u="none" strike="noStrike">
                      <a:solidFill>
                        <a:srgbClr val="111A3E"/>
                      </a:solidFill>
                      <a:latin typeface="+mn-lt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B-21F4-4336-B932-007C10D85277}"/>
                </c:ext>
              </c:extLst>
            </c:dLbl>
            <c:numFmt formatCode="General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1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Sheet1!$A$2:$A$7</c:f>
              <c:strCache>
                <c:ptCount val="6"/>
                <c:pt idx="0">
                  <c:v>Notebook</c:v>
                </c:pt>
                <c:pt idx="1">
                  <c:v>Accessories</c:v>
                </c:pt>
                <c:pt idx="2">
                  <c:v>Peripherals</c:v>
                </c:pt>
                <c:pt idx="3">
                  <c:v>Desktop</c:v>
                </c:pt>
                <c:pt idx="4">
                  <c:v>Storage</c:v>
                </c:pt>
                <c:pt idx="5">
                  <c:v>Networking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129</c:v>
                </c:pt>
                <c:pt idx="1">
                  <c:v>116</c:v>
                </c:pt>
                <c:pt idx="2">
                  <c:v>84</c:v>
                </c:pt>
                <c:pt idx="3">
                  <c:v>32</c:v>
                </c:pt>
                <c:pt idx="4">
                  <c:v>27</c:v>
                </c:pt>
                <c:pt idx="5">
                  <c:v>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21F4-4336-B932-007C10D8527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0"/>
      </c:doughnutChart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1400">
              <a:solidFill>
                <a:srgbClr val="111A3E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11A3E"/>
                </a:solidFill>
                <a:latin typeface="+mn-lt"/>
              </a:defRPr>
            </a:pPr>
            <a:r>
              <a:rPr lang="en-IN" sz="1400" b="0" i="0" u="none" strike="noStrike">
                <a:solidFill>
                  <a:srgbClr val="111A3E"/>
                </a:solidFill>
                <a:latin typeface="+mn-lt"/>
              </a:rPr>
              <a:t>Unique products by segment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2020</c:v>
                </c:pt>
              </c:strCache>
            </c:strRef>
          </c:tx>
          <c:spPr>
            <a:solidFill>
              <a:srgbClr val="2B3A7A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1" i="0" u="none" strike="noStrike">
                    <a:solidFill>
                      <a:srgbClr val="111A3E"/>
                    </a:solidFill>
                    <a:latin typeface="+mn-lt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Accessories</c:v>
                </c:pt>
                <c:pt idx="1">
                  <c:v>Notebook</c:v>
                </c:pt>
                <c:pt idx="2">
                  <c:v>Peripherals</c:v>
                </c:pt>
                <c:pt idx="3">
                  <c:v>Desktop</c:v>
                </c:pt>
                <c:pt idx="4">
                  <c:v>Storage</c:v>
                </c:pt>
                <c:pt idx="5">
                  <c:v>Networking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69</c:v>
                </c:pt>
                <c:pt idx="1">
                  <c:v>92</c:v>
                </c:pt>
                <c:pt idx="2">
                  <c:v>59</c:v>
                </c:pt>
                <c:pt idx="3">
                  <c:v>7</c:v>
                </c:pt>
                <c:pt idx="4">
                  <c:v>12</c:v>
                </c:pt>
                <c:pt idx="5">
                  <c:v>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81C-46B1-AAF1-5CE2D7E8ADB6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2021</c:v>
                </c:pt>
              </c:strCache>
            </c:strRef>
          </c:tx>
          <c:spPr>
            <a:solidFill>
              <a:srgbClr val="FF5A5F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1" i="0" u="none" strike="noStrike">
                    <a:solidFill>
                      <a:srgbClr val="111A3E"/>
                    </a:solidFill>
                    <a:latin typeface="+mn-lt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Accessories</c:v>
                </c:pt>
                <c:pt idx="1">
                  <c:v>Notebook</c:v>
                </c:pt>
                <c:pt idx="2">
                  <c:v>Peripherals</c:v>
                </c:pt>
                <c:pt idx="3">
                  <c:v>Desktop</c:v>
                </c:pt>
                <c:pt idx="4">
                  <c:v>Storage</c:v>
                </c:pt>
                <c:pt idx="5">
                  <c:v>Networking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103</c:v>
                </c:pt>
                <c:pt idx="1">
                  <c:v>108</c:v>
                </c:pt>
                <c:pt idx="2">
                  <c:v>75</c:v>
                </c:pt>
                <c:pt idx="3">
                  <c:v>22</c:v>
                </c:pt>
                <c:pt idx="4">
                  <c:v>17</c:v>
                </c:pt>
                <c:pt idx="5">
                  <c:v>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781C-46B1-AAF1-5CE2D7E8ADB6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5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11A3E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l"/>
        <c:majorGridlines>
          <c:spPr>
            <a:ln w="9525" cap="flat">
              <a:solidFill>
                <a:srgbClr val="DCE3F7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111A3E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11A3E"/>
                </a:solidFill>
                <a:latin typeface="+mn-lt"/>
              </a:defRPr>
            </a:pPr>
            <a:r>
              <a:rPr lang="en-IN" sz="1400" b="0" i="0" u="none" strike="noStrike">
                <a:solidFill>
                  <a:srgbClr val="111A3E"/>
                </a:solidFill>
                <a:latin typeface="+mn-lt"/>
              </a:rPr>
              <a:t>Average pre-invoice discount, FY2021 (%)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discount %</c:v>
                </c:pt>
              </c:strCache>
            </c:strRef>
          </c:tx>
          <c:spPr>
            <a:solidFill>
              <a:srgbClr val="FF5A5F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FF5A5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85B6-4571-92B4-BE1A965C8874}"/>
              </c:ext>
            </c:extLst>
          </c:dPt>
          <c:dPt>
            <c:idx val="1"/>
            <c:invertIfNegative val="0"/>
            <c:bubble3D val="0"/>
            <c:spPr>
              <a:solidFill>
                <a:srgbClr val="2B3A7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85B6-4571-92B4-BE1A965C8874}"/>
              </c:ext>
            </c:extLst>
          </c:dPt>
          <c:dPt>
            <c:idx val="2"/>
            <c:invertIfNegative val="0"/>
            <c:bubble3D val="0"/>
            <c:spPr>
              <a:solidFill>
                <a:srgbClr val="2B3A7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85B6-4571-92B4-BE1A965C8874}"/>
              </c:ext>
            </c:extLst>
          </c:dPt>
          <c:dPt>
            <c:idx val="3"/>
            <c:invertIfNegative val="0"/>
            <c:bubble3D val="0"/>
            <c:spPr>
              <a:solidFill>
                <a:srgbClr val="2B3A7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85B6-4571-92B4-BE1A965C8874}"/>
              </c:ext>
            </c:extLst>
          </c:dPt>
          <c:dPt>
            <c:idx val="4"/>
            <c:invertIfNegative val="0"/>
            <c:bubble3D val="0"/>
            <c:spPr>
              <a:solidFill>
                <a:srgbClr val="2B3A7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85B6-4571-92B4-BE1A965C8874}"/>
              </c:ext>
            </c:extLst>
          </c:dPt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600" b="1" i="0" u="none" strike="noStrike">
                    <a:solidFill>
                      <a:srgbClr val="111A3E"/>
                    </a:solidFill>
                    <a:latin typeface="+mn-lt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Flipkart</c:v>
                </c:pt>
                <c:pt idx="1">
                  <c:v>Viveks</c:v>
                </c:pt>
                <c:pt idx="2">
                  <c:v>Ezone</c:v>
                </c:pt>
                <c:pt idx="3">
                  <c:v>Croma</c:v>
                </c:pt>
                <c:pt idx="4">
                  <c:v>Amazon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30.83</c:v>
                </c:pt>
                <c:pt idx="1">
                  <c:v>30.38</c:v>
                </c:pt>
                <c:pt idx="2">
                  <c:v>30.28</c:v>
                </c:pt>
                <c:pt idx="3">
                  <c:v>30.25</c:v>
                </c:pt>
                <c:pt idx="4">
                  <c:v>29.33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85B6-4571-92B4-BE1A965C8874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111A3E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36"/>
          <c:min val="0"/>
        </c:scaling>
        <c:delete val="1"/>
        <c:axPos val="l"/>
        <c:majorGridlines>
          <c:spPr>
            <a:ln w="9525" cap="flat">
              <a:solidFill>
                <a:srgbClr val="DCE3F7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11A3E"/>
                </a:solidFill>
                <a:latin typeface="+mn-lt"/>
              </a:defRPr>
            </a:pPr>
            <a:r>
              <a:rPr lang="en-US" sz="1400" b="0" i="0" u="none" strike="noStrike">
                <a:solidFill>
                  <a:srgbClr val="111A3E"/>
                </a:solidFill>
                <a:latin typeface="+mn-lt"/>
              </a:rPr>
              <a:t>Monthly gross sales, AtliQ Exclusive (M)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FY2020</c:v>
                </c:pt>
              </c:strCache>
            </c:strRef>
          </c:tx>
          <c:spPr>
            <a:ln w="50800" cap="flat">
              <a:solidFill>
                <a:srgbClr val="FF5A5F"/>
              </a:solidFill>
              <a:prstDash val="solid"/>
              <a:round/>
            </a:ln>
            <a:effectLst/>
          </c:spPr>
          <c:marker>
            <c:symbol val="circle"/>
            <c:size val="8"/>
            <c:spPr>
              <a:solidFill>
                <a:srgbClr val="FF5A5F"/>
              </a:solidFill>
              <a:ln w="9525" cap="flat">
                <a:solidFill>
                  <a:srgbClr val="FF5A5F"/>
                </a:solidFill>
                <a:prstDash val="solid"/>
                <a:round/>
              </a:ln>
              <a:effectLst/>
            </c:spPr>
          </c:marker>
          <c:cat>
            <c:strRef>
              <c:f>Sheet1!$A$2:$A$13</c:f>
              <c:strCache>
                <c:ptCount val="12"/>
                <c:pt idx="0">
                  <c:v>Sep</c:v>
                </c:pt>
                <c:pt idx="1">
                  <c:v>Oct</c:v>
                </c:pt>
                <c:pt idx="2">
                  <c:v>Nov</c:v>
                </c:pt>
                <c:pt idx="3">
                  <c:v>Dec</c:v>
                </c:pt>
                <c:pt idx="4">
                  <c:v>Jan</c:v>
                </c:pt>
                <c:pt idx="5">
                  <c:v>Feb</c:v>
                </c:pt>
                <c:pt idx="6">
                  <c:v>Mar</c:v>
                </c:pt>
                <c:pt idx="7">
                  <c:v>Apr</c:v>
                </c:pt>
                <c:pt idx="8">
                  <c:v>May</c:v>
                </c:pt>
                <c:pt idx="9">
                  <c:v>Jun</c:v>
                </c:pt>
                <c:pt idx="10">
                  <c:v>Jul</c:v>
                </c:pt>
                <c:pt idx="11">
                  <c:v>Aug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9.09</c:v>
                </c:pt>
                <c:pt idx="1">
                  <c:v>10.38</c:v>
                </c:pt>
                <c:pt idx="2">
                  <c:v>15.23</c:v>
                </c:pt>
                <c:pt idx="3">
                  <c:v>9.76</c:v>
                </c:pt>
                <c:pt idx="4">
                  <c:v>9.58</c:v>
                </c:pt>
                <c:pt idx="5">
                  <c:v>8.08</c:v>
                </c:pt>
                <c:pt idx="6">
                  <c:v>0.77</c:v>
                </c:pt>
                <c:pt idx="7">
                  <c:v>0.8</c:v>
                </c:pt>
                <c:pt idx="8">
                  <c:v>1.59</c:v>
                </c:pt>
                <c:pt idx="9">
                  <c:v>3.43</c:v>
                </c:pt>
                <c:pt idx="10">
                  <c:v>5.15</c:v>
                </c:pt>
                <c:pt idx="11">
                  <c:v>5.64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5014-4DD7-95C0-4801E66F06A3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FY2021</c:v>
                </c:pt>
              </c:strCache>
            </c:strRef>
          </c:tx>
          <c:spPr>
            <a:ln w="50800" cap="flat">
              <a:solidFill>
                <a:srgbClr val="22C3B0"/>
              </a:solidFill>
              <a:prstDash val="solid"/>
              <a:round/>
            </a:ln>
            <a:effectLst/>
          </c:spPr>
          <c:marker>
            <c:symbol val="circle"/>
            <c:size val="8"/>
            <c:spPr>
              <a:solidFill>
                <a:srgbClr val="22C3B0"/>
              </a:solidFill>
              <a:ln w="9525" cap="flat">
                <a:solidFill>
                  <a:srgbClr val="22C3B0"/>
                </a:solidFill>
                <a:prstDash val="solid"/>
                <a:round/>
              </a:ln>
              <a:effectLst/>
            </c:spPr>
          </c:marker>
          <c:cat>
            <c:strRef>
              <c:f>Sheet1!$A$2:$A$13</c:f>
              <c:strCache>
                <c:ptCount val="12"/>
                <c:pt idx="0">
                  <c:v>Sep</c:v>
                </c:pt>
                <c:pt idx="1">
                  <c:v>Oct</c:v>
                </c:pt>
                <c:pt idx="2">
                  <c:v>Nov</c:v>
                </c:pt>
                <c:pt idx="3">
                  <c:v>Dec</c:v>
                </c:pt>
                <c:pt idx="4">
                  <c:v>Jan</c:v>
                </c:pt>
                <c:pt idx="5">
                  <c:v>Feb</c:v>
                </c:pt>
                <c:pt idx="6">
                  <c:v>Mar</c:v>
                </c:pt>
                <c:pt idx="7">
                  <c:v>Apr</c:v>
                </c:pt>
                <c:pt idx="8">
                  <c:v>May</c:v>
                </c:pt>
                <c:pt idx="9">
                  <c:v>Jun</c:v>
                </c:pt>
                <c:pt idx="10">
                  <c:v>Jul</c:v>
                </c:pt>
                <c:pt idx="11">
                  <c:v>Aug</c:v>
                </c:pt>
              </c:strCache>
            </c: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19.53</c:v>
                </c:pt>
                <c:pt idx="1">
                  <c:v>21.02</c:v>
                </c:pt>
                <c:pt idx="2">
                  <c:v>32.25</c:v>
                </c:pt>
                <c:pt idx="3">
                  <c:v>20.41</c:v>
                </c:pt>
                <c:pt idx="4">
                  <c:v>19.57</c:v>
                </c:pt>
                <c:pt idx="5">
                  <c:v>15.99</c:v>
                </c:pt>
                <c:pt idx="6">
                  <c:v>19.149999999999999</c:v>
                </c:pt>
                <c:pt idx="7">
                  <c:v>11.48</c:v>
                </c:pt>
                <c:pt idx="8">
                  <c:v>19.2</c:v>
                </c:pt>
                <c:pt idx="9">
                  <c:v>15.46</c:v>
                </c:pt>
                <c:pt idx="10">
                  <c:v>19.04</c:v>
                </c:pt>
                <c:pt idx="11">
                  <c:v>11.32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5014-4DD7-95C0-4801E66F06A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11A3E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DCE3F7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2B3A7A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111A3E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11A3E"/>
                </a:solidFill>
                <a:latin typeface="+mn-lt"/>
              </a:defRPr>
            </a:pPr>
            <a:r>
              <a:rPr lang="en-US" sz="1400" b="0" i="0" u="none" strike="noStrike">
                <a:solidFill>
                  <a:srgbClr val="111A3E"/>
                </a:solidFill>
                <a:latin typeface="+mn-lt"/>
              </a:rPr>
              <a:t>Units sold by fiscal quarter, FY2020 (millions)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Units (M)</c:v>
                </c:pt>
              </c:strCache>
            </c:strRef>
          </c:tx>
          <c:spPr>
            <a:solidFill>
              <a:srgbClr val="22C3B0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22C3B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C048-4613-9B76-8BA956C6F839}"/>
              </c:ext>
            </c:extLst>
          </c:dPt>
          <c:dPt>
            <c:idx val="1"/>
            <c:invertIfNegative val="0"/>
            <c:bubble3D val="0"/>
            <c:spPr>
              <a:solidFill>
                <a:srgbClr val="7DB8F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C048-4613-9B76-8BA956C6F839}"/>
              </c:ext>
            </c:extLst>
          </c:dPt>
          <c:dPt>
            <c:idx val="2"/>
            <c:invertIfNegative val="0"/>
            <c:bubble3D val="0"/>
            <c:spPr>
              <a:solidFill>
                <a:srgbClr val="FF5A5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C048-4613-9B76-8BA956C6F839}"/>
              </c:ext>
            </c:extLst>
          </c:dPt>
          <c:dPt>
            <c:idx val="3"/>
            <c:invertIfNegative val="0"/>
            <c:bubble3D val="0"/>
            <c:spPr>
              <a:solidFill>
                <a:srgbClr val="7DB8F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C048-4613-9B76-8BA956C6F839}"/>
              </c:ext>
            </c:extLst>
          </c:dPt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600" b="1" i="0" u="none" strike="noStrike">
                    <a:solidFill>
                      <a:srgbClr val="111A3E"/>
                    </a:solidFill>
                    <a:latin typeface="+mn-lt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Q1 (Sep-Nov)</c:v>
                </c:pt>
                <c:pt idx="1">
                  <c:v>Q2 (Dec-Feb)</c:v>
                </c:pt>
                <c:pt idx="2">
                  <c:v>Q3 (Mar-May)</c:v>
                </c:pt>
                <c:pt idx="3">
                  <c:v>Q4 (Jun-Aug)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7.01</c:v>
                </c:pt>
                <c:pt idx="1">
                  <c:v>6.65</c:v>
                </c:pt>
                <c:pt idx="2">
                  <c:v>2.08</c:v>
                </c:pt>
                <c:pt idx="3">
                  <c:v>5.04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C048-4613-9B76-8BA956C6F839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11A3E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8.5"/>
          <c:min val="0"/>
        </c:scaling>
        <c:delete val="1"/>
        <c:axPos val="l"/>
        <c:majorGridlines>
          <c:spPr>
            <a:ln w="9525" cap="flat">
              <a:solidFill>
                <a:srgbClr val="DCE3F7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11A3E"/>
                </a:solidFill>
                <a:latin typeface="+mn-lt"/>
              </a:defRPr>
            </a:pPr>
            <a:r>
              <a:rPr lang="en-US" sz="1400" b="0" i="0" u="none" strike="noStrike">
                <a:solidFill>
                  <a:srgbClr val="111A3E"/>
                </a:solidFill>
                <a:latin typeface="+mn-lt"/>
              </a:rPr>
              <a:t>Share of FY2021 gross sales (%)</a:t>
            </a:r>
          </a:p>
        </c:rich>
      </c:tx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Share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FF5A5F"/>
              </a:solidFill>
              <a:ln w="25400" cap="flat">
                <a:solidFill>
                  <a:srgbClr val="111A3E"/>
                </a:solidFill>
                <a:prstDash val="solid"/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1-C2E3-4A0C-BE37-E1FF131EB52A}"/>
              </c:ext>
            </c:extLst>
          </c:dPt>
          <c:dPt>
            <c:idx val="1"/>
            <c:bubble3D val="0"/>
            <c:spPr>
              <a:solidFill>
                <a:srgbClr val="FFC53D"/>
              </a:solidFill>
              <a:ln w="25400" cap="flat">
                <a:solidFill>
                  <a:srgbClr val="111A3E"/>
                </a:solidFill>
                <a:prstDash val="solid"/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3-C2E3-4A0C-BE37-E1FF131EB52A}"/>
              </c:ext>
            </c:extLst>
          </c:dPt>
          <c:dPt>
            <c:idx val="2"/>
            <c:bubble3D val="0"/>
            <c:spPr>
              <a:solidFill>
                <a:srgbClr val="22C3B0"/>
              </a:solidFill>
              <a:ln w="25400" cap="flat">
                <a:solidFill>
                  <a:srgbClr val="111A3E"/>
                </a:solidFill>
                <a:prstDash val="solid"/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5-C2E3-4A0C-BE37-E1FF131EB52A}"/>
              </c:ext>
            </c:extLst>
          </c:dPt>
          <c:dLbls>
            <c:dLbl>
              <c:idx val="0"/>
              <c:numFmt formatCode="0.00" sourceLinked="0"/>
              <c:spPr/>
              <c:txPr>
                <a:bodyPr/>
                <a:lstStyle/>
                <a:p>
                  <a:pPr>
                    <a:defRPr sz="1500" b="1" i="0" u="none" strike="noStrike">
                      <a:solidFill>
                        <a:srgbClr val="111A3E"/>
                      </a:solidFill>
                      <a:latin typeface="+mn-lt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C2E3-4A0C-BE37-E1FF131EB52A}"/>
                </c:ext>
              </c:extLst>
            </c:dLbl>
            <c:dLbl>
              <c:idx val="1"/>
              <c:numFmt formatCode="0.00" sourceLinked="0"/>
              <c:spPr/>
              <c:txPr>
                <a:bodyPr/>
                <a:lstStyle/>
                <a:p>
                  <a:pPr>
                    <a:defRPr sz="1500" b="1" i="0" u="none" strike="noStrike">
                      <a:solidFill>
                        <a:srgbClr val="111A3E"/>
                      </a:solidFill>
                      <a:latin typeface="+mn-lt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C2E3-4A0C-BE37-E1FF131EB52A}"/>
                </c:ext>
              </c:extLst>
            </c:dLbl>
            <c:dLbl>
              <c:idx val="2"/>
              <c:numFmt formatCode="0.00" sourceLinked="0"/>
              <c:spPr/>
              <c:txPr>
                <a:bodyPr/>
                <a:lstStyle/>
                <a:p>
                  <a:pPr>
                    <a:defRPr sz="1500" b="1" i="0" u="none" strike="noStrike">
                      <a:solidFill>
                        <a:srgbClr val="111A3E"/>
                      </a:solidFill>
                      <a:latin typeface="+mn-lt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C2E3-4A0C-BE37-E1FF131EB52A}"/>
                </c:ext>
              </c:extLst>
            </c:dLbl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1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Sheet1!$A$2:$A$4</c:f>
              <c:strCache>
                <c:ptCount val="3"/>
                <c:pt idx="0">
                  <c:v>Retailer</c:v>
                </c:pt>
                <c:pt idx="1">
                  <c:v>Direct</c:v>
                </c:pt>
                <c:pt idx="2">
                  <c:v>Distributor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73.22</c:v>
                </c:pt>
                <c:pt idx="1">
                  <c:v>15.48</c:v>
                </c:pt>
                <c:pt idx="2">
                  <c:v>11.31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C2E3-4A0C-BE37-E1FF131EB52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0"/>
      </c:doughnutChart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1500">
              <a:solidFill>
                <a:srgbClr val="111A3E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11A3E"/>
                </a:solidFill>
                <a:latin typeface="+mn-lt"/>
              </a:defRPr>
            </a:pPr>
            <a:r>
              <a:rPr lang="en-IN" sz="1400" b="0" i="0" u="none" strike="noStrike">
                <a:solidFill>
                  <a:srgbClr val="111A3E"/>
                </a:solidFill>
                <a:latin typeface="+mn-lt"/>
              </a:rPr>
              <a:t>Net sales, FY2021 (millions)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Net sales (M)</c:v>
                </c:pt>
              </c:strCache>
            </c:strRef>
          </c:tx>
          <c:spPr>
            <a:solidFill>
              <a:srgbClr val="FF5A5F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FF5A5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5D6E-4212-8F4D-C08589714C14}"/>
              </c:ext>
            </c:extLst>
          </c:dPt>
          <c:dPt>
            <c:idx val="1"/>
            <c:invertIfNegative val="0"/>
            <c:bubble3D val="0"/>
            <c:spPr>
              <a:solidFill>
                <a:srgbClr val="22C3B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5D6E-4212-8F4D-C08589714C14}"/>
              </c:ext>
            </c:extLst>
          </c:dPt>
          <c:dPt>
            <c:idx val="2"/>
            <c:invertIfNegative val="0"/>
            <c:bubble3D val="0"/>
            <c:spPr>
              <a:solidFill>
                <a:srgbClr val="22C3B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5D6E-4212-8F4D-C08589714C14}"/>
              </c:ext>
            </c:extLst>
          </c:dPt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600" b="1" i="0" u="none" strike="noStrike">
                    <a:solidFill>
                      <a:srgbClr val="111A3E"/>
                    </a:solidFill>
                    <a:latin typeface="+mn-lt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Amazon</c:v>
                </c:pt>
                <c:pt idx="1">
                  <c:v>Atliq Exclusive</c:v>
                </c:pt>
                <c:pt idx="2">
                  <c:v>Atliq e Store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109.03</c:v>
                </c:pt>
                <c:pt idx="1">
                  <c:v>79.92</c:v>
                </c:pt>
                <c:pt idx="2">
                  <c:v>70.31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5D6E-4212-8F4D-C08589714C14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55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111A3E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30"/>
          <c:min val="0"/>
        </c:scaling>
        <c:delete val="1"/>
        <c:axPos val="l"/>
        <c:majorGridlines>
          <c:spPr>
            <a:ln w="9525" cap="flat">
              <a:solidFill>
                <a:srgbClr val="DCE3F7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11A3E"/>
                </a:solidFill>
                <a:latin typeface="+mn-lt"/>
              </a:defRPr>
            </a:pPr>
            <a:r>
              <a:rPr lang="en-US" sz="1400" b="0" i="0" u="none" strike="noStrike">
                <a:solidFill>
                  <a:srgbClr val="111A3E"/>
                </a:solidFill>
                <a:latin typeface="+mn-lt"/>
              </a:rPr>
              <a:t>Share of APAC net sales, FY2021 (%)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Share %</c:v>
                </c:pt>
              </c:strCache>
            </c:strRef>
          </c:tx>
          <c:spPr>
            <a:solidFill>
              <a:srgbClr val="FF5A5F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FF5A5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9EA0-4286-B574-3D076CB4A899}"/>
              </c:ext>
            </c:extLst>
          </c:dPt>
          <c:dPt>
            <c:idx val="1"/>
            <c:invertIfNegative val="0"/>
            <c:bubble3D val="0"/>
            <c:spPr>
              <a:solidFill>
                <a:srgbClr val="FF5A5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9EA0-4286-B574-3D076CB4A899}"/>
              </c:ext>
            </c:extLst>
          </c:dPt>
          <c:dPt>
            <c:idx val="2"/>
            <c:invertIfNegative val="0"/>
            <c:bubble3D val="0"/>
            <c:spPr>
              <a:solidFill>
                <a:srgbClr val="FF5A5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9EA0-4286-B574-3D076CB4A899}"/>
              </c:ext>
            </c:extLst>
          </c:dPt>
          <c:dPt>
            <c:idx val="3"/>
            <c:invertIfNegative val="0"/>
            <c:bubble3D val="0"/>
            <c:spPr>
              <a:solidFill>
                <a:srgbClr val="3D8BF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9EA0-4286-B574-3D076CB4A899}"/>
              </c:ext>
            </c:extLst>
          </c:dPt>
          <c:dPt>
            <c:idx val="4"/>
            <c:invertIfNegative val="0"/>
            <c:bubble3D val="0"/>
            <c:spPr>
              <a:solidFill>
                <a:srgbClr val="3D8BF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9EA0-4286-B574-3D076CB4A899}"/>
              </c:ext>
            </c:extLst>
          </c:dPt>
          <c:dPt>
            <c:idx val="5"/>
            <c:invertIfNegative val="0"/>
            <c:bubble3D val="0"/>
            <c:spPr>
              <a:solidFill>
                <a:srgbClr val="3D8BF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9EA0-4286-B574-3D076CB4A899}"/>
              </c:ext>
            </c:extLst>
          </c:dPt>
          <c:dPt>
            <c:idx val="6"/>
            <c:invertIfNegative val="0"/>
            <c:bubble3D val="0"/>
            <c:spPr>
              <a:solidFill>
                <a:srgbClr val="3D8BF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D-9EA0-4286-B574-3D076CB4A899}"/>
              </c:ext>
            </c:extLst>
          </c:dPt>
          <c:dPt>
            <c:idx val="7"/>
            <c:invertIfNegative val="0"/>
            <c:bubble3D val="0"/>
            <c:spPr>
              <a:solidFill>
                <a:srgbClr val="3D8BF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F-9EA0-4286-B574-3D076CB4A899}"/>
              </c:ext>
            </c:extLst>
          </c:dPt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300" b="1" i="0" u="none" strike="noStrike">
                    <a:solidFill>
                      <a:srgbClr val="111A3E"/>
                    </a:solidFill>
                    <a:latin typeface="+mn-lt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Sheet1!$A$2:$A$9</c:f>
              <c:strCache>
                <c:ptCount val="8"/>
                <c:pt idx="0">
                  <c:v>Amazon</c:v>
                </c:pt>
                <c:pt idx="1">
                  <c:v>Atliq Exclusive</c:v>
                </c:pt>
                <c:pt idx="2">
                  <c:v>Atliq e Store</c:v>
                </c:pt>
                <c:pt idx="3">
                  <c:v>Leader</c:v>
                </c:pt>
                <c:pt idx="4">
                  <c:v>Sage</c:v>
                </c:pt>
                <c:pt idx="5">
                  <c:v>Neptune</c:v>
                </c:pt>
                <c:pt idx="6">
                  <c:v>Electricalsocity</c:v>
                </c:pt>
                <c:pt idx="7">
                  <c:v>Propel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12.99</c:v>
                </c:pt>
                <c:pt idx="1">
                  <c:v>11.67</c:v>
                </c:pt>
                <c:pt idx="2">
                  <c:v>8.36</c:v>
                </c:pt>
                <c:pt idx="3">
                  <c:v>5.55</c:v>
                </c:pt>
                <c:pt idx="4">
                  <c:v>5.17</c:v>
                </c:pt>
                <c:pt idx="5">
                  <c:v>4.75</c:v>
                </c:pt>
                <c:pt idx="6">
                  <c:v>3.68</c:v>
                </c:pt>
                <c:pt idx="7">
                  <c:v>3.2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0-9EA0-4286-B574-3D076CB4A899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0"/>
        <c:axId val="2094734554"/>
        <c:axId val="2094734552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11A3E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5.5"/>
          <c:min val="0"/>
        </c:scaling>
        <c:delete val="1"/>
        <c:axPos val="t"/>
        <c:majorGridlines>
          <c:spPr>
            <a:ln w="9525" cap="flat">
              <a:solidFill>
                <a:srgbClr val="DCE3F7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Units</c:v>
                </c:pt>
              </c:strCache>
            </c:strRef>
          </c:tx>
          <c:spPr>
            <a:solidFill>
              <a:srgbClr val="22C3B0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1" i="0" u="none" strike="noStrike">
                    <a:solidFill>
                      <a:srgbClr val="111A3E"/>
                    </a:solidFill>
                    <a:latin typeface="+mn-lt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AQ Pen Drive DRC</c:v>
                </c:pt>
                <c:pt idx="1">
                  <c:v>AQ Digit SSD</c:v>
                </c:pt>
                <c:pt idx="2">
                  <c:v>AQ Clx1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2034569</c:v>
                </c:pt>
                <c:pt idx="1">
                  <c:v>1240149</c:v>
                </c:pt>
                <c:pt idx="2">
                  <c:v>1238683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57C-4737-98E2-F226E28D2901}"/>
            </c:ext>
          </c:extLst>
        </c:ser>
        <c:dLbls>
          <c:dLblPos val="inEnd"/>
          <c:showLegendKey val="0"/>
          <c:showVal val="1"/>
          <c:showCatName val="0"/>
          <c:showSerName val="0"/>
          <c:showPercent val="0"/>
          <c:showBubbleSize val="0"/>
        </c:dLbls>
        <c:gapWidth val="35"/>
        <c:axId val="2094734554"/>
        <c:axId val="2094734552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11A3E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in val="0"/>
        </c:scaling>
        <c:delete val="1"/>
        <c:axPos val="t"/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Units</c:v>
                </c:pt>
              </c:strCache>
            </c:strRef>
          </c:tx>
          <c:spPr>
            <a:solidFill>
              <a:srgbClr val="FFC53D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1" i="0" u="none" strike="noStrike">
                    <a:solidFill>
                      <a:srgbClr val="111A3E"/>
                    </a:solidFill>
                    <a:latin typeface="+mn-lt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AQ Gamers Ms</c:v>
                </c:pt>
                <c:pt idx="1">
                  <c:v>AQ Maxima Ms</c:v>
                </c:pt>
                <c:pt idx="2">
                  <c:v>AQ Master wireless x1 Ms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2477098</c:v>
                </c:pt>
                <c:pt idx="1">
                  <c:v>2461991</c:v>
                </c:pt>
                <c:pt idx="2">
                  <c:v>2448784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4D9-4567-8701-EB4AD88F4545}"/>
            </c:ext>
          </c:extLst>
        </c:ser>
        <c:dLbls>
          <c:dLblPos val="inEnd"/>
          <c:showLegendKey val="0"/>
          <c:showVal val="1"/>
          <c:showCatName val="0"/>
          <c:showSerName val="0"/>
          <c:showPercent val="0"/>
          <c:showBubbleSize val="0"/>
        </c:dLbls>
        <c:gapWidth val="35"/>
        <c:axId val="2094734554"/>
        <c:axId val="2094734552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11A3E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in val="0"/>
        </c:scaling>
        <c:delete val="1"/>
        <c:axPos val="t"/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Units</c:v>
                </c:pt>
              </c:strCache>
            </c:strRef>
          </c:tx>
          <c:spPr>
            <a:solidFill>
              <a:srgbClr val="FF5A5F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1" i="0" u="none" strike="noStrike">
                    <a:solidFill>
                      <a:srgbClr val="111A3E"/>
                    </a:solidFill>
                    <a:latin typeface="+mn-lt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AQ Digit</c:v>
                </c:pt>
                <c:pt idx="1">
                  <c:v>AQ Gen Y</c:v>
                </c:pt>
                <c:pt idx="2">
                  <c:v>AQ Elite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135092</c:v>
                </c:pt>
                <c:pt idx="1">
                  <c:v>135031</c:v>
                </c:pt>
                <c:pt idx="2">
                  <c:v>134431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A5E-44CB-985A-604D25BEF6B2}"/>
            </c:ext>
          </c:extLst>
        </c:ser>
        <c:dLbls>
          <c:dLblPos val="inEnd"/>
          <c:showLegendKey val="0"/>
          <c:showVal val="1"/>
          <c:showCatName val="0"/>
          <c:showSerName val="0"/>
          <c:showPercent val="0"/>
          <c:showBubbleSize val="0"/>
        </c:dLbls>
        <c:gapWidth val="35"/>
        <c:axId val="2094734554"/>
        <c:axId val="2094734552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11A3E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in val="0"/>
        </c:scaling>
        <c:delete val="1"/>
        <c:axPos val="t"/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11A3E"/>
                </a:solidFill>
                <a:latin typeface="+mn-lt"/>
              </a:defRPr>
            </a:pPr>
            <a:r>
              <a:rPr lang="en-US" sz="1400" b="0" i="0" u="none" strike="noStrike">
                <a:solidFill>
                  <a:srgbClr val="111A3E"/>
                </a:solidFill>
                <a:latin typeface="+mn-lt"/>
              </a:rPr>
              <a:t>Croma India gross sales (millions)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Gross sales (M)</c:v>
                </c:pt>
              </c:strCache>
            </c:strRef>
          </c:tx>
          <c:spPr>
            <a:solidFill>
              <a:srgbClr val="B9D4FF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B9D4F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A52C-4BAD-8570-6E89FC66F8A0}"/>
              </c:ext>
            </c:extLst>
          </c:dPt>
          <c:dPt>
            <c:idx val="1"/>
            <c:invertIfNegative val="0"/>
            <c:bubble3D val="0"/>
            <c:spPr>
              <a:solidFill>
                <a:srgbClr val="8EC0F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A52C-4BAD-8570-6E89FC66F8A0}"/>
              </c:ext>
            </c:extLst>
          </c:dPt>
          <c:dPt>
            <c:idx val="2"/>
            <c:invertIfNegative val="0"/>
            <c:bubble3D val="0"/>
            <c:spPr>
              <a:solidFill>
                <a:srgbClr val="5FA2F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A52C-4BAD-8570-6E89FC66F8A0}"/>
              </c:ext>
            </c:extLst>
          </c:dPt>
          <c:dPt>
            <c:idx val="3"/>
            <c:invertIfNegative val="0"/>
            <c:bubble3D val="0"/>
            <c:spPr>
              <a:solidFill>
                <a:srgbClr val="3D8BF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A52C-4BAD-8570-6E89FC66F8A0}"/>
              </c:ext>
            </c:extLst>
          </c:dPt>
          <c:dPt>
            <c:idx val="4"/>
            <c:invertIfNegative val="0"/>
            <c:bubble3D val="0"/>
            <c:spPr>
              <a:solidFill>
                <a:srgbClr val="FF5A5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A52C-4BAD-8570-6E89FC66F8A0}"/>
              </c:ext>
            </c:extLst>
          </c:dPt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500" b="1" i="0" u="none" strike="noStrike">
                    <a:solidFill>
                      <a:srgbClr val="111A3E"/>
                    </a:solidFill>
                    <a:latin typeface="+mn-lt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2017</c:v>
                </c:pt>
                <c:pt idx="1">
                  <c:v>2018</c:v>
                </c:pt>
                <c:pt idx="2">
                  <c:v>2019</c:v>
                </c:pt>
                <c:pt idx="3">
                  <c:v>2020</c:v>
                </c:pt>
                <c:pt idx="4">
                  <c:v>2021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0.53</c:v>
                </c:pt>
                <c:pt idx="1">
                  <c:v>2.23</c:v>
                </c:pt>
                <c:pt idx="2">
                  <c:v>5.51</c:v>
                </c:pt>
                <c:pt idx="3">
                  <c:v>12.6</c:v>
                </c:pt>
                <c:pt idx="4">
                  <c:v>58.37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A52C-4BAD-8570-6E89FC66F8A0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5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111A3E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68"/>
          <c:min val="0"/>
        </c:scaling>
        <c:delete val="1"/>
        <c:axPos val="l"/>
        <c:majorGridlines>
          <c:spPr>
            <a:ln w="9525" cap="flat">
              <a:solidFill>
                <a:srgbClr val="DCE3F7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11A3E"/>
                </a:solidFill>
                <a:latin typeface="+mn-lt"/>
              </a:defRPr>
            </a:pPr>
            <a:r>
              <a:rPr lang="en-IN" sz="1400" b="0" i="0" u="none" strike="noStrike">
                <a:solidFill>
                  <a:srgbClr val="111A3E"/>
                </a:solidFill>
                <a:latin typeface="+mn-lt"/>
              </a:rPr>
              <a:t>Units sold, FY2021 (millions)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Units (M)</c:v>
                </c:pt>
              </c:strCache>
            </c:strRef>
          </c:tx>
          <c:spPr>
            <a:solidFill>
              <a:srgbClr val="FFC53D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FFC53D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2599-4D67-A627-30A8F84AF8FD}"/>
              </c:ext>
            </c:extLst>
          </c:dPt>
          <c:dPt>
            <c:idx val="1"/>
            <c:invertIfNegative val="0"/>
            <c:bubble3D val="0"/>
            <c:spPr>
              <a:solidFill>
                <a:srgbClr val="FFC53D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2599-4D67-A627-30A8F84AF8FD}"/>
              </c:ext>
            </c:extLst>
          </c:dPt>
          <c:dPt>
            <c:idx val="2"/>
            <c:invertIfNegative val="0"/>
            <c:bubble3D val="0"/>
            <c:spPr>
              <a:solidFill>
                <a:srgbClr val="C3CBE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2599-4D67-A627-30A8F84AF8FD}"/>
              </c:ext>
            </c:extLst>
          </c:dPt>
          <c:dPt>
            <c:idx val="3"/>
            <c:invertIfNegative val="0"/>
            <c:bubble3D val="0"/>
            <c:spPr>
              <a:solidFill>
                <a:srgbClr val="C3CBE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2599-4D67-A627-30A8F84AF8FD}"/>
              </c:ext>
            </c:extLst>
          </c:dPt>
          <c:dPt>
            <c:idx val="4"/>
            <c:invertIfNegative val="0"/>
            <c:bubble3D val="0"/>
            <c:spPr>
              <a:solidFill>
                <a:srgbClr val="C3CBE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2599-4D67-A627-30A8F84AF8FD}"/>
              </c:ext>
            </c:extLst>
          </c:dPt>
          <c:dPt>
            <c:idx val="5"/>
            <c:invertIfNegative val="0"/>
            <c:bubble3D val="0"/>
            <c:spPr>
              <a:solidFill>
                <a:srgbClr val="C3CBE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2599-4D67-A627-30A8F84AF8FD}"/>
              </c:ext>
            </c:extLst>
          </c:dPt>
          <c:dPt>
            <c:idx val="6"/>
            <c:invertIfNegative val="0"/>
            <c:bubble3D val="0"/>
            <c:spPr>
              <a:solidFill>
                <a:srgbClr val="C3CBE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D-2599-4D67-A627-30A8F84AF8FD}"/>
              </c:ext>
            </c:extLst>
          </c:dPt>
          <c:dPt>
            <c:idx val="7"/>
            <c:invertIfNegative val="0"/>
            <c:bubble3D val="0"/>
            <c:spPr>
              <a:solidFill>
                <a:srgbClr val="C3CBE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F-2599-4D67-A627-30A8F84AF8FD}"/>
              </c:ext>
            </c:extLst>
          </c:dPt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300" b="1" i="0" u="none" strike="noStrike">
                    <a:solidFill>
                      <a:srgbClr val="111A3E"/>
                    </a:solidFill>
                    <a:latin typeface="+mn-lt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Sheet1!$A$2:$A$9</c:f>
              <c:strCache>
                <c:ptCount val="8"/>
                <c:pt idx="0">
                  <c:v>India</c:v>
                </c:pt>
                <c:pt idx="1">
                  <c:v>USA</c:v>
                </c:pt>
                <c:pt idx="2">
                  <c:v>South Korea</c:v>
                </c:pt>
                <c:pt idx="3">
                  <c:v>Canada</c:v>
                </c:pt>
                <c:pt idx="4">
                  <c:v>Philippines</c:v>
                </c:pt>
                <c:pt idx="5">
                  <c:v>United Kingdom</c:v>
                </c:pt>
                <c:pt idx="6">
                  <c:v>France</c:v>
                </c:pt>
                <c:pt idx="7">
                  <c:v>Australia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13.75</c:v>
                </c:pt>
                <c:pt idx="1">
                  <c:v>7.95</c:v>
                </c:pt>
                <c:pt idx="2">
                  <c:v>3.95</c:v>
                </c:pt>
                <c:pt idx="3">
                  <c:v>2.7</c:v>
                </c:pt>
                <c:pt idx="4">
                  <c:v>2.42</c:v>
                </c:pt>
                <c:pt idx="5">
                  <c:v>2.35</c:v>
                </c:pt>
                <c:pt idx="6">
                  <c:v>2.0499999999999998</c:v>
                </c:pt>
                <c:pt idx="7">
                  <c:v>1.78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0-2599-4D67-A627-30A8F84AF8FD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0"/>
        <c:axId val="2094734554"/>
        <c:axId val="2094734552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11A3E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6"/>
          <c:min val="0"/>
        </c:scaling>
        <c:delete val="1"/>
        <c:axPos val="t"/>
        <c:majorGridlines>
          <c:spPr>
            <a:ln w="9525" cap="flat">
              <a:solidFill>
                <a:srgbClr val="DCE3F7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11A3E"/>
                </a:solidFill>
                <a:latin typeface="+mn-lt"/>
              </a:defRPr>
            </a:pPr>
            <a:r>
              <a:rPr lang="en-IN" sz="1400" b="0" i="0" u="none" strike="noStrike">
                <a:solidFill>
                  <a:srgbClr val="111A3E"/>
                </a:solidFill>
                <a:latin typeface="+mn-lt"/>
              </a:rPr>
              <a:t>Forecast accuracy (%)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FY2020</c:v>
                </c:pt>
              </c:strCache>
            </c:strRef>
          </c:tx>
          <c:spPr>
            <a:solidFill>
              <a:srgbClr val="22C3B0"/>
            </a:solidFill>
            <a:effectLst/>
          </c:spPr>
          <c:invertIfNegative val="0"/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1" i="0" u="none" strike="noStrike">
                    <a:solidFill>
                      <a:srgbClr val="111A3E"/>
                    </a:solidFill>
                    <a:latin typeface="+mn-lt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Sheet1!$A$2:$A$9</c:f>
              <c:strCache>
                <c:ptCount val="8"/>
                <c:pt idx="0">
                  <c:v>Radio Popular (NL)</c:v>
                </c:pt>
                <c:pt idx="1">
                  <c:v>Argos (SE)</c:v>
                </c:pt>
                <c:pt idx="2">
                  <c:v>Atliq e Store (PH)</c:v>
                </c:pt>
                <c:pt idx="3">
                  <c:v>Atliq Exclusive (KR)</c:v>
                </c:pt>
                <c:pt idx="4">
                  <c:v>Otto (DE)</c:v>
                </c:pt>
                <c:pt idx="5">
                  <c:v>All-Out (JP)</c:v>
                </c:pt>
                <c:pt idx="6">
                  <c:v>Zone (PK)</c:v>
                </c:pt>
                <c:pt idx="7">
                  <c:v>Atliq e Store (AU)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38.53</c:v>
                </c:pt>
                <c:pt idx="1">
                  <c:v>34.880000000000003</c:v>
                </c:pt>
                <c:pt idx="2">
                  <c:v>42.65</c:v>
                </c:pt>
                <c:pt idx="3">
                  <c:v>33.24</c:v>
                </c:pt>
                <c:pt idx="4">
                  <c:v>28.26</c:v>
                </c:pt>
                <c:pt idx="5">
                  <c:v>35.18</c:v>
                </c:pt>
                <c:pt idx="6">
                  <c:v>40.08</c:v>
                </c:pt>
                <c:pt idx="7">
                  <c:v>40.96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3E5-4F1F-8D37-51C137A9A7B9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FY2021</c:v>
                </c:pt>
              </c:strCache>
            </c:strRef>
          </c:tx>
          <c:spPr>
            <a:solidFill>
              <a:srgbClr val="FF5A5F"/>
            </a:solidFill>
            <a:effectLst/>
          </c:spPr>
          <c:invertIfNegative val="0"/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1" i="0" u="none" strike="noStrike">
                    <a:solidFill>
                      <a:srgbClr val="111A3E"/>
                    </a:solidFill>
                    <a:latin typeface="+mn-lt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Sheet1!$A$2:$A$9</c:f>
              <c:strCache>
                <c:ptCount val="8"/>
                <c:pt idx="0">
                  <c:v>Radio Popular (NL)</c:v>
                </c:pt>
                <c:pt idx="1">
                  <c:v>Argos (SE)</c:v>
                </c:pt>
                <c:pt idx="2">
                  <c:v>Atliq e Store (PH)</c:v>
                </c:pt>
                <c:pt idx="3">
                  <c:v>Atliq Exclusive (KR)</c:v>
                </c:pt>
                <c:pt idx="4">
                  <c:v>Otto (DE)</c:v>
                </c:pt>
                <c:pt idx="5">
                  <c:v>All-Out (JP)</c:v>
                </c:pt>
                <c:pt idx="6">
                  <c:v>Zone (PK)</c:v>
                </c:pt>
                <c:pt idx="7">
                  <c:v>Atliq e Store (AU)</c:v>
                </c:pt>
              </c:strCache>
            </c: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0</c:v>
                </c:pt>
                <c:pt idx="1">
                  <c:v>16.170000000000002</c:v>
                </c:pt>
                <c:pt idx="2">
                  <c:v>24.49</c:v>
                </c:pt>
                <c:pt idx="3">
                  <c:v>17.329999999999998</c:v>
                </c:pt>
                <c:pt idx="4">
                  <c:v>18.37</c:v>
                </c:pt>
                <c:pt idx="5">
                  <c:v>29.09</c:v>
                </c:pt>
                <c:pt idx="6">
                  <c:v>37.1</c:v>
                </c:pt>
                <c:pt idx="7">
                  <c:v>38.74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D3E5-4F1F-8D37-51C137A9A7B9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35"/>
        <c:axId val="2094734554"/>
        <c:axId val="2094734552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11A3E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50"/>
          <c:min val="0"/>
        </c:scaling>
        <c:delete val="1"/>
        <c:axPos val="t"/>
        <c:majorGridlines>
          <c:spPr>
            <a:ln w="9525" cap="flat">
              <a:solidFill>
                <a:srgbClr val="DCE3F7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111A3E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1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11A3E"/>
                </a:solidFill>
                <a:latin typeface="+mn-lt"/>
              </a:defRPr>
            </a:pPr>
            <a:r>
              <a:rPr lang="en-US" sz="1400" b="0" i="0" u="none" strike="noStrike">
                <a:solidFill>
                  <a:srgbClr val="111A3E"/>
                </a:solidFill>
                <a:latin typeface="+mn-lt"/>
              </a:rPr>
              <a:t>Net sales by product, FY2021 (millions)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Net sales (M)</c:v>
                </c:pt>
              </c:strCache>
            </c:strRef>
          </c:tx>
          <c:spPr>
            <a:solidFill>
              <a:srgbClr val="FF5A5F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FF5A5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C3BD-49F4-A8E2-8A6F6039930C}"/>
              </c:ext>
            </c:extLst>
          </c:dPt>
          <c:dPt>
            <c:idx val="1"/>
            <c:invertIfNegative val="0"/>
            <c:bubble3D val="0"/>
            <c:spPr>
              <a:solidFill>
                <a:srgbClr val="2B3A7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C3BD-49F4-A8E2-8A6F6039930C}"/>
              </c:ext>
            </c:extLst>
          </c:dPt>
          <c:dPt>
            <c:idx val="2"/>
            <c:invertIfNegative val="0"/>
            <c:bubble3D val="0"/>
            <c:spPr>
              <a:solidFill>
                <a:srgbClr val="2B3A7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C3BD-49F4-A8E2-8A6F6039930C}"/>
              </c:ext>
            </c:extLst>
          </c:dPt>
          <c:dPt>
            <c:idx val="3"/>
            <c:invertIfNegative val="0"/>
            <c:bubble3D val="0"/>
            <c:spPr>
              <a:solidFill>
                <a:srgbClr val="2B3A7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C3BD-49F4-A8E2-8A6F6039930C}"/>
              </c:ext>
            </c:extLst>
          </c:dPt>
          <c:dPt>
            <c:idx val="4"/>
            <c:invertIfNegative val="0"/>
            <c:bubble3D val="0"/>
            <c:spPr>
              <a:solidFill>
                <a:srgbClr val="2B3A7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C3BD-49F4-A8E2-8A6F6039930C}"/>
              </c:ext>
            </c:extLst>
          </c:dPt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400" b="1" i="0" u="none" strike="noStrike">
                    <a:solidFill>
                      <a:srgbClr val="111A3E"/>
                    </a:solidFill>
                    <a:latin typeface="+mn-lt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AQ BZ Allin1</c:v>
                </c:pt>
                <c:pt idx="1">
                  <c:v>AQ Qwerty</c:v>
                </c:pt>
                <c:pt idx="2">
                  <c:v>AQ Trigger</c:v>
                </c:pt>
                <c:pt idx="3">
                  <c:v>AQ Gen Y</c:v>
                </c:pt>
                <c:pt idx="4">
                  <c:v>AQ Maxima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33.75</c:v>
                </c:pt>
                <c:pt idx="1">
                  <c:v>27.84</c:v>
                </c:pt>
                <c:pt idx="2">
                  <c:v>26.95</c:v>
                </c:pt>
                <c:pt idx="3">
                  <c:v>23.58</c:v>
                </c:pt>
                <c:pt idx="4">
                  <c:v>22.32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C3BD-49F4-A8E2-8A6F6039930C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0"/>
        <c:axId val="2094734554"/>
        <c:axId val="2094734552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111A3E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40"/>
          <c:min val="0"/>
        </c:scaling>
        <c:delete val="1"/>
        <c:axPos val="t"/>
        <c:majorGridlines>
          <c:spPr>
            <a:ln w="9525" cap="flat">
              <a:solidFill>
                <a:srgbClr val="DCE3F7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1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11A3E"/>
                </a:solidFill>
                <a:latin typeface="+mn-lt"/>
              </a:defRPr>
            </a:pPr>
            <a:r>
              <a:rPr lang="en-US" sz="1400" b="0" i="0" u="none" strike="noStrike">
                <a:solidFill>
                  <a:srgbClr val="111A3E"/>
                </a:solidFill>
                <a:latin typeface="+mn-lt"/>
              </a:rPr>
              <a:t>Net sales by market, FY2021 (millions)</a:t>
            </a:r>
          </a:p>
        </c:rich>
      </c:tx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Net sales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FF5A5F"/>
              </a:solidFill>
              <a:ln w="25400" cap="flat">
                <a:solidFill>
                  <a:srgbClr val="111A3E"/>
                </a:solidFill>
                <a:prstDash val="solid"/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1-A627-4750-83FC-41A8C17B5EC3}"/>
              </c:ext>
            </c:extLst>
          </c:dPt>
          <c:dPt>
            <c:idx val="1"/>
            <c:bubble3D val="0"/>
            <c:spPr>
              <a:solidFill>
                <a:srgbClr val="FFC53D"/>
              </a:solidFill>
              <a:ln w="25400" cap="flat">
                <a:solidFill>
                  <a:srgbClr val="111A3E"/>
                </a:solidFill>
                <a:prstDash val="solid"/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3-A627-4750-83FC-41A8C17B5EC3}"/>
              </c:ext>
            </c:extLst>
          </c:dPt>
          <c:dPt>
            <c:idx val="2"/>
            <c:bubble3D val="0"/>
            <c:spPr>
              <a:solidFill>
                <a:srgbClr val="22C3B0"/>
              </a:solidFill>
              <a:ln w="25400" cap="flat">
                <a:solidFill>
                  <a:srgbClr val="111A3E"/>
                </a:solidFill>
                <a:prstDash val="solid"/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5-A627-4750-83FC-41A8C17B5EC3}"/>
              </c:ext>
            </c:extLst>
          </c:dPt>
          <c:dPt>
            <c:idx val="3"/>
            <c:bubble3D val="0"/>
            <c:spPr>
              <a:solidFill>
                <a:srgbClr val="7DB8FF"/>
              </a:solidFill>
              <a:ln w="25400" cap="flat">
                <a:solidFill>
                  <a:srgbClr val="111A3E"/>
                </a:solidFill>
                <a:prstDash val="solid"/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7-A627-4750-83FC-41A8C17B5EC3}"/>
              </c:ext>
            </c:extLst>
          </c:dPt>
          <c:dLbls>
            <c:dLbl>
              <c:idx val="0"/>
              <c:numFmt formatCode="0.00" sourceLinked="0"/>
              <c:spPr/>
              <c:txPr>
                <a:bodyPr/>
                <a:lstStyle/>
                <a:p>
                  <a:pPr>
                    <a:defRPr sz="1400" b="1" i="0" u="none" strike="noStrike">
                      <a:solidFill>
                        <a:srgbClr val="111A3E"/>
                      </a:solidFill>
                      <a:latin typeface="+mn-lt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A627-4750-83FC-41A8C17B5EC3}"/>
                </c:ext>
              </c:extLst>
            </c:dLbl>
            <c:dLbl>
              <c:idx val="1"/>
              <c:numFmt formatCode="0.00" sourceLinked="0"/>
              <c:spPr/>
              <c:txPr>
                <a:bodyPr/>
                <a:lstStyle/>
                <a:p>
                  <a:pPr>
                    <a:defRPr sz="1400" b="1" i="0" u="none" strike="noStrike">
                      <a:solidFill>
                        <a:srgbClr val="111A3E"/>
                      </a:solidFill>
                      <a:latin typeface="+mn-lt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A627-4750-83FC-41A8C17B5EC3}"/>
                </c:ext>
              </c:extLst>
            </c:dLbl>
            <c:dLbl>
              <c:idx val="2"/>
              <c:numFmt formatCode="0.00" sourceLinked="0"/>
              <c:spPr/>
              <c:txPr>
                <a:bodyPr/>
                <a:lstStyle/>
                <a:p>
                  <a:pPr>
                    <a:defRPr sz="1400" b="1" i="0" u="none" strike="noStrike">
                      <a:solidFill>
                        <a:srgbClr val="111A3E"/>
                      </a:solidFill>
                      <a:latin typeface="+mn-lt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A627-4750-83FC-41A8C17B5EC3}"/>
                </c:ext>
              </c:extLst>
            </c:dLbl>
            <c:dLbl>
              <c:idx val="3"/>
              <c:numFmt formatCode="0.00" sourceLinked="0"/>
              <c:spPr/>
              <c:txPr>
                <a:bodyPr/>
                <a:lstStyle/>
                <a:p>
                  <a:pPr>
                    <a:defRPr sz="1400" b="1" i="0" u="none" strike="noStrike">
                      <a:solidFill>
                        <a:srgbClr val="111A3E"/>
                      </a:solidFill>
                      <a:latin typeface="+mn-lt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A627-4750-83FC-41A8C17B5EC3}"/>
                </c:ext>
              </c:extLst>
            </c:dLbl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1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Sheet1!$A$2:$A$5</c:f>
              <c:strCache>
                <c:ptCount val="4"/>
                <c:pt idx="0">
                  <c:v>India</c:v>
                </c:pt>
                <c:pt idx="1">
                  <c:v>USA</c:v>
                </c:pt>
                <c:pt idx="2">
                  <c:v>South Korea</c:v>
                </c:pt>
                <c:pt idx="3">
                  <c:v>Canada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210.67</c:v>
                </c:pt>
                <c:pt idx="1">
                  <c:v>132.05000000000001</c:v>
                </c:pt>
                <c:pt idx="2">
                  <c:v>64.010000000000005</c:v>
                </c:pt>
                <c:pt idx="3">
                  <c:v>45.89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A627-4750-83FC-41A8C17B5EC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0"/>
      </c:doughnutChart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1500">
              <a:solidFill>
                <a:srgbClr val="111A3E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197843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Title slide: Finance Analytics - ad-hoc SQL analysis of 18 business requests for AtliQ Hardwares.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Request 1: Which markets does the customer AtliQ Exclusive operate in within the APAC region?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Request 2: What is the percentage increase in unique products in 2021 vs 2020?
SQL:
with cte1 as (
         select count(distinct product_code) as unique_product_2020
from fact_sales_monthly
where fiscal_year = 2020
 ), 
cte2 as (
        select count(distinct product_code) as unique_product_2021
from fact_sales_monthly
where fiscal_year = 2021 
)
select 
        unique_product_2020,
        unique_product_2021,
        (unique_product_2021-unique_product_2020)*100/unique_product_2020 as pct_change
from cte1
cross join cte2
;
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Request 3: Unique product count for each segment, sorted from highest to lowest.
SQL:
select 
         segment,
         count(distinct product_code) as  Product_count
from dim_product
group by segment
order by Product_count desc
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Request 4: Which segment gained the most unique products in 2021 vs 2020?
SQL:
with unique_products as(
    select
            p.segment, 
            count(distinct(case when fiscal_year = 2020 then s.product_code end)) as product_count_2020,
            count(distinct(case when fiscal_year = 2021 then s.Product_code end)) as product_count_2021
from fact_sales_monthly s
join dim_product p
           on s.product_code = p.product_code
group by p.segment
)
select 
          *,
          product_count_2021-product_count_2020 as difference
from unique_products
order by difference desc
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Request 5: Products with the highest and lowest manufacturing cost.
SQL:
(select 
           p.product_code,
           p.product,
           m.manufacturing_cost
from dim_product p
join fact_manufacturing_cost m
           on p.product_code = m.product_code
order by m.manufacturing_cost desc
limit 1)
union
(select
          p.product_code,
          p.product,
          m.manufacturing_cost
from dim_product p
join fact_manufacturing_cost m
          on p.product_code = m.product_code
order by m.manufacturing_cost asc
limit 1)
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Request 6: Top 5 customers by average pre-invoice discount, FY2021, Indian market.
SQL:
with cte1 as(
   SELECT 
                 *
from fact_pre_invoice_deductions
join dim_customer c
               using (customer_code)
where fiscal_year = 2021
and c. market = ‘india’
)
select 
          customer_code,
          customer,
          concat(round(avg(pre_invoice_discount_pct)*100,2),"%") as avg_discount_pct
from cte1
group by customer_code, customer
order by avg(pre_invoice_discount_pct)*100 desc
limit 5
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Request 7: Monthly gross sales of AtliQ Exclusive, to spot low and high months.
SQL:
Select
         monthname(s.date) as Month ,
         s.fiscal_year as Year,
         sum(sold_quantity*gross_price) as Gross_sales
from fact_sales_monthly s
join fact_gross_price g
      on s.product_code = g.product_code
join dim_customer c
      on s.customer_code = c.customer_code
where customer = "AtliQ Exclusive“
group by month,year
order by year asc 
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Request 8: Which fiscal quarter of 2020 had the highest total quantity sold?
SQL:
select (
        case    
              when month(date)  in (9, 10, 11) then "Q1"  
              when month(date) in ( 12,1, 2) then "Q2" 
              when month(date) in ( 3, 4, 5) then "Q3"     
              when month (date) in (6,7,8) then "Q4" 
        end) as Quarter,
        sum(sold_quantity) as total_sold_qty 
from fact_sales_monthly 
where fiscal_year = 2020 
group by Quarter
order by total_sold_qty desc 
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Request 9: Which channel brought the most gross sales in FY2021, and its share?
SQL:
with cte1 as (
     select
               c.channel,
               round(sum((s.sold_quantity*g.gross_price)/1000000),2) as gross_sales_mln
               from dim_customer c
 join fact_sales_monthly s
               on c.customer_code = s.customer_code
join fact_gross_price g
               on s.product_code = g.product_code
where s.fiscal_year = 2021
group by c.channel
)
select 
               *,
               concat(round(gross_sales_mln*100/ (select sum(gross_sales_mln) from cte1),2)," %") as pct_contribution
from cte1
order by pct_contribution desc
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Request 10 SQL:
with cte1 as(
    select 
             p.division,
             s.product_code,
             concat(p.product," (", p.variant,")") as product, 
             sum(s.sold_quantity) as total_sold_qty,
             rank() over(partition by p.division order by sum(s.sold_quantity) desc) as  rank_order
from dim_product p
join fact_sales_monthly s 
             on p.product_code = s.product_code
where fiscal_year = 2021
group by p.division,s.product_code,p.product
)
select 
          *
from cte1
where rank_order in (1,2,3)
order by division, rank_order asc
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Request 11: Top 3 customers by net sales in FY2021 (stored procedure top_customer).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Request 12: Share of APAC net sales by customer, FY2021.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Request 14: Yearly gross sales of Croma India, FY2017 to FY2021.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Request 15: Markets tagged Gold (over 5M units) or Silver, FY2021 units sold.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Request 16: Customers whose forecast accuracy dropped from FY2020 to FY2021 (%).
SQL:
 -- The supply chain business manager wants to see which customers’ forecast accuracy has dropped from 2020 to 2021. -- Provide a complete report with these columns: customer_code, customer_name, market, forecast_accuracy_2020, forecast_accuracy_2021 -- forcast accuracy WITH cte AS (    SELECT        customer_code,        fiscal_year,        SUM(forecast_quantity - sold_quantity) AS net_error,        SUM(ABS(forecast_quantity - sold_quantity)) AS abs_net_error,        SUM(forecast_quantity - sold_quantity) * 100            / SUM(forecast_quantity) AS net_err_pct,        SUM(ABS(forecast_quantity - sold_quantity)) * 100            / SUM(forecast_quantity) AS abs_net_err_pct    FROM fact_act_est    WHERE fiscal_year IN (2020, 2021)    GROUP BY customer_code, fiscal_year),cte2 AS (    SELECT        c1.customer_code,        d1.customer AS customer_name,        d1.market,        c1.fiscal_year,        IF(            c1.abs_net_err_pct &gt; 100,            0,            100 - c1.abs_net_err_pct        ) AS forecast_accuracy    FROM cte AS c1    JOIN dim_customer AS d1        ON c1.customer_code = d1.customer_code),cte3 AS (    SELECT        customer_code,        customer_name,        market,        MAX(CASE            WHEN fiscal_year = 2020            THEN forecast_accuracy        END) AS forecast_accuracy_2020,        MAX(CASE            WHEN fiscal_year = 2021            THEN forecast_accuracy        END) AS forecast_accuracy_2021    FROM cte2    GROUP BY customer_code, customer_name, market)SELECT    customer_code,    customer_name,    market,    ROUND(forecast_accuracy_2020, 2) AS forecast_accuracy_2020,    ROUND(forecast_accuracy_2021, 2) AS forecast_accuracy_2021FROM cte3WHERE forecast_accuracy_2021 &lt; forecast_accuracy_2020ORDER BY forecast_accuracy_2020 - forecast_accuracy_2021 DESC;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Request 17: Top 5 products by net sales in FY2021 (stored procedure top_product).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Request 18: Top 4 markets by net sales in FY2021 (stored procedure Top_Market).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799451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274320"/>
            <a:ext cx="996696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000" b="1" dirty="0">
                <a:solidFill>
                  <a:schemeClr val="tx1"/>
                </a:solidFill>
              </a:defRPr>
            </a:lvl1pPr>
          </a:lstStyle>
          <a:p>
            <a:pPr marL="0" indent="0" algn="l">
              <a:buNone/>
            </a:pPr>
            <a:endParaRPr lang="en-US" sz="3000" dirty="0"/>
          </a:p>
        </p:txBody>
      </p:sp>
      <p:sp>
        <p:nvSpPr>
          <p:cNvPr id="3" name="Text 0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tx2"/>
                </a:solidFill>
              </a:rPr>
              <a:t>AtliQ Hardwares  |  Finance Analytics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2B3A7A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274320"/>
            <a:ext cx="996696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000" b="1" dirty="0">
                <a:solidFill>
                  <a:schemeClr val="bg1"/>
                </a:solidFill>
              </a:defRPr>
            </a:lvl1pPr>
          </a:lstStyle>
          <a:p>
            <a:pPr marL="0" indent="0" algn="l">
              <a:buNone/>
            </a:pPr>
            <a:endParaRPr lang="en-US" sz="3000" dirty="0"/>
          </a:p>
        </p:txBody>
      </p:sp>
      <p:sp>
        <p:nvSpPr>
          <p:cNvPr id="3" name="Text 0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bg2"/>
                </a:solidFill>
              </a:rPr>
              <a:t>AtliQ Hardwares  |  Finance Analytics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CADCFC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731520" y="1920240"/>
            <a:ext cx="640080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4600" b="1" dirty="0">
                <a:solidFill>
                  <a:schemeClr val="bg1"/>
                </a:solidFill>
              </a:defRPr>
            </a:lvl1pPr>
          </a:lstStyle>
          <a:p>
            <a:pPr marL="0" indent="0" algn="l">
              <a:buNone/>
            </a:pPr>
            <a:endParaRPr lang="en-US" sz="46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731520" y="3200400"/>
            <a:ext cx="603504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2200" dirty="0">
                <a:solidFill>
                  <a:schemeClr val="bg2"/>
                </a:solidFill>
              </a:defRPr>
            </a:lvl1pPr>
          </a:lstStyle>
          <a:p>
            <a:pPr marL="0" indent="0" algn="l">
              <a:buNone/>
            </a:pPr>
            <a:endParaRPr lang="en-US" sz="22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2B3A7A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chart" Target="../charts/chart1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2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1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1.png"/><Relationship Id="rId4" Type="http://schemas.openxmlformats.org/officeDocument/2006/relationships/slide" Target="slide3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5" Type="http://schemas.openxmlformats.org/officeDocument/2006/relationships/chart" Target="../charts/chart2.xml"/><Relationship Id="rId4" Type="http://schemas.openxmlformats.org/officeDocument/2006/relationships/slide" Target="slide3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5" Type="http://schemas.openxmlformats.org/officeDocument/2006/relationships/chart" Target="../charts/chart3.xml"/><Relationship Id="rId4" Type="http://schemas.openxmlformats.org/officeDocument/2006/relationships/slide" Target="slide3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5" Type="http://schemas.openxmlformats.org/officeDocument/2006/relationships/chart" Target="../charts/chart4.xml"/><Relationship Id="rId4" Type="http://schemas.openxmlformats.org/officeDocument/2006/relationships/slide" Target="slide3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slide" Target="slide3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5" Type="http://schemas.openxmlformats.org/officeDocument/2006/relationships/chart" Target="../charts/chart5.xml"/><Relationship Id="rId4" Type="http://schemas.openxmlformats.org/officeDocument/2006/relationships/slide" Target="slide3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5" Type="http://schemas.openxmlformats.org/officeDocument/2006/relationships/chart" Target="../charts/chart6.xml"/><Relationship Id="rId4" Type="http://schemas.openxmlformats.org/officeDocument/2006/relationships/slide" Target="slide3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5" Type="http://schemas.openxmlformats.org/officeDocument/2006/relationships/chart" Target="../charts/chart7.xml"/><Relationship Id="rId4" Type="http://schemas.openxmlformats.org/officeDocument/2006/relationships/slide" Target="slide3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5" Type="http://schemas.openxmlformats.org/officeDocument/2006/relationships/chart" Target="../charts/chart8.xml"/><Relationship Id="rId4" Type="http://schemas.openxmlformats.org/officeDocument/2006/relationships/slide" Target="slide35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4" Type="http://schemas.openxmlformats.org/officeDocument/2006/relationships/slide" Target="slide36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5" Type="http://schemas.openxmlformats.org/officeDocument/2006/relationships/chart" Target="../charts/chart9.xml"/><Relationship Id="rId4" Type="http://schemas.openxmlformats.org/officeDocument/2006/relationships/slide" Target="slide3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5" Type="http://schemas.openxmlformats.org/officeDocument/2006/relationships/chart" Target="../charts/chart10.xml"/><Relationship Id="rId4" Type="http://schemas.openxmlformats.org/officeDocument/2006/relationships/slide" Target="slide3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7" Type="http://schemas.openxmlformats.org/officeDocument/2006/relationships/chart" Target="../charts/chart13.xml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6" Type="http://schemas.openxmlformats.org/officeDocument/2006/relationships/chart" Target="../charts/chart12.xml"/><Relationship Id="rId5" Type="http://schemas.openxmlformats.org/officeDocument/2006/relationships/chart" Target="../charts/chart11.xml"/><Relationship Id="rId4" Type="http://schemas.openxmlformats.org/officeDocument/2006/relationships/slide" Target="slide38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5" Type="http://schemas.openxmlformats.org/officeDocument/2006/relationships/chart" Target="../charts/chart14.xml"/><Relationship Id="rId4" Type="http://schemas.openxmlformats.org/officeDocument/2006/relationships/slide" Target="slide38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5" Type="http://schemas.openxmlformats.org/officeDocument/2006/relationships/chart" Target="../charts/chart15.xml"/><Relationship Id="rId4" Type="http://schemas.openxmlformats.org/officeDocument/2006/relationships/slide" Target="slide39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5" Type="http://schemas.openxmlformats.org/officeDocument/2006/relationships/chart" Target="../charts/chart16.xml"/><Relationship Id="rId4" Type="http://schemas.openxmlformats.org/officeDocument/2006/relationships/slide" Target="slide40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5" Type="http://schemas.openxmlformats.org/officeDocument/2006/relationships/chart" Target="../charts/chart17.xml"/><Relationship Id="rId4" Type="http://schemas.openxmlformats.org/officeDocument/2006/relationships/slide" Target="slide4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5" Type="http://schemas.openxmlformats.org/officeDocument/2006/relationships/chart" Target="../charts/chart18.xml"/><Relationship Id="rId4" Type="http://schemas.openxmlformats.org/officeDocument/2006/relationships/slide" Target="slide4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7" Type="http://schemas.openxmlformats.org/officeDocument/2006/relationships/image" Target="../media/image31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7" Type="http://schemas.openxmlformats.org/officeDocument/2006/relationships/image" Target="../media/image35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7" Type="http://schemas.openxmlformats.org/officeDocument/2006/relationships/image" Target="../media/image39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8.png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7" Type="http://schemas.openxmlformats.org/officeDocument/2006/relationships/image" Target="../media/image43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2.png"/><Relationship Id="rId5" Type="http://schemas.openxmlformats.org/officeDocument/2006/relationships/image" Target="../media/image41.png"/><Relationship Id="rId4" Type="http://schemas.openxmlformats.org/officeDocument/2006/relationships/image" Target="../media/image40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5.png"/><Relationship Id="rId4" Type="http://schemas.openxmlformats.org/officeDocument/2006/relationships/image" Target="../media/image44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7.png"/><Relationship Id="rId4" Type="http://schemas.openxmlformats.org/officeDocument/2006/relationships/image" Target="../media/image46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0.png"/><Relationship Id="rId5" Type="http://schemas.openxmlformats.org/officeDocument/2006/relationships/image" Target="../media/image49.png"/><Relationship Id="rId4" Type="http://schemas.openxmlformats.org/officeDocument/2006/relationships/image" Target="../media/image48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7" Type="http://schemas.openxmlformats.org/officeDocument/2006/relationships/image" Target="../media/image54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3.png"/><Relationship Id="rId5" Type="http://schemas.openxmlformats.org/officeDocument/2006/relationships/image" Target="../media/image52.png"/><Relationship Id="rId4" Type="http://schemas.openxmlformats.org/officeDocument/2006/relationships/image" Target="../media/image51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6.png"/><Relationship Id="rId4" Type="http://schemas.openxmlformats.org/officeDocument/2006/relationships/image" Target="../media/image55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8.png"/><Relationship Id="rId4" Type="http://schemas.openxmlformats.org/officeDocument/2006/relationships/image" Target="../media/image57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7" Type="http://schemas.openxmlformats.org/officeDocument/2006/relationships/image" Target="../media/image62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1.png"/><Relationship Id="rId5" Type="http://schemas.openxmlformats.org/officeDocument/2006/relationships/image" Target="../media/image60.png"/><Relationship Id="rId4" Type="http://schemas.openxmlformats.org/officeDocument/2006/relationships/image" Target="../media/image59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4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dge"/>
          <p:cNvSpPr/>
          <p:nvPr/>
        </p:nvSpPr>
        <p:spPr>
          <a:xfrm>
            <a:off x="731520" y="640080"/>
            <a:ext cx="1051560" cy="105156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bg1"/>
            </a:solidFill>
            <a:prstDash val="solid"/>
          </a:ln>
        </p:spPr>
      </p:sp>
      <p:pic>
        <p:nvPicPr>
          <p:cNvPr id="3" name="Image 0" descr="AtliQ log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785565"/>
            <a:ext cx="777240" cy="760590"/>
          </a:xfrm>
          <a:prstGeom prst="rect">
            <a:avLst/>
          </a:prstGeom>
        </p:spPr>
      </p:pic>
      <p:sp>
        <p:nvSpPr>
          <p:cNvPr id="4" name="Text 0"/>
          <p:cNvSpPr>
            <a:spLocks noGrp="1"/>
          </p:cNvSpPr>
          <p:nvPr>
            <p:ph type="title" idx="100" hasCustomPrompt="1"/>
          </p:nvPr>
        </p:nvSpPr>
        <p:spPr>
          <a:xfrm>
            <a:off x="731520" y="1920240"/>
            <a:ext cx="6400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600" b="1" dirty="0">
                <a:solidFill>
                  <a:schemeClr val="bg1"/>
                </a:solidFill>
              </a:rPr>
              <a:t>Ad-Hoc Analytics</a:t>
            </a:r>
            <a:endParaRPr lang="en-US" sz="4600" dirty="0"/>
          </a:p>
        </p:txBody>
      </p:sp>
      <p:sp>
        <p:nvSpPr>
          <p:cNvPr id="5" name="Text 0"/>
          <p:cNvSpPr>
            <a:spLocks noGrp="1"/>
          </p:cNvSpPr>
          <p:nvPr>
            <p:ph type="body" idx="101" hasCustomPrompt="1"/>
          </p:nvPr>
        </p:nvSpPr>
        <p:spPr>
          <a:xfrm>
            <a:off x="731520" y="3200400"/>
            <a:ext cx="6035040" cy="6265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200" dirty="0">
                <a:solidFill>
                  <a:schemeClr val="bg2"/>
                </a:solidFill>
              </a:rPr>
              <a:t>Ad-hoc SQL analysis for AtliQ Hardwares</a:t>
            </a:r>
            <a:endParaRPr lang="en-US" sz="2200" dirty="0"/>
          </a:p>
        </p:txBody>
      </p:sp>
      <p:sp>
        <p:nvSpPr>
          <p:cNvPr id="6" name="Chip"/>
          <p:cNvSpPr/>
          <p:nvPr/>
        </p:nvSpPr>
        <p:spPr>
          <a:xfrm>
            <a:off x="731520" y="4343400"/>
            <a:ext cx="4754880" cy="475488"/>
          </a:xfrm>
          <a:prstGeom prst="roundRect">
            <a:avLst>
              <a:gd name="adj" fmla="val 50000"/>
            </a:avLst>
          </a:prstGeom>
          <a:solidFill>
            <a:srgbClr val="FF5A5F"/>
          </a:solidFill>
          <a:ln w="25400">
            <a:solidFill>
              <a:schemeClr val="tx1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31520" y="4343400"/>
            <a:ext cx="4754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kern="0" spc="100" dirty="0">
                <a:solidFill>
                  <a:schemeClr val="bg1"/>
                </a:solidFill>
              </a:rPr>
              <a:t>18 BUSINESS REQUESTS  |  FY2017 - FY2021</a:t>
            </a:r>
            <a:endParaRPr lang="en-US" sz="1400" dirty="0"/>
          </a:p>
        </p:txBody>
      </p:sp>
      <p:sp>
        <p:nvSpPr>
          <p:cNvPr id="8" name="Hero circle"/>
          <p:cNvSpPr/>
          <p:nvPr/>
        </p:nvSpPr>
        <p:spPr>
          <a:xfrm>
            <a:off x="7315200" y="1234440"/>
            <a:ext cx="4297680" cy="4297680"/>
          </a:xfrm>
          <a:prstGeom prst="ellipse">
            <a:avLst/>
          </a:prstGeom>
          <a:solidFill>
            <a:schemeClr val="accent2"/>
          </a:solidFill>
          <a:ln w="38100">
            <a:solidFill>
              <a:schemeClr val="bg1"/>
            </a:solidFill>
            <a:prstDash val="solid"/>
          </a:ln>
          <a:effectLst>
            <a:outerShdw blurRad="101600" dist="63500" dir="2700000" algn="bl" rotWithShape="0">
              <a:srgbClr val="070D26">
                <a:alpha val="100000"/>
              </a:srgbClr>
            </a:outerShdw>
          </a:effectLst>
        </p:spPr>
      </p:sp>
      <p:pic>
        <p:nvPicPr>
          <p:cNvPr id="9" name="Image 1" descr="Cartoon analyst with laptop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35240" y="1554480"/>
            <a:ext cx="3657600" cy="3657600"/>
          </a:xfrm>
          <a:prstGeom prst="rect">
            <a:avLst/>
          </a:prstGeom>
        </p:spPr>
      </p:pic>
      <p:sp>
        <p:nvSpPr>
          <p:cNvPr id="10" name="Sticker"/>
          <p:cNvSpPr/>
          <p:nvPr/>
        </p:nvSpPr>
        <p:spPr>
          <a:xfrm rot="-360000">
            <a:off x="6720840" y="914400"/>
            <a:ext cx="1737360" cy="777240"/>
          </a:xfrm>
          <a:prstGeom prst="roundRect">
            <a:avLst>
              <a:gd name="adj" fmla="val 16471"/>
            </a:avLst>
          </a:prstGeom>
          <a:solidFill>
            <a:schemeClr val="bg1"/>
          </a:solidFill>
          <a:ln w="25400">
            <a:solidFill>
              <a:schemeClr val="tx1"/>
            </a:solidFill>
            <a:prstDash val="solid"/>
          </a:ln>
          <a:effectLst>
            <a:outerShdw blurRad="101600" dist="63500" dir="2700000" algn="bl" rotWithShape="0">
              <a:srgbClr val="070D26">
                <a:alpha val="100000"/>
              </a:srgbClr>
            </a:outerShdw>
          </a:effectLst>
        </p:spPr>
      </p:sp>
      <p:sp>
        <p:nvSpPr>
          <p:cNvPr id="11" name="Text 7"/>
          <p:cNvSpPr txBox="1"/>
          <p:nvPr/>
        </p:nvSpPr>
        <p:spPr>
          <a:xfrm rot="-360000">
            <a:off x="6720840" y="914400"/>
            <a:ext cx="1737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chemeClr val="accent1"/>
                </a:solidFill>
              </a:rPr>
              <a:t>+36%</a:t>
            </a:r>
            <a:endParaRPr lang="en-US" sz="2200" dirty="0"/>
          </a:p>
          <a:p>
            <a:pPr marL="0" indent="0" algn="ctr">
              <a:buNone/>
            </a:pPr>
            <a:r>
              <a:rPr lang="en-US" sz="1200" b="1" dirty="0">
                <a:solidFill>
                  <a:schemeClr val="tx1"/>
                </a:solidFill>
              </a:rPr>
              <a:t>product range</a:t>
            </a:r>
            <a:endParaRPr lang="en-US" sz="2200" dirty="0"/>
          </a:p>
        </p:txBody>
      </p:sp>
      <p:sp>
        <p:nvSpPr>
          <p:cNvPr id="12" name="Sticker"/>
          <p:cNvSpPr/>
          <p:nvPr/>
        </p:nvSpPr>
        <p:spPr>
          <a:xfrm rot="300000">
            <a:off x="10058400" y="4480560"/>
            <a:ext cx="1737360" cy="777240"/>
          </a:xfrm>
          <a:prstGeom prst="roundRect">
            <a:avLst>
              <a:gd name="adj" fmla="val 16471"/>
            </a:avLst>
          </a:prstGeom>
          <a:solidFill>
            <a:schemeClr val="bg1"/>
          </a:solidFill>
          <a:ln w="25400">
            <a:solidFill>
              <a:schemeClr val="tx1"/>
            </a:solidFill>
            <a:prstDash val="solid"/>
          </a:ln>
          <a:effectLst>
            <a:outerShdw blurRad="101600" dist="63500" dir="2700000" algn="bl" rotWithShape="0">
              <a:srgbClr val="070D26">
                <a:alpha val="100000"/>
              </a:srgbClr>
            </a:outerShdw>
          </a:effectLst>
        </p:spPr>
      </p:sp>
      <p:sp>
        <p:nvSpPr>
          <p:cNvPr id="13" name="Text 9"/>
          <p:cNvSpPr txBox="1"/>
          <p:nvPr/>
        </p:nvSpPr>
        <p:spPr>
          <a:xfrm rot="300000">
            <a:off x="10058400" y="4480560"/>
            <a:ext cx="1737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chemeClr val="accent1"/>
                </a:solidFill>
              </a:rPr>
              <a:t>73%</a:t>
            </a:r>
            <a:endParaRPr lang="en-US" sz="2200" dirty="0"/>
          </a:p>
          <a:p>
            <a:pPr marL="0" indent="0" algn="ctr">
              <a:buNone/>
            </a:pPr>
            <a:r>
              <a:rPr lang="en-US" sz="1200" b="1" dirty="0">
                <a:solidFill>
                  <a:schemeClr val="tx1"/>
                </a:solidFill>
              </a:rPr>
              <a:t>retail share</a:t>
            </a:r>
            <a:endParaRPr lang="en-US" sz="2200" dirty="0"/>
          </a:p>
        </p:txBody>
      </p:sp>
      <p:sp>
        <p:nvSpPr>
          <p:cNvPr id="14" name="Sticker"/>
          <p:cNvSpPr/>
          <p:nvPr/>
        </p:nvSpPr>
        <p:spPr>
          <a:xfrm rot="240000">
            <a:off x="6858000" y="5029200"/>
            <a:ext cx="1737360" cy="777240"/>
          </a:xfrm>
          <a:prstGeom prst="roundRect">
            <a:avLst>
              <a:gd name="adj" fmla="val 16471"/>
            </a:avLst>
          </a:prstGeom>
          <a:solidFill>
            <a:schemeClr val="bg1"/>
          </a:solidFill>
          <a:ln w="25400">
            <a:solidFill>
              <a:schemeClr val="tx1"/>
            </a:solidFill>
            <a:prstDash val="solid"/>
          </a:ln>
          <a:effectLst>
            <a:outerShdw blurRad="101600" dist="63500" dir="2700000" algn="bl" rotWithShape="0">
              <a:srgbClr val="070D26">
                <a:alpha val="100000"/>
              </a:srgbClr>
            </a:outerShdw>
          </a:effectLst>
        </p:spPr>
      </p:sp>
      <p:sp>
        <p:nvSpPr>
          <p:cNvPr id="15" name="Text 11"/>
          <p:cNvSpPr txBox="1"/>
          <p:nvPr/>
        </p:nvSpPr>
        <p:spPr>
          <a:xfrm rot="240000">
            <a:off x="6858000" y="5029200"/>
            <a:ext cx="1737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chemeClr val="accent1"/>
                </a:solidFill>
              </a:rPr>
              <a:t>110x</a:t>
            </a:r>
            <a:endParaRPr lang="en-US" sz="2200" dirty="0"/>
          </a:p>
          <a:p>
            <a:pPr marL="0" indent="0" algn="ctr">
              <a:buNone/>
            </a:pPr>
            <a:r>
              <a:rPr lang="en-US" sz="1200" b="1" dirty="0">
                <a:solidFill>
                  <a:schemeClr val="tx1"/>
                </a:solidFill>
              </a:rPr>
              <a:t>Croma growth</a:t>
            </a:r>
            <a:endParaRPr lang="en-US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27432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1"/>
                </a:solidFill>
              </a:rPr>
              <a:t>What we will cover</a:t>
            </a:r>
            <a:endParaRPr lang="en-US" sz="3000" dirty="0"/>
          </a:p>
        </p:txBody>
      </p:sp>
      <p:sp>
        <p:nvSpPr>
          <p:cNvPr id="3" name="Mascot ring"/>
          <p:cNvSpPr/>
          <p:nvPr/>
        </p:nvSpPr>
        <p:spPr>
          <a:xfrm>
            <a:off x="10835640" y="228600"/>
            <a:ext cx="914400" cy="9144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  <a:prstDash val="solid"/>
          </a:ln>
          <a:effectLst>
            <a:outerShdw blurRad="101600" dist="63500" dir="2700000" algn="bl" rotWithShape="0">
              <a:srgbClr val="111A3E">
                <a:alpha val="100000"/>
              </a:srgbClr>
            </a:outerShdw>
          </a:effectLst>
        </p:spPr>
      </p:sp>
      <p:pic>
        <p:nvPicPr>
          <p:cNvPr id="4" name="Image 0" descr="Cartoon masco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45368" y="338328"/>
            <a:ext cx="694944" cy="694944"/>
          </a:xfrm>
          <a:prstGeom prst="rect">
            <a:avLst/>
          </a:prstGeom>
        </p:spPr>
      </p:pic>
      <p:sp>
        <p:nvSpPr>
          <p:cNvPr id="5" name="Agenda card"/>
          <p:cNvSpPr/>
          <p:nvPr/>
        </p:nvSpPr>
        <p:spPr>
          <a:xfrm>
            <a:off x="548640" y="1554480"/>
            <a:ext cx="2084832" cy="4480560"/>
          </a:xfrm>
          <a:prstGeom prst="roundRect">
            <a:avLst>
              <a:gd name="adj" fmla="val 7018"/>
            </a:avLst>
          </a:prstGeom>
          <a:solidFill>
            <a:schemeClr val="bg1"/>
          </a:solidFill>
          <a:ln w="25400">
            <a:solidFill>
              <a:schemeClr val="tx1"/>
            </a:solidFill>
            <a:prstDash val="solid"/>
          </a:ln>
          <a:effectLst>
            <a:outerShdw blurRad="101600" dist="63500" dir="2700000" algn="bl" rotWithShape="0">
              <a:srgbClr val="111A3E">
                <a:alpha val="100000"/>
              </a:srgbClr>
            </a:outerShdw>
          </a:effectLst>
        </p:spPr>
      </p:sp>
      <p:sp>
        <p:nvSpPr>
          <p:cNvPr id="6" name="Badge"/>
          <p:cNvSpPr/>
          <p:nvPr/>
        </p:nvSpPr>
        <p:spPr>
          <a:xfrm>
            <a:off x="777240" y="1828800"/>
            <a:ext cx="777240" cy="777240"/>
          </a:xfrm>
          <a:prstGeom prst="ellipse">
            <a:avLst/>
          </a:prstGeom>
          <a:solidFill>
            <a:schemeClr val="accent1"/>
          </a:solidFill>
          <a:ln w="25400">
            <a:solidFill>
              <a:schemeClr val="tx1"/>
            </a:solidFill>
            <a:prstDash val="solid"/>
          </a:ln>
          <a:effectLst>
            <a:outerShdw blurRad="101600" dist="63500" dir="2700000" algn="bl" rotWithShape="0">
              <a:srgbClr val="111A3E">
                <a:alpha val="100000"/>
              </a:srgbClr>
            </a:outerShdw>
          </a:effectLst>
        </p:spPr>
      </p:sp>
      <p:sp>
        <p:nvSpPr>
          <p:cNvPr id="7" name="Text 4"/>
          <p:cNvSpPr txBox="1"/>
          <p:nvPr/>
        </p:nvSpPr>
        <p:spPr>
          <a:xfrm>
            <a:off x="777240" y="182880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chemeClr val="bg1"/>
                </a:solidFill>
              </a:rPr>
              <a:t>1</a:t>
            </a:r>
            <a:endParaRPr lang="en-US" sz="2800" dirty="0"/>
          </a:p>
        </p:txBody>
      </p:sp>
      <p:sp>
        <p:nvSpPr>
          <p:cNvPr id="8" name="Text 5"/>
          <p:cNvSpPr txBox="1"/>
          <p:nvPr/>
        </p:nvSpPr>
        <p:spPr>
          <a:xfrm>
            <a:off x="731520" y="2926080"/>
            <a:ext cx="17190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chemeClr val="tx1"/>
                </a:solidFill>
              </a:rPr>
              <a:t>Company overview</a:t>
            </a:r>
            <a:endParaRPr lang="en-US" sz="1700" dirty="0"/>
          </a:p>
        </p:txBody>
      </p:sp>
      <p:sp>
        <p:nvSpPr>
          <p:cNvPr id="9" name="Text 6"/>
          <p:cNvSpPr txBox="1"/>
          <p:nvPr/>
        </p:nvSpPr>
        <p:spPr>
          <a:xfrm>
            <a:off x="777240" y="3931920"/>
            <a:ext cx="16276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tx2"/>
                </a:solidFill>
              </a:rPr>
              <a:t>Who AtliQ is</a:t>
            </a:r>
            <a:endParaRPr lang="en-US" sz="1500" dirty="0"/>
          </a:p>
        </p:txBody>
      </p:sp>
      <p:sp>
        <p:nvSpPr>
          <p:cNvPr id="10" name="Badge"/>
          <p:cNvSpPr/>
          <p:nvPr/>
        </p:nvSpPr>
        <p:spPr>
          <a:xfrm>
            <a:off x="1627632" y="5074920"/>
            <a:ext cx="731520" cy="731520"/>
          </a:xfrm>
          <a:prstGeom prst="ellipse">
            <a:avLst/>
          </a:prstGeom>
          <a:solidFill>
            <a:schemeClr val="bg2"/>
          </a:solidFill>
          <a:ln w="19050">
            <a:solidFill>
              <a:schemeClr val="tx1"/>
            </a:solidFill>
            <a:prstDash val="solid"/>
          </a:ln>
        </p:spPr>
      </p:sp>
      <p:pic>
        <p:nvPicPr>
          <p:cNvPr id="11" name="Image 1" descr="FaGlobeAsia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92224" y="5239512"/>
            <a:ext cx="402336" cy="402336"/>
          </a:xfrm>
          <a:prstGeom prst="rect">
            <a:avLst/>
          </a:prstGeom>
        </p:spPr>
      </p:pic>
      <p:sp>
        <p:nvSpPr>
          <p:cNvPr id="12" name="Agenda card"/>
          <p:cNvSpPr/>
          <p:nvPr/>
        </p:nvSpPr>
        <p:spPr>
          <a:xfrm>
            <a:off x="2816352" y="1554480"/>
            <a:ext cx="2084832" cy="4480560"/>
          </a:xfrm>
          <a:prstGeom prst="roundRect">
            <a:avLst>
              <a:gd name="adj" fmla="val 7018"/>
            </a:avLst>
          </a:prstGeom>
          <a:solidFill>
            <a:schemeClr val="bg1"/>
          </a:solidFill>
          <a:ln w="25400">
            <a:solidFill>
              <a:schemeClr val="tx1"/>
            </a:solidFill>
            <a:prstDash val="solid"/>
          </a:ln>
          <a:effectLst>
            <a:outerShdw blurRad="101600" dist="63500" dir="2700000" algn="bl" rotWithShape="0">
              <a:srgbClr val="111A3E">
                <a:alpha val="100000"/>
              </a:srgbClr>
            </a:outerShdw>
          </a:effectLst>
        </p:spPr>
      </p:sp>
      <p:sp>
        <p:nvSpPr>
          <p:cNvPr id="13" name="Badge"/>
          <p:cNvSpPr/>
          <p:nvPr/>
        </p:nvSpPr>
        <p:spPr>
          <a:xfrm>
            <a:off x="3044952" y="1828800"/>
            <a:ext cx="777240" cy="777240"/>
          </a:xfrm>
          <a:prstGeom prst="ellipse">
            <a:avLst/>
          </a:prstGeom>
          <a:solidFill>
            <a:schemeClr val="accent2"/>
          </a:solidFill>
          <a:ln w="25400">
            <a:solidFill>
              <a:schemeClr val="tx1"/>
            </a:solidFill>
            <a:prstDash val="solid"/>
          </a:ln>
          <a:effectLst>
            <a:outerShdw blurRad="101600" dist="63500" dir="2700000" algn="bl" rotWithShape="0">
              <a:srgbClr val="111A3E">
                <a:alpha val="100000"/>
              </a:srgbClr>
            </a:outerShdw>
          </a:effectLst>
        </p:spPr>
      </p:sp>
      <p:sp>
        <p:nvSpPr>
          <p:cNvPr id="14" name="Text 10"/>
          <p:cNvSpPr txBox="1"/>
          <p:nvPr/>
        </p:nvSpPr>
        <p:spPr>
          <a:xfrm>
            <a:off x="3044952" y="182880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chemeClr val="tx1"/>
                </a:solidFill>
              </a:rPr>
              <a:t>2</a:t>
            </a:r>
            <a:endParaRPr lang="en-US" sz="2800" dirty="0"/>
          </a:p>
        </p:txBody>
      </p:sp>
      <p:sp>
        <p:nvSpPr>
          <p:cNvPr id="15" name="Text 11"/>
          <p:cNvSpPr txBox="1"/>
          <p:nvPr/>
        </p:nvSpPr>
        <p:spPr>
          <a:xfrm>
            <a:off x="2999232" y="2926080"/>
            <a:ext cx="17190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chemeClr val="tx1"/>
                </a:solidFill>
              </a:rPr>
              <a:t>Problem statement</a:t>
            </a:r>
            <a:endParaRPr lang="en-US" sz="1700" dirty="0"/>
          </a:p>
        </p:txBody>
      </p:sp>
      <p:sp>
        <p:nvSpPr>
          <p:cNvPr id="16" name="Text 12"/>
          <p:cNvSpPr txBox="1"/>
          <p:nvPr/>
        </p:nvSpPr>
        <p:spPr>
          <a:xfrm>
            <a:off x="3044952" y="3931920"/>
            <a:ext cx="16276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tx2"/>
                </a:solidFill>
              </a:rPr>
              <a:t>Why a SQL challenge</a:t>
            </a:r>
            <a:endParaRPr lang="en-US" sz="1500" dirty="0"/>
          </a:p>
        </p:txBody>
      </p:sp>
      <p:sp>
        <p:nvSpPr>
          <p:cNvPr id="17" name="Badge"/>
          <p:cNvSpPr/>
          <p:nvPr/>
        </p:nvSpPr>
        <p:spPr>
          <a:xfrm>
            <a:off x="3895344" y="5074920"/>
            <a:ext cx="731520" cy="731520"/>
          </a:xfrm>
          <a:prstGeom prst="ellipse">
            <a:avLst/>
          </a:prstGeom>
          <a:solidFill>
            <a:schemeClr val="bg2"/>
          </a:solidFill>
          <a:ln w="19050">
            <a:solidFill>
              <a:schemeClr val="tx1"/>
            </a:solidFill>
            <a:prstDash val="solid"/>
          </a:ln>
        </p:spPr>
      </p:sp>
      <p:pic>
        <p:nvPicPr>
          <p:cNvPr id="18" name="Image 2" descr="FaSearch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59936" y="5239512"/>
            <a:ext cx="402336" cy="402336"/>
          </a:xfrm>
          <a:prstGeom prst="rect">
            <a:avLst/>
          </a:prstGeom>
        </p:spPr>
      </p:pic>
      <p:sp>
        <p:nvSpPr>
          <p:cNvPr id="19" name="Agenda card"/>
          <p:cNvSpPr/>
          <p:nvPr/>
        </p:nvSpPr>
        <p:spPr>
          <a:xfrm>
            <a:off x="5084064" y="1554480"/>
            <a:ext cx="2084832" cy="4480560"/>
          </a:xfrm>
          <a:prstGeom prst="roundRect">
            <a:avLst>
              <a:gd name="adj" fmla="val 7018"/>
            </a:avLst>
          </a:prstGeom>
          <a:solidFill>
            <a:schemeClr val="bg1"/>
          </a:solidFill>
          <a:ln w="25400">
            <a:solidFill>
              <a:schemeClr val="tx1"/>
            </a:solidFill>
            <a:prstDash val="solid"/>
          </a:ln>
          <a:effectLst>
            <a:outerShdw blurRad="101600" dist="63500" dir="2700000" algn="bl" rotWithShape="0">
              <a:srgbClr val="111A3E">
                <a:alpha val="100000"/>
              </a:srgbClr>
            </a:outerShdw>
          </a:effectLst>
        </p:spPr>
      </p:sp>
      <p:sp>
        <p:nvSpPr>
          <p:cNvPr id="20" name="Badge"/>
          <p:cNvSpPr/>
          <p:nvPr/>
        </p:nvSpPr>
        <p:spPr>
          <a:xfrm>
            <a:off x="5312664" y="1828800"/>
            <a:ext cx="777240" cy="777240"/>
          </a:xfrm>
          <a:prstGeom prst="ellipse">
            <a:avLst/>
          </a:prstGeom>
          <a:solidFill>
            <a:schemeClr val="accent3"/>
          </a:solidFill>
          <a:ln w="25400">
            <a:solidFill>
              <a:schemeClr val="tx1"/>
            </a:solidFill>
            <a:prstDash val="solid"/>
          </a:ln>
          <a:effectLst>
            <a:outerShdw blurRad="101600" dist="63500" dir="2700000" algn="bl" rotWithShape="0">
              <a:srgbClr val="111A3E">
                <a:alpha val="100000"/>
              </a:srgbClr>
            </a:outerShdw>
          </a:effectLst>
        </p:spPr>
      </p:sp>
      <p:sp>
        <p:nvSpPr>
          <p:cNvPr id="21" name="Text 16"/>
          <p:cNvSpPr txBox="1"/>
          <p:nvPr/>
        </p:nvSpPr>
        <p:spPr>
          <a:xfrm>
            <a:off x="5312664" y="182880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chemeClr val="bg1"/>
                </a:solidFill>
              </a:rPr>
              <a:t>3</a:t>
            </a:r>
            <a:endParaRPr lang="en-US" sz="2800" dirty="0"/>
          </a:p>
        </p:txBody>
      </p:sp>
      <p:sp>
        <p:nvSpPr>
          <p:cNvPr id="22" name="Text 17"/>
          <p:cNvSpPr txBox="1"/>
          <p:nvPr/>
        </p:nvSpPr>
        <p:spPr>
          <a:xfrm>
            <a:off x="5266944" y="2926080"/>
            <a:ext cx="17190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chemeClr val="tx1"/>
                </a:solidFill>
              </a:rPr>
              <a:t>Dataset and model</a:t>
            </a:r>
            <a:endParaRPr lang="en-US" sz="1700" dirty="0"/>
          </a:p>
        </p:txBody>
      </p:sp>
      <p:sp>
        <p:nvSpPr>
          <p:cNvPr id="23" name="Text 18"/>
          <p:cNvSpPr txBox="1"/>
          <p:nvPr/>
        </p:nvSpPr>
        <p:spPr>
          <a:xfrm>
            <a:off x="5312664" y="3931920"/>
            <a:ext cx="16276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tx2"/>
                </a:solidFill>
              </a:rPr>
              <a:t>Six linked tables</a:t>
            </a:r>
            <a:endParaRPr lang="en-US" sz="1500" dirty="0"/>
          </a:p>
        </p:txBody>
      </p:sp>
      <p:sp>
        <p:nvSpPr>
          <p:cNvPr id="24" name="Badge"/>
          <p:cNvSpPr/>
          <p:nvPr/>
        </p:nvSpPr>
        <p:spPr>
          <a:xfrm>
            <a:off x="6163056" y="5074920"/>
            <a:ext cx="731520" cy="731520"/>
          </a:xfrm>
          <a:prstGeom prst="ellipse">
            <a:avLst/>
          </a:prstGeom>
          <a:solidFill>
            <a:schemeClr val="bg2"/>
          </a:solidFill>
          <a:ln w="19050">
            <a:solidFill>
              <a:schemeClr val="tx1"/>
            </a:solidFill>
            <a:prstDash val="solid"/>
          </a:ln>
        </p:spPr>
      </p:sp>
      <p:pic>
        <p:nvPicPr>
          <p:cNvPr id="25" name="Image 3" descr="FaDatabase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27648" y="5239512"/>
            <a:ext cx="402336" cy="402336"/>
          </a:xfrm>
          <a:prstGeom prst="rect">
            <a:avLst/>
          </a:prstGeom>
        </p:spPr>
      </p:pic>
      <p:sp>
        <p:nvSpPr>
          <p:cNvPr id="26" name="Agenda card"/>
          <p:cNvSpPr/>
          <p:nvPr/>
        </p:nvSpPr>
        <p:spPr>
          <a:xfrm>
            <a:off x="7351776" y="1554480"/>
            <a:ext cx="2084832" cy="4480560"/>
          </a:xfrm>
          <a:prstGeom prst="roundRect">
            <a:avLst>
              <a:gd name="adj" fmla="val 7018"/>
            </a:avLst>
          </a:prstGeom>
          <a:solidFill>
            <a:schemeClr val="bg1"/>
          </a:solidFill>
          <a:ln w="25400">
            <a:solidFill>
              <a:schemeClr val="tx1"/>
            </a:solidFill>
            <a:prstDash val="solid"/>
          </a:ln>
          <a:effectLst>
            <a:outerShdw blurRad="101600" dist="63500" dir="2700000" algn="bl" rotWithShape="0">
              <a:srgbClr val="111A3E">
                <a:alpha val="100000"/>
              </a:srgbClr>
            </a:outerShdw>
          </a:effectLst>
        </p:spPr>
      </p:sp>
      <p:sp>
        <p:nvSpPr>
          <p:cNvPr id="27" name="Badge"/>
          <p:cNvSpPr/>
          <p:nvPr/>
        </p:nvSpPr>
        <p:spPr>
          <a:xfrm>
            <a:off x="7580376" y="1828800"/>
            <a:ext cx="777240" cy="777240"/>
          </a:xfrm>
          <a:prstGeom prst="ellipse">
            <a:avLst/>
          </a:prstGeom>
          <a:solidFill>
            <a:schemeClr val="accent4"/>
          </a:solidFill>
          <a:ln w="25400">
            <a:solidFill>
              <a:schemeClr val="tx1"/>
            </a:solidFill>
            <a:prstDash val="solid"/>
          </a:ln>
          <a:effectLst>
            <a:outerShdw blurRad="101600" dist="63500" dir="2700000" algn="bl" rotWithShape="0">
              <a:srgbClr val="111A3E">
                <a:alpha val="100000"/>
              </a:srgbClr>
            </a:outerShdw>
          </a:effectLst>
        </p:spPr>
      </p:sp>
      <p:sp>
        <p:nvSpPr>
          <p:cNvPr id="28" name="Text 22"/>
          <p:cNvSpPr txBox="1"/>
          <p:nvPr/>
        </p:nvSpPr>
        <p:spPr>
          <a:xfrm>
            <a:off x="7580376" y="182880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chemeClr val="bg1"/>
                </a:solidFill>
              </a:rPr>
              <a:t>4</a:t>
            </a:r>
            <a:endParaRPr lang="en-US" sz="2800" dirty="0"/>
          </a:p>
        </p:txBody>
      </p:sp>
      <p:sp>
        <p:nvSpPr>
          <p:cNvPr id="29" name="Text 23"/>
          <p:cNvSpPr txBox="1"/>
          <p:nvPr/>
        </p:nvSpPr>
        <p:spPr>
          <a:xfrm>
            <a:off x="7534656" y="2926080"/>
            <a:ext cx="17190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chemeClr val="tx1"/>
                </a:solidFill>
              </a:rPr>
              <a:t>Analytics and insights</a:t>
            </a:r>
            <a:endParaRPr lang="en-US" sz="1700" dirty="0"/>
          </a:p>
        </p:txBody>
      </p:sp>
      <p:sp>
        <p:nvSpPr>
          <p:cNvPr id="30" name="Text 24"/>
          <p:cNvSpPr txBox="1"/>
          <p:nvPr/>
        </p:nvSpPr>
        <p:spPr>
          <a:xfrm>
            <a:off x="7580376" y="3931920"/>
            <a:ext cx="16276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tx2"/>
                </a:solidFill>
              </a:rPr>
              <a:t>18 requests answered</a:t>
            </a:r>
            <a:endParaRPr lang="en-US" sz="1500" dirty="0"/>
          </a:p>
        </p:txBody>
      </p:sp>
      <p:sp>
        <p:nvSpPr>
          <p:cNvPr id="31" name="Badge"/>
          <p:cNvSpPr/>
          <p:nvPr/>
        </p:nvSpPr>
        <p:spPr>
          <a:xfrm>
            <a:off x="8430768" y="5074920"/>
            <a:ext cx="731520" cy="731520"/>
          </a:xfrm>
          <a:prstGeom prst="ellipse">
            <a:avLst/>
          </a:prstGeom>
          <a:solidFill>
            <a:schemeClr val="bg2"/>
          </a:solidFill>
          <a:ln w="19050">
            <a:solidFill>
              <a:schemeClr val="tx1"/>
            </a:solidFill>
            <a:prstDash val="solid"/>
          </a:ln>
        </p:spPr>
      </p:sp>
      <p:pic>
        <p:nvPicPr>
          <p:cNvPr id="32" name="Image 4" descr="FaChartLine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95360" y="5239512"/>
            <a:ext cx="402336" cy="402336"/>
          </a:xfrm>
          <a:prstGeom prst="rect">
            <a:avLst/>
          </a:prstGeom>
        </p:spPr>
      </p:pic>
      <p:sp>
        <p:nvSpPr>
          <p:cNvPr id="33" name="Agenda card"/>
          <p:cNvSpPr/>
          <p:nvPr/>
        </p:nvSpPr>
        <p:spPr>
          <a:xfrm>
            <a:off x="9619488" y="1554480"/>
            <a:ext cx="2084832" cy="4480560"/>
          </a:xfrm>
          <a:prstGeom prst="roundRect">
            <a:avLst>
              <a:gd name="adj" fmla="val 7018"/>
            </a:avLst>
          </a:prstGeom>
          <a:solidFill>
            <a:schemeClr val="bg1"/>
          </a:solidFill>
          <a:ln w="25400">
            <a:solidFill>
              <a:schemeClr val="tx1"/>
            </a:solidFill>
            <a:prstDash val="solid"/>
          </a:ln>
          <a:effectLst>
            <a:outerShdw blurRad="101600" dist="63500" dir="2700000" algn="bl" rotWithShape="0">
              <a:srgbClr val="111A3E">
                <a:alpha val="100000"/>
              </a:srgbClr>
            </a:outerShdw>
          </a:effectLst>
        </p:spPr>
      </p:sp>
      <p:sp>
        <p:nvSpPr>
          <p:cNvPr id="34" name="Badge"/>
          <p:cNvSpPr/>
          <p:nvPr/>
        </p:nvSpPr>
        <p:spPr>
          <a:xfrm>
            <a:off x="9848088" y="1828800"/>
            <a:ext cx="777240" cy="777240"/>
          </a:xfrm>
          <a:prstGeom prst="ellipse">
            <a:avLst/>
          </a:prstGeom>
          <a:solidFill>
            <a:schemeClr val="accent5"/>
          </a:solidFill>
          <a:ln w="25400">
            <a:solidFill>
              <a:schemeClr val="tx1"/>
            </a:solidFill>
            <a:prstDash val="solid"/>
          </a:ln>
          <a:effectLst>
            <a:outerShdw blurRad="101600" dist="63500" dir="2700000" algn="bl" rotWithShape="0">
              <a:srgbClr val="111A3E">
                <a:alpha val="100000"/>
              </a:srgbClr>
            </a:outerShdw>
          </a:effectLst>
        </p:spPr>
      </p:sp>
      <p:sp>
        <p:nvSpPr>
          <p:cNvPr id="35" name="Text 28"/>
          <p:cNvSpPr txBox="1"/>
          <p:nvPr/>
        </p:nvSpPr>
        <p:spPr>
          <a:xfrm>
            <a:off x="9848088" y="182880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chemeClr val="bg1"/>
                </a:solidFill>
              </a:rPr>
              <a:t>5</a:t>
            </a:r>
            <a:endParaRPr lang="en-US" sz="2800" dirty="0"/>
          </a:p>
        </p:txBody>
      </p:sp>
      <p:sp>
        <p:nvSpPr>
          <p:cNvPr id="36" name="Text 29"/>
          <p:cNvSpPr txBox="1"/>
          <p:nvPr/>
        </p:nvSpPr>
        <p:spPr>
          <a:xfrm>
            <a:off x="9802368" y="2926080"/>
            <a:ext cx="17190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chemeClr val="tx1"/>
                </a:solidFill>
              </a:rPr>
              <a:t>Recommendations</a:t>
            </a:r>
            <a:endParaRPr lang="en-US" sz="1700" dirty="0"/>
          </a:p>
        </p:txBody>
      </p:sp>
      <p:sp>
        <p:nvSpPr>
          <p:cNvPr id="37" name="Text 30"/>
          <p:cNvSpPr txBox="1"/>
          <p:nvPr/>
        </p:nvSpPr>
        <p:spPr>
          <a:xfrm>
            <a:off x="9848088" y="3931920"/>
            <a:ext cx="16276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tx2"/>
                </a:solidFill>
              </a:rPr>
              <a:t>What to do next</a:t>
            </a:r>
            <a:endParaRPr lang="en-US" sz="1500" dirty="0"/>
          </a:p>
        </p:txBody>
      </p:sp>
      <p:sp>
        <p:nvSpPr>
          <p:cNvPr id="38" name="Badge"/>
          <p:cNvSpPr/>
          <p:nvPr/>
        </p:nvSpPr>
        <p:spPr>
          <a:xfrm>
            <a:off x="10698480" y="5074920"/>
            <a:ext cx="731520" cy="731520"/>
          </a:xfrm>
          <a:prstGeom prst="ellipse">
            <a:avLst/>
          </a:prstGeom>
          <a:solidFill>
            <a:schemeClr val="bg2"/>
          </a:solidFill>
          <a:ln w="19050">
            <a:solidFill>
              <a:schemeClr val="tx1"/>
            </a:solidFill>
            <a:prstDash val="solid"/>
          </a:ln>
        </p:spPr>
      </p:sp>
      <p:pic>
        <p:nvPicPr>
          <p:cNvPr id="39" name="Image 5" descr="FaRocket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863072" y="5239512"/>
            <a:ext cx="402336" cy="402336"/>
          </a:xfrm>
          <a:prstGeom prst="rect">
            <a:avLst/>
          </a:prstGeom>
        </p:spPr>
      </p:pic>
      <p:sp>
        <p:nvSpPr>
          <p:cNvPr id="4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2B3A7A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27432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1"/>
                </a:solidFill>
              </a:rPr>
              <a:t>India's leading hardware maker, going global</a:t>
            </a:r>
            <a:endParaRPr lang="en-US" sz="3000" dirty="0"/>
          </a:p>
        </p:txBody>
      </p:sp>
      <p:sp>
        <p:nvSpPr>
          <p:cNvPr id="3" name="Mascot ring"/>
          <p:cNvSpPr/>
          <p:nvPr/>
        </p:nvSpPr>
        <p:spPr>
          <a:xfrm>
            <a:off x="10835640" y="228600"/>
            <a:ext cx="914400" cy="9144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  <a:prstDash val="solid"/>
          </a:ln>
          <a:effectLst>
            <a:outerShdw blurRad="101600" dist="63500" dir="2700000" algn="bl" rotWithShape="0">
              <a:srgbClr val="111A3E">
                <a:alpha val="100000"/>
              </a:srgbClr>
            </a:outerShdw>
          </a:effectLst>
        </p:spPr>
      </p:sp>
      <p:pic>
        <p:nvPicPr>
          <p:cNvPr id="4" name="Image 0" descr="Cartoon masco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45368" y="338328"/>
            <a:ext cx="694944" cy="694944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1097280"/>
            <a:ext cx="9966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AtliQ Hardwares (an imaginary company) is one of the leading computer hardware producers in India and has expanded into other countries too.</a:t>
            </a:r>
            <a:endParaRPr lang="en-US" sz="1400" dirty="0"/>
          </a:p>
        </p:txBody>
      </p:sp>
      <p:sp>
        <p:nvSpPr>
          <p:cNvPr id="6" name="Division card"/>
          <p:cNvSpPr/>
          <p:nvPr/>
        </p:nvSpPr>
        <p:spPr>
          <a:xfrm>
            <a:off x="548640" y="1828800"/>
            <a:ext cx="2377440" cy="4434840"/>
          </a:xfrm>
          <a:prstGeom prst="roundRect">
            <a:avLst>
              <a:gd name="adj" fmla="val 6154"/>
            </a:avLst>
          </a:prstGeom>
          <a:solidFill>
            <a:schemeClr val="bg1"/>
          </a:solidFill>
          <a:ln w="25400">
            <a:solidFill>
              <a:schemeClr val="tx1"/>
            </a:solidFill>
            <a:prstDash val="solid"/>
          </a:ln>
          <a:effectLst>
            <a:outerShdw blurRad="101600" dist="63500" dir="2700000" algn="bl" rotWithShape="0">
              <a:srgbClr val="111A3E">
                <a:alpha val="100000"/>
              </a:srgbClr>
            </a:outerShdw>
          </a:effectLst>
        </p:spPr>
      </p:sp>
      <p:sp>
        <p:nvSpPr>
          <p:cNvPr id="7" name="Badge"/>
          <p:cNvSpPr/>
          <p:nvPr/>
        </p:nvSpPr>
        <p:spPr>
          <a:xfrm>
            <a:off x="731520" y="2011680"/>
            <a:ext cx="566928" cy="566928"/>
          </a:xfrm>
          <a:prstGeom prst="ellipse">
            <a:avLst/>
          </a:prstGeom>
          <a:solidFill>
            <a:srgbClr val="FF5A5F"/>
          </a:solidFill>
          <a:ln w="25400">
            <a:solidFill>
              <a:schemeClr val="tx1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31520" y="20116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tx1"/>
                </a:solidFill>
              </a:rPr>
              <a:t>PC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1417320" y="2011680"/>
            <a:ext cx="1371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Personal Computers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777240" y="283464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000" b="1" dirty="0">
                <a:solidFill>
                  <a:schemeClr val="accent1"/>
                </a:solidFill>
              </a:rPr>
              <a:t>129</a:t>
            </a:r>
            <a:endParaRPr lang="en-US" sz="4000" dirty="0"/>
          </a:p>
        </p:txBody>
      </p:sp>
      <p:sp>
        <p:nvSpPr>
          <p:cNvPr id="11" name="Text 8"/>
          <p:cNvSpPr txBox="1"/>
          <p:nvPr/>
        </p:nvSpPr>
        <p:spPr>
          <a:xfrm>
            <a:off x="777240" y="349300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Notebook products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777240" y="3767328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2"/>
                </a:solidFill>
              </a:rPr>
              <a:t>Personal, business and gaming laptops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777240" y="452628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000" b="1" dirty="0">
                <a:solidFill>
                  <a:schemeClr val="accent1"/>
                </a:solidFill>
              </a:rPr>
              <a:t>32</a:t>
            </a:r>
            <a:endParaRPr lang="en-US" sz="4000" dirty="0"/>
          </a:p>
        </p:txBody>
      </p:sp>
      <p:sp>
        <p:nvSpPr>
          <p:cNvPr id="14" name="Text 11"/>
          <p:cNvSpPr txBox="1"/>
          <p:nvPr/>
        </p:nvSpPr>
        <p:spPr>
          <a:xfrm>
            <a:off x="777240" y="518464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Desktop products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777240" y="5458968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2"/>
                </a:solidFill>
              </a:rPr>
              <a:t>Personal desktops</a:t>
            </a:r>
            <a:endParaRPr lang="en-US" sz="1200" dirty="0"/>
          </a:p>
        </p:txBody>
      </p:sp>
      <p:sp>
        <p:nvSpPr>
          <p:cNvPr id="16" name="Division card"/>
          <p:cNvSpPr/>
          <p:nvPr/>
        </p:nvSpPr>
        <p:spPr>
          <a:xfrm>
            <a:off x="3063240" y="1828800"/>
            <a:ext cx="2377440" cy="4434840"/>
          </a:xfrm>
          <a:prstGeom prst="roundRect">
            <a:avLst>
              <a:gd name="adj" fmla="val 6154"/>
            </a:avLst>
          </a:prstGeom>
          <a:solidFill>
            <a:schemeClr val="bg1"/>
          </a:solidFill>
          <a:ln w="25400">
            <a:solidFill>
              <a:schemeClr val="tx1"/>
            </a:solidFill>
            <a:prstDash val="solid"/>
          </a:ln>
          <a:effectLst>
            <a:outerShdw blurRad="101600" dist="63500" dir="2700000" algn="bl" rotWithShape="0">
              <a:srgbClr val="111A3E">
                <a:alpha val="100000"/>
              </a:srgbClr>
            </a:outerShdw>
          </a:effectLst>
        </p:spPr>
      </p:sp>
      <p:sp>
        <p:nvSpPr>
          <p:cNvPr id="17" name="Badge"/>
          <p:cNvSpPr/>
          <p:nvPr/>
        </p:nvSpPr>
        <p:spPr>
          <a:xfrm>
            <a:off x="3246120" y="2011680"/>
            <a:ext cx="566928" cy="566928"/>
          </a:xfrm>
          <a:prstGeom prst="ellipse">
            <a:avLst/>
          </a:prstGeom>
          <a:solidFill>
            <a:srgbClr val="FFC53D"/>
          </a:solidFill>
          <a:ln w="25400">
            <a:solidFill>
              <a:schemeClr val="tx1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3246120" y="20116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tx1"/>
                </a:solidFill>
              </a:rPr>
              <a:t>P&amp;A</a:t>
            </a:r>
            <a:endParaRPr lang="en-US" sz="1300" dirty="0"/>
          </a:p>
        </p:txBody>
      </p:sp>
      <p:sp>
        <p:nvSpPr>
          <p:cNvPr id="19" name="Text 16"/>
          <p:cNvSpPr txBox="1"/>
          <p:nvPr/>
        </p:nvSpPr>
        <p:spPr>
          <a:xfrm>
            <a:off x="3931920" y="2011680"/>
            <a:ext cx="1371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Peripherals and Accessories</a:t>
            </a:r>
            <a:endParaRPr lang="en-US" sz="1400" dirty="0"/>
          </a:p>
        </p:txBody>
      </p:sp>
      <p:sp>
        <p:nvSpPr>
          <p:cNvPr id="20" name="Text 17"/>
          <p:cNvSpPr txBox="1"/>
          <p:nvPr/>
        </p:nvSpPr>
        <p:spPr>
          <a:xfrm>
            <a:off x="3291840" y="283464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000" b="1" dirty="0">
                <a:solidFill>
                  <a:schemeClr val="accent6"/>
                </a:solidFill>
              </a:rPr>
              <a:t>84</a:t>
            </a:r>
            <a:endParaRPr lang="en-US" sz="4000" dirty="0"/>
          </a:p>
        </p:txBody>
      </p:sp>
      <p:sp>
        <p:nvSpPr>
          <p:cNvPr id="21" name="Text 18"/>
          <p:cNvSpPr txBox="1"/>
          <p:nvPr/>
        </p:nvSpPr>
        <p:spPr>
          <a:xfrm>
            <a:off x="3291840" y="349300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Peripherals products</a:t>
            </a:r>
            <a:endParaRPr lang="en-US" sz="1400" dirty="0"/>
          </a:p>
        </p:txBody>
      </p:sp>
      <p:sp>
        <p:nvSpPr>
          <p:cNvPr id="22" name="Text 19"/>
          <p:cNvSpPr txBox="1"/>
          <p:nvPr/>
        </p:nvSpPr>
        <p:spPr>
          <a:xfrm>
            <a:off x="3291840" y="3767328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2"/>
                </a:solidFill>
              </a:rPr>
              <a:t>Internal HDD, graphics cards, processors, motherboards</a:t>
            </a:r>
            <a:endParaRPr lang="en-US" sz="1200" dirty="0"/>
          </a:p>
        </p:txBody>
      </p:sp>
      <p:sp>
        <p:nvSpPr>
          <p:cNvPr id="23" name="Text 20"/>
          <p:cNvSpPr txBox="1"/>
          <p:nvPr/>
        </p:nvSpPr>
        <p:spPr>
          <a:xfrm>
            <a:off x="3291840" y="452628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000" b="1" dirty="0">
                <a:solidFill>
                  <a:schemeClr val="accent6"/>
                </a:solidFill>
              </a:rPr>
              <a:t>116</a:t>
            </a:r>
            <a:endParaRPr lang="en-US" sz="4000" dirty="0"/>
          </a:p>
        </p:txBody>
      </p:sp>
      <p:sp>
        <p:nvSpPr>
          <p:cNvPr id="24" name="Text 21"/>
          <p:cNvSpPr txBox="1"/>
          <p:nvPr/>
        </p:nvSpPr>
        <p:spPr>
          <a:xfrm>
            <a:off x="3291840" y="518464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Accessories products</a:t>
            </a:r>
            <a:endParaRPr lang="en-US" sz="1400" dirty="0"/>
          </a:p>
        </p:txBody>
      </p:sp>
      <p:sp>
        <p:nvSpPr>
          <p:cNvPr id="25" name="Text 22"/>
          <p:cNvSpPr txBox="1"/>
          <p:nvPr/>
        </p:nvSpPr>
        <p:spPr>
          <a:xfrm>
            <a:off x="3291840" y="5458968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2"/>
                </a:solidFill>
              </a:rPr>
              <a:t>Mouse, keyboard, batteries</a:t>
            </a:r>
            <a:endParaRPr lang="en-US" sz="1200" dirty="0"/>
          </a:p>
        </p:txBody>
      </p:sp>
      <p:sp>
        <p:nvSpPr>
          <p:cNvPr id="26" name="Division card"/>
          <p:cNvSpPr/>
          <p:nvPr/>
        </p:nvSpPr>
        <p:spPr>
          <a:xfrm>
            <a:off x="5577840" y="1828800"/>
            <a:ext cx="2377440" cy="4434840"/>
          </a:xfrm>
          <a:prstGeom prst="roundRect">
            <a:avLst>
              <a:gd name="adj" fmla="val 6154"/>
            </a:avLst>
          </a:prstGeom>
          <a:solidFill>
            <a:schemeClr val="bg1"/>
          </a:solidFill>
          <a:ln w="25400">
            <a:solidFill>
              <a:schemeClr val="tx1"/>
            </a:solidFill>
            <a:prstDash val="solid"/>
          </a:ln>
          <a:effectLst>
            <a:outerShdw blurRad="101600" dist="63500" dir="2700000" algn="bl" rotWithShape="0">
              <a:srgbClr val="111A3E">
                <a:alpha val="100000"/>
              </a:srgbClr>
            </a:outerShdw>
          </a:effectLst>
        </p:spPr>
      </p:sp>
      <p:sp>
        <p:nvSpPr>
          <p:cNvPr id="27" name="Badge"/>
          <p:cNvSpPr/>
          <p:nvPr/>
        </p:nvSpPr>
        <p:spPr>
          <a:xfrm>
            <a:off x="5760720" y="2011680"/>
            <a:ext cx="566928" cy="566928"/>
          </a:xfrm>
          <a:prstGeom prst="ellipse">
            <a:avLst/>
          </a:prstGeom>
          <a:solidFill>
            <a:srgbClr val="22C3B0"/>
          </a:solidFill>
          <a:ln w="25400">
            <a:solidFill>
              <a:schemeClr val="tx1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5760720" y="20116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tx1"/>
                </a:solidFill>
              </a:rPr>
              <a:t>N&amp;S</a:t>
            </a:r>
            <a:endParaRPr lang="en-US" sz="1300" dirty="0"/>
          </a:p>
        </p:txBody>
      </p:sp>
      <p:sp>
        <p:nvSpPr>
          <p:cNvPr id="29" name="Text 26"/>
          <p:cNvSpPr txBox="1"/>
          <p:nvPr/>
        </p:nvSpPr>
        <p:spPr>
          <a:xfrm>
            <a:off x="6446520" y="2011680"/>
            <a:ext cx="1371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Networking and Storage</a:t>
            </a:r>
            <a:endParaRPr lang="en-US" sz="1400" dirty="0"/>
          </a:p>
        </p:txBody>
      </p:sp>
      <p:sp>
        <p:nvSpPr>
          <p:cNvPr id="30" name="Text 27"/>
          <p:cNvSpPr txBox="1"/>
          <p:nvPr/>
        </p:nvSpPr>
        <p:spPr>
          <a:xfrm>
            <a:off x="5806440" y="283464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000" b="1" dirty="0">
                <a:solidFill>
                  <a:schemeClr val="accent3"/>
                </a:solidFill>
              </a:rPr>
              <a:t>27</a:t>
            </a:r>
            <a:endParaRPr lang="en-US" sz="4000" dirty="0"/>
          </a:p>
        </p:txBody>
      </p:sp>
      <p:sp>
        <p:nvSpPr>
          <p:cNvPr id="31" name="Text 28"/>
          <p:cNvSpPr txBox="1"/>
          <p:nvPr/>
        </p:nvSpPr>
        <p:spPr>
          <a:xfrm>
            <a:off x="5806440" y="349300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Storage products</a:t>
            </a:r>
            <a:endParaRPr lang="en-US" sz="1400" dirty="0"/>
          </a:p>
        </p:txBody>
      </p:sp>
      <p:sp>
        <p:nvSpPr>
          <p:cNvPr id="32" name="Text 29"/>
          <p:cNvSpPr txBox="1"/>
          <p:nvPr/>
        </p:nvSpPr>
        <p:spPr>
          <a:xfrm>
            <a:off x="5806440" y="3767328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2"/>
                </a:solidFill>
              </a:rPr>
              <a:t>External SSDs, USB flash drives</a:t>
            </a:r>
            <a:endParaRPr lang="en-US" sz="1200" dirty="0"/>
          </a:p>
        </p:txBody>
      </p:sp>
      <p:sp>
        <p:nvSpPr>
          <p:cNvPr id="33" name="Text 30"/>
          <p:cNvSpPr txBox="1"/>
          <p:nvPr/>
        </p:nvSpPr>
        <p:spPr>
          <a:xfrm>
            <a:off x="5806440" y="452628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000" b="1" dirty="0">
                <a:solidFill>
                  <a:schemeClr val="accent3"/>
                </a:solidFill>
              </a:rPr>
              <a:t>9</a:t>
            </a:r>
            <a:endParaRPr lang="en-US" sz="4000" dirty="0"/>
          </a:p>
        </p:txBody>
      </p:sp>
      <p:sp>
        <p:nvSpPr>
          <p:cNvPr id="34" name="Text 31"/>
          <p:cNvSpPr txBox="1"/>
          <p:nvPr/>
        </p:nvSpPr>
        <p:spPr>
          <a:xfrm>
            <a:off x="5806440" y="518464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Networking products</a:t>
            </a:r>
            <a:endParaRPr lang="en-US" sz="1400" dirty="0"/>
          </a:p>
        </p:txBody>
      </p:sp>
      <p:sp>
        <p:nvSpPr>
          <p:cNvPr id="35" name="Text 32"/>
          <p:cNvSpPr txBox="1"/>
          <p:nvPr/>
        </p:nvSpPr>
        <p:spPr>
          <a:xfrm>
            <a:off x="5806440" y="5458968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2"/>
                </a:solidFill>
              </a:rPr>
              <a:t>Wi-Fi extenders</a:t>
            </a:r>
            <a:endParaRPr lang="en-US" sz="1200" dirty="0"/>
          </a:p>
        </p:txBody>
      </p:sp>
      <p:sp>
        <p:nvSpPr>
          <p:cNvPr id="36" name="Donut card"/>
          <p:cNvSpPr/>
          <p:nvPr/>
        </p:nvSpPr>
        <p:spPr>
          <a:xfrm>
            <a:off x="8183880" y="1828800"/>
            <a:ext cx="3474720" cy="4434840"/>
          </a:xfrm>
          <a:prstGeom prst="roundRect">
            <a:avLst>
              <a:gd name="adj" fmla="val 4211"/>
            </a:avLst>
          </a:prstGeom>
          <a:solidFill>
            <a:schemeClr val="bg1"/>
          </a:solidFill>
          <a:ln w="25400">
            <a:solidFill>
              <a:schemeClr val="tx1"/>
            </a:solidFill>
            <a:prstDash val="solid"/>
          </a:ln>
          <a:effectLst>
            <a:outerShdw blurRad="101600" dist="63500" dir="2700000" algn="bl" rotWithShape="0">
              <a:srgbClr val="111A3E">
                <a:alpha val="100000"/>
              </a:srgbClr>
            </a:outerShdw>
          </a:effectLst>
        </p:spPr>
      </p:sp>
      <p:graphicFrame>
        <p:nvGraphicFramePr>
          <p:cNvPr id="37" name="Chart 0"/>
          <p:cNvGraphicFramePr/>
          <p:nvPr/>
        </p:nvGraphicFramePr>
        <p:xfrm>
          <a:off x="8275320" y="1874520"/>
          <a:ext cx="3291840" cy="30175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38" name="Stat card"/>
          <p:cNvSpPr/>
          <p:nvPr/>
        </p:nvSpPr>
        <p:spPr>
          <a:xfrm>
            <a:off x="8412480" y="4937760"/>
            <a:ext cx="3017520" cy="1097280"/>
          </a:xfrm>
          <a:prstGeom prst="roundRect">
            <a:avLst>
              <a:gd name="adj" fmla="val 13333"/>
            </a:avLst>
          </a:prstGeom>
          <a:solidFill>
            <a:schemeClr val="accent2"/>
          </a:solidFill>
          <a:ln w="25400">
            <a:solidFill>
              <a:schemeClr val="tx1"/>
            </a:solidFill>
            <a:prstDash val="solid"/>
          </a:ln>
          <a:effectLst>
            <a:outerShdw blurRad="101600" dist="63500" dir="2700000" algn="bl" rotWithShape="0">
              <a:srgbClr val="111A3E">
                <a:alpha val="100000"/>
              </a:srgbClr>
            </a:outerShdw>
          </a:effectLst>
        </p:spPr>
      </p:sp>
      <p:sp>
        <p:nvSpPr>
          <p:cNvPr id="39" name="Text 35"/>
          <p:cNvSpPr txBox="1"/>
          <p:nvPr/>
        </p:nvSpPr>
        <p:spPr>
          <a:xfrm>
            <a:off x="8686800" y="5047488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4000" b="1" dirty="0">
                <a:solidFill>
                  <a:schemeClr val="tx1"/>
                </a:solidFill>
              </a:rPr>
              <a:t>397</a:t>
            </a:r>
            <a:endParaRPr lang="en-US" sz="4000" dirty="0"/>
          </a:p>
        </p:txBody>
      </p:sp>
      <p:sp>
        <p:nvSpPr>
          <p:cNvPr id="40" name="Text 36"/>
          <p:cNvSpPr txBox="1"/>
          <p:nvPr/>
        </p:nvSpPr>
        <p:spPr>
          <a:xfrm>
            <a:off x="8686800" y="5742432"/>
            <a:ext cx="2468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chemeClr val="tx1"/>
                </a:solidFill>
              </a:rPr>
              <a:t>unique products; P&amp;A holds half</a:t>
            </a:r>
            <a:endParaRPr lang="en-US" sz="1300" dirty="0"/>
          </a:p>
        </p:txBody>
      </p:sp>
      <p:sp>
        <p:nvSpPr>
          <p:cNvPr id="41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2B3A7A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27432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1"/>
                </a:solidFill>
              </a:rPr>
              <a:t>Why the SQL challenge?</a:t>
            </a:r>
            <a:endParaRPr lang="en-US" sz="3000" dirty="0"/>
          </a:p>
        </p:txBody>
      </p:sp>
      <p:sp>
        <p:nvSpPr>
          <p:cNvPr id="3" name="Mascot ring"/>
          <p:cNvSpPr/>
          <p:nvPr/>
        </p:nvSpPr>
        <p:spPr>
          <a:xfrm>
            <a:off x="10835640" y="228600"/>
            <a:ext cx="914400" cy="9144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  <a:prstDash val="solid"/>
          </a:ln>
          <a:effectLst>
            <a:outerShdw blurRad="101600" dist="63500" dir="2700000" algn="bl" rotWithShape="0">
              <a:srgbClr val="111A3E">
                <a:alpha val="100000"/>
              </a:srgbClr>
            </a:outerShdw>
          </a:effectLst>
        </p:spPr>
      </p:sp>
      <p:pic>
        <p:nvPicPr>
          <p:cNvPr id="4" name="Image 0" descr="Cartoon masco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45368" y="338328"/>
            <a:ext cx="694944" cy="694944"/>
          </a:xfrm>
          <a:prstGeom prst="rect">
            <a:avLst/>
          </a:prstGeom>
        </p:spPr>
      </p:pic>
      <p:sp>
        <p:nvSpPr>
          <p:cNvPr id="5" name="Story card"/>
          <p:cNvSpPr/>
          <p:nvPr/>
        </p:nvSpPr>
        <p:spPr>
          <a:xfrm>
            <a:off x="548640" y="1645920"/>
            <a:ext cx="2560320" cy="3200400"/>
          </a:xfrm>
          <a:prstGeom prst="roundRect">
            <a:avLst>
              <a:gd name="adj" fmla="val 5714"/>
            </a:avLst>
          </a:prstGeom>
          <a:solidFill>
            <a:schemeClr val="bg1"/>
          </a:solidFill>
          <a:ln w="25400">
            <a:solidFill>
              <a:schemeClr val="tx1"/>
            </a:solidFill>
            <a:prstDash val="solid"/>
          </a:ln>
          <a:effectLst>
            <a:outerShdw blurRad="101600" dist="63500" dir="2700000" algn="bl" rotWithShape="0">
              <a:srgbClr val="111A3E">
                <a:alpha val="100000"/>
              </a:srgbClr>
            </a:outerShdw>
          </a:effectLst>
        </p:spPr>
      </p:sp>
      <p:sp>
        <p:nvSpPr>
          <p:cNvPr id="6" name="Badge"/>
          <p:cNvSpPr/>
          <p:nvPr/>
        </p:nvSpPr>
        <p:spPr>
          <a:xfrm>
            <a:off x="777240" y="1874520"/>
            <a:ext cx="731520" cy="731520"/>
          </a:xfrm>
          <a:prstGeom prst="ellipse">
            <a:avLst/>
          </a:prstGeom>
          <a:solidFill>
            <a:srgbClr val="FF5A5F"/>
          </a:solidFill>
          <a:ln w="25400">
            <a:solidFill>
              <a:schemeClr val="tx1"/>
            </a:solidFill>
            <a:prstDash val="solid"/>
          </a:ln>
          <a:effectLst>
            <a:outerShdw blurRad="101600" dist="63500" dir="2700000" algn="bl" rotWithShape="0">
              <a:srgbClr val="111A3E">
                <a:alpha val="100000"/>
              </a:srgbClr>
            </a:outerShdw>
          </a:effectLst>
        </p:spPr>
      </p:sp>
      <p:sp>
        <p:nvSpPr>
          <p:cNvPr id="7" name="Text 4"/>
          <p:cNvSpPr txBox="1"/>
          <p:nvPr/>
        </p:nvSpPr>
        <p:spPr>
          <a:xfrm>
            <a:off x="777240" y="18745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chemeClr val="bg1"/>
                </a:solidFill>
              </a:rPr>
              <a:t>1</a:t>
            </a:r>
            <a:endParaRPr lang="en-US" sz="2600" dirty="0"/>
          </a:p>
        </p:txBody>
      </p:sp>
      <p:pic>
        <p:nvPicPr>
          <p:cNvPr id="8" name="Image 1" descr="FaSearch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31720" y="2029968"/>
            <a:ext cx="411480" cy="41148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777240" y="2834640"/>
            <a:ext cx="21031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Management saw a lack of insights for quick, data-informed decisions.</a:t>
            </a:r>
            <a:endParaRPr lang="en-US" sz="1600" dirty="0"/>
          </a:p>
        </p:txBody>
      </p:sp>
      <p:pic>
        <p:nvPicPr>
          <p:cNvPr id="10" name="Image 2" descr="FaChevronRigh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63824" y="3017520"/>
            <a:ext cx="182880" cy="182880"/>
          </a:xfrm>
          <a:prstGeom prst="rect">
            <a:avLst/>
          </a:prstGeom>
        </p:spPr>
      </p:pic>
      <p:sp>
        <p:nvSpPr>
          <p:cNvPr id="11" name="Story card"/>
          <p:cNvSpPr/>
          <p:nvPr/>
        </p:nvSpPr>
        <p:spPr>
          <a:xfrm>
            <a:off x="3383280" y="1645920"/>
            <a:ext cx="2560320" cy="3200400"/>
          </a:xfrm>
          <a:prstGeom prst="roundRect">
            <a:avLst>
              <a:gd name="adj" fmla="val 5714"/>
            </a:avLst>
          </a:prstGeom>
          <a:solidFill>
            <a:schemeClr val="bg1"/>
          </a:solidFill>
          <a:ln w="25400">
            <a:solidFill>
              <a:schemeClr val="tx1"/>
            </a:solidFill>
            <a:prstDash val="solid"/>
          </a:ln>
          <a:effectLst>
            <a:outerShdw blurRad="101600" dist="63500" dir="2700000" algn="bl" rotWithShape="0">
              <a:srgbClr val="111A3E">
                <a:alpha val="100000"/>
              </a:srgbClr>
            </a:outerShdw>
          </a:effectLst>
        </p:spPr>
      </p:sp>
      <p:sp>
        <p:nvSpPr>
          <p:cNvPr id="12" name="Badge"/>
          <p:cNvSpPr/>
          <p:nvPr/>
        </p:nvSpPr>
        <p:spPr>
          <a:xfrm>
            <a:off x="3611880" y="1874520"/>
            <a:ext cx="731520" cy="731520"/>
          </a:xfrm>
          <a:prstGeom prst="ellipse">
            <a:avLst/>
          </a:prstGeom>
          <a:solidFill>
            <a:srgbClr val="FFC53D"/>
          </a:solidFill>
          <a:ln w="25400">
            <a:solidFill>
              <a:schemeClr val="tx1"/>
            </a:solidFill>
            <a:prstDash val="solid"/>
          </a:ln>
          <a:effectLst>
            <a:outerShdw blurRad="101600" dist="63500" dir="2700000" algn="bl" rotWithShape="0">
              <a:srgbClr val="111A3E">
                <a:alpha val="100000"/>
              </a:srgbClr>
            </a:outerShdw>
          </a:effectLst>
        </p:spPr>
      </p:sp>
      <p:sp>
        <p:nvSpPr>
          <p:cNvPr id="13" name="Text 8"/>
          <p:cNvSpPr txBox="1"/>
          <p:nvPr/>
        </p:nvSpPr>
        <p:spPr>
          <a:xfrm>
            <a:off x="3611880" y="18745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chemeClr val="tx1"/>
                </a:solidFill>
              </a:rPr>
              <a:t>2</a:t>
            </a:r>
            <a:endParaRPr lang="en-US" sz="2600" dirty="0"/>
          </a:p>
        </p:txBody>
      </p:sp>
      <p:pic>
        <p:nvPicPr>
          <p:cNvPr id="14" name="Image 3" descr="FaUsers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66360" y="2029968"/>
            <a:ext cx="411480" cy="411480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3611880" y="2834640"/>
            <a:ext cx="21031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Decision: grow the data analytics team with several junior analysts.</a:t>
            </a:r>
            <a:endParaRPr lang="en-US" sz="1600" dirty="0"/>
          </a:p>
        </p:txBody>
      </p:sp>
      <p:pic>
        <p:nvPicPr>
          <p:cNvPr id="16" name="Image 4" descr="FaChevronRigh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98464" y="3017520"/>
            <a:ext cx="182880" cy="182880"/>
          </a:xfrm>
          <a:prstGeom prst="rect">
            <a:avLst/>
          </a:prstGeom>
        </p:spPr>
      </p:pic>
      <p:sp>
        <p:nvSpPr>
          <p:cNvPr id="17" name="Story card"/>
          <p:cNvSpPr/>
          <p:nvPr/>
        </p:nvSpPr>
        <p:spPr>
          <a:xfrm>
            <a:off x="6217920" y="1645920"/>
            <a:ext cx="2560320" cy="3200400"/>
          </a:xfrm>
          <a:prstGeom prst="roundRect">
            <a:avLst>
              <a:gd name="adj" fmla="val 5714"/>
            </a:avLst>
          </a:prstGeom>
          <a:solidFill>
            <a:schemeClr val="bg1"/>
          </a:solidFill>
          <a:ln w="25400">
            <a:solidFill>
              <a:schemeClr val="tx1"/>
            </a:solidFill>
            <a:prstDash val="solid"/>
          </a:ln>
          <a:effectLst>
            <a:outerShdw blurRad="101600" dist="63500" dir="2700000" algn="bl" rotWithShape="0">
              <a:srgbClr val="111A3E">
                <a:alpha val="100000"/>
              </a:srgbClr>
            </a:outerShdw>
          </a:effectLst>
        </p:spPr>
      </p:sp>
      <p:sp>
        <p:nvSpPr>
          <p:cNvPr id="18" name="Badge"/>
          <p:cNvSpPr/>
          <p:nvPr/>
        </p:nvSpPr>
        <p:spPr>
          <a:xfrm>
            <a:off x="6446520" y="1874520"/>
            <a:ext cx="731520" cy="731520"/>
          </a:xfrm>
          <a:prstGeom prst="ellipse">
            <a:avLst/>
          </a:prstGeom>
          <a:solidFill>
            <a:srgbClr val="22C3B0"/>
          </a:solidFill>
          <a:ln w="25400">
            <a:solidFill>
              <a:schemeClr val="tx1"/>
            </a:solidFill>
            <a:prstDash val="solid"/>
          </a:ln>
          <a:effectLst>
            <a:outerShdw blurRad="101600" dist="63500" dir="2700000" algn="bl" rotWithShape="0">
              <a:srgbClr val="111A3E">
                <a:alpha val="100000"/>
              </a:srgbClr>
            </a:outerShdw>
          </a:effectLst>
        </p:spPr>
      </p:sp>
      <p:sp>
        <p:nvSpPr>
          <p:cNvPr id="19" name="Text 12"/>
          <p:cNvSpPr txBox="1"/>
          <p:nvPr/>
        </p:nvSpPr>
        <p:spPr>
          <a:xfrm>
            <a:off x="6446520" y="18745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chemeClr val="bg1"/>
                </a:solidFill>
              </a:rPr>
              <a:t>3</a:t>
            </a:r>
            <a:endParaRPr lang="en-US" sz="2600" dirty="0"/>
          </a:p>
        </p:txBody>
      </p:sp>
      <p:pic>
        <p:nvPicPr>
          <p:cNvPr id="20" name="Image 5" descr="FaUserTie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01000" y="2029968"/>
            <a:ext cx="411480" cy="411480"/>
          </a:xfrm>
          <a:prstGeom prst="rect">
            <a:avLst/>
          </a:prstGeom>
        </p:spPr>
      </p:pic>
      <p:sp>
        <p:nvSpPr>
          <p:cNvPr id="21" name="Text 13"/>
          <p:cNvSpPr txBox="1"/>
          <p:nvPr/>
        </p:nvSpPr>
        <p:spPr>
          <a:xfrm>
            <a:off x="6446520" y="2834640"/>
            <a:ext cx="21031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Tony Sharma, the analytics director, looks for strong tech and soft skills.</a:t>
            </a:r>
            <a:endParaRPr lang="en-US" sz="1600" dirty="0"/>
          </a:p>
        </p:txBody>
      </p:sp>
      <p:pic>
        <p:nvPicPr>
          <p:cNvPr id="22" name="Image 6" descr="FaChevronRigh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33104" y="3017520"/>
            <a:ext cx="182880" cy="182880"/>
          </a:xfrm>
          <a:prstGeom prst="rect">
            <a:avLst/>
          </a:prstGeom>
        </p:spPr>
      </p:pic>
      <p:sp>
        <p:nvSpPr>
          <p:cNvPr id="23" name="Story card"/>
          <p:cNvSpPr/>
          <p:nvPr/>
        </p:nvSpPr>
        <p:spPr>
          <a:xfrm>
            <a:off x="9052560" y="1645920"/>
            <a:ext cx="2560320" cy="3200400"/>
          </a:xfrm>
          <a:prstGeom prst="roundRect">
            <a:avLst>
              <a:gd name="adj" fmla="val 5714"/>
            </a:avLst>
          </a:prstGeom>
          <a:solidFill>
            <a:schemeClr val="bg1"/>
          </a:solidFill>
          <a:ln w="25400">
            <a:solidFill>
              <a:schemeClr val="tx1"/>
            </a:solidFill>
            <a:prstDash val="solid"/>
          </a:ln>
          <a:effectLst>
            <a:outerShdw blurRad="101600" dist="63500" dir="2700000" algn="bl" rotWithShape="0">
              <a:srgbClr val="111A3E">
                <a:alpha val="100000"/>
              </a:srgbClr>
            </a:outerShdw>
          </a:effectLst>
        </p:spPr>
      </p:sp>
      <p:sp>
        <p:nvSpPr>
          <p:cNvPr id="24" name="Badge"/>
          <p:cNvSpPr/>
          <p:nvPr/>
        </p:nvSpPr>
        <p:spPr>
          <a:xfrm>
            <a:off x="9281160" y="1874520"/>
            <a:ext cx="731520" cy="731520"/>
          </a:xfrm>
          <a:prstGeom prst="ellipse">
            <a:avLst/>
          </a:prstGeom>
          <a:solidFill>
            <a:srgbClr val="7B61FF"/>
          </a:solidFill>
          <a:ln w="25400">
            <a:solidFill>
              <a:schemeClr val="tx1"/>
            </a:solidFill>
            <a:prstDash val="solid"/>
          </a:ln>
          <a:effectLst>
            <a:outerShdw blurRad="101600" dist="63500" dir="2700000" algn="bl" rotWithShape="0">
              <a:srgbClr val="111A3E">
                <a:alpha val="100000"/>
              </a:srgbClr>
            </a:outerShdw>
          </a:effectLst>
        </p:spPr>
      </p:sp>
      <p:sp>
        <p:nvSpPr>
          <p:cNvPr id="25" name="Text 16"/>
          <p:cNvSpPr txBox="1"/>
          <p:nvPr/>
        </p:nvSpPr>
        <p:spPr>
          <a:xfrm>
            <a:off x="9281160" y="18745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chemeClr val="bg1"/>
                </a:solidFill>
              </a:rPr>
              <a:t>4</a:t>
            </a:r>
            <a:endParaRPr lang="en-US" sz="2600" dirty="0"/>
          </a:p>
        </p:txBody>
      </p:sp>
      <p:pic>
        <p:nvPicPr>
          <p:cNvPr id="26" name="Image 7" descr="FaClipboardList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835640" y="2029968"/>
            <a:ext cx="411480" cy="411480"/>
          </a:xfrm>
          <a:prstGeom prst="rect">
            <a:avLst/>
          </a:prstGeom>
        </p:spPr>
      </p:pic>
      <p:sp>
        <p:nvSpPr>
          <p:cNvPr id="27" name="Text 17"/>
          <p:cNvSpPr txBox="1"/>
          <p:nvPr/>
        </p:nvSpPr>
        <p:spPr>
          <a:xfrm>
            <a:off x="9281160" y="2834640"/>
            <a:ext cx="21031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To test them, Tony runs a SQL challenge of business requests.</a:t>
            </a:r>
            <a:endParaRPr lang="en-US" sz="1600" dirty="0"/>
          </a:p>
        </p:txBody>
      </p:sp>
      <p:sp>
        <p:nvSpPr>
          <p:cNvPr id="28" name="Result banner"/>
          <p:cNvSpPr/>
          <p:nvPr/>
        </p:nvSpPr>
        <p:spPr>
          <a:xfrm>
            <a:off x="548640" y="5166360"/>
            <a:ext cx="11109960" cy="1097280"/>
          </a:xfrm>
          <a:prstGeom prst="roundRect">
            <a:avLst>
              <a:gd name="adj" fmla="val 13333"/>
            </a:avLst>
          </a:prstGeom>
          <a:solidFill>
            <a:schemeClr val="tx1"/>
          </a:solidFill>
          <a:ln w="25400">
            <a:solidFill>
              <a:schemeClr val="tx1"/>
            </a:solidFill>
            <a:prstDash val="solid"/>
          </a:ln>
          <a:effectLst>
            <a:outerShdw blurRad="101600" dist="63500" dir="2700000" algn="bl" rotWithShape="0">
              <a:srgbClr val="111A3E">
                <a:alpha val="100000"/>
              </a:srgbClr>
            </a:outerShdw>
          </a:effectLst>
        </p:spPr>
      </p:sp>
      <p:sp>
        <p:nvSpPr>
          <p:cNvPr id="29" name="Text 19"/>
          <p:cNvSpPr txBox="1"/>
          <p:nvPr/>
        </p:nvSpPr>
        <p:spPr>
          <a:xfrm>
            <a:off x="914400" y="5166360"/>
            <a:ext cx="10424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accent2"/>
                </a:solidFill>
              </a:rPr>
              <a:t>The result: </a:t>
            </a:r>
            <a:r>
              <a:rPr lang="en-US" sz="2000" dirty="0">
                <a:solidFill>
                  <a:schemeClr val="bg1"/>
                </a:solidFill>
              </a:rPr>
              <a:t>18 real business requests, answered end-to-end in SQL, from sales to supply chain.</a:t>
            </a:r>
            <a:endParaRPr lang="en-US" sz="2000" dirty="0"/>
          </a:p>
        </p:txBody>
      </p:sp>
      <p:sp>
        <p:nvSpPr>
          <p:cNvPr id="3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2B3A7A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27432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1"/>
                </a:solidFill>
              </a:rPr>
              <a:t>Dataset and data model</a:t>
            </a:r>
            <a:endParaRPr lang="en-US" sz="3000" dirty="0"/>
          </a:p>
        </p:txBody>
      </p:sp>
      <p:sp>
        <p:nvSpPr>
          <p:cNvPr id="3" name="Mascot ring"/>
          <p:cNvSpPr/>
          <p:nvPr/>
        </p:nvSpPr>
        <p:spPr>
          <a:xfrm>
            <a:off x="10835640" y="228600"/>
            <a:ext cx="914400" cy="9144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  <a:prstDash val="solid"/>
          </a:ln>
          <a:effectLst>
            <a:outerShdw blurRad="101600" dist="63500" dir="2700000" algn="bl" rotWithShape="0">
              <a:srgbClr val="111A3E">
                <a:alpha val="100000"/>
              </a:srgbClr>
            </a:outerShdw>
          </a:effectLst>
        </p:spPr>
      </p:sp>
      <p:pic>
        <p:nvPicPr>
          <p:cNvPr id="4" name="Image 0" descr="Cartoon masco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45368" y="338328"/>
            <a:ext cx="694944" cy="694944"/>
          </a:xfrm>
          <a:prstGeom prst="rect">
            <a:avLst/>
          </a:prstGeom>
        </p:spPr>
      </p:pic>
      <p:sp>
        <p:nvSpPr>
          <p:cNvPr id="5" name="ER card"/>
          <p:cNvSpPr/>
          <p:nvPr/>
        </p:nvSpPr>
        <p:spPr>
          <a:xfrm>
            <a:off x="548640" y="1371600"/>
            <a:ext cx="5669280" cy="4892040"/>
          </a:xfrm>
          <a:prstGeom prst="roundRect">
            <a:avLst>
              <a:gd name="adj" fmla="val 2991"/>
            </a:avLst>
          </a:prstGeom>
          <a:solidFill>
            <a:schemeClr val="bg1"/>
          </a:solidFill>
          <a:ln w="25400">
            <a:solidFill>
              <a:schemeClr val="tx1"/>
            </a:solidFill>
            <a:prstDash val="solid"/>
          </a:ln>
          <a:effectLst>
            <a:outerShdw blurRad="101600" dist="63500" dir="2700000" algn="bl" rotWithShape="0">
              <a:srgbClr val="111A3E">
                <a:alpha val="100000"/>
              </a:srgbClr>
            </a:outerShdw>
          </a:effectLst>
        </p:spPr>
      </p:sp>
      <p:pic>
        <p:nvPicPr>
          <p:cNvPr id="6" name="Image 1" descr="Entity relationship diagram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7511" y="1554480"/>
            <a:ext cx="4711537" cy="4526280"/>
          </a:xfrm>
          <a:prstGeom prst="rect">
            <a:avLst/>
          </a:prstGeom>
        </p:spPr>
      </p:pic>
      <p:sp>
        <p:nvSpPr>
          <p:cNvPr id="7" name="Table card"/>
          <p:cNvSpPr/>
          <p:nvPr/>
        </p:nvSpPr>
        <p:spPr>
          <a:xfrm>
            <a:off x="6492240" y="1371600"/>
            <a:ext cx="5166360" cy="713232"/>
          </a:xfrm>
          <a:prstGeom prst="roundRect">
            <a:avLst>
              <a:gd name="adj" fmla="val 20513"/>
            </a:avLst>
          </a:prstGeom>
          <a:solidFill>
            <a:schemeClr val="bg1"/>
          </a:solidFill>
          <a:ln w="25400">
            <a:solidFill>
              <a:schemeClr val="tx1"/>
            </a:solidFill>
            <a:prstDash val="solid"/>
          </a:ln>
          <a:effectLst>
            <a:outerShdw blurRad="101600" dist="63500" dir="2700000" algn="bl" rotWithShape="0">
              <a:srgbClr val="111A3E">
                <a:alpha val="100000"/>
              </a:srgbClr>
            </a:outerShdw>
          </a:effectLst>
        </p:spPr>
      </p:sp>
      <p:sp>
        <p:nvSpPr>
          <p:cNvPr id="8" name="Chip"/>
          <p:cNvSpPr/>
          <p:nvPr/>
        </p:nvSpPr>
        <p:spPr>
          <a:xfrm>
            <a:off x="6675120" y="1572768"/>
            <a:ext cx="777240" cy="310896"/>
          </a:xfrm>
          <a:prstGeom prst="roundRect">
            <a:avLst>
              <a:gd name="adj" fmla="val 50000"/>
            </a:avLst>
          </a:prstGeom>
          <a:solidFill>
            <a:srgbClr val="FF5A5F"/>
          </a:solidFill>
          <a:ln w="19050">
            <a:solidFill>
              <a:schemeClr val="tx1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6675120" y="1572768"/>
            <a:ext cx="777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chemeClr val="bg1"/>
                </a:solidFill>
              </a:rPr>
              <a:t>DIM</a:t>
            </a:r>
            <a:endParaRPr lang="en-US" sz="1100" dirty="0"/>
          </a:p>
        </p:txBody>
      </p:sp>
      <p:sp>
        <p:nvSpPr>
          <p:cNvPr id="10" name="Text 6"/>
          <p:cNvSpPr txBox="1"/>
          <p:nvPr/>
        </p:nvSpPr>
        <p:spPr>
          <a:xfrm>
            <a:off x="7635240" y="1444752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tx1"/>
                </a:solidFill>
              </a:rPr>
              <a:t>dim_customer</a:t>
            </a:r>
            <a:endParaRPr lang="en-US" sz="1500" dirty="0"/>
          </a:p>
        </p:txBody>
      </p:sp>
      <p:sp>
        <p:nvSpPr>
          <p:cNvPr id="11" name="Text 7"/>
          <p:cNvSpPr txBox="1"/>
          <p:nvPr/>
        </p:nvSpPr>
        <p:spPr>
          <a:xfrm>
            <a:off x="7635240" y="1755648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2"/>
                </a:solidFill>
              </a:rPr>
              <a:t>Customers, markets, channels</a:t>
            </a:r>
            <a:endParaRPr lang="en-US" sz="1200" dirty="0"/>
          </a:p>
        </p:txBody>
      </p:sp>
      <p:sp>
        <p:nvSpPr>
          <p:cNvPr id="12" name="Table card"/>
          <p:cNvSpPr/>
          <p:nvPr/>
        </p:nvSpPr>
        <p:spPr>
          <a:xfrm>
            <a:off x="6492240" y="2194560"/>
            <a:ext cx="5166360" cy="713232"/>
          </a:xfrm>
          <a:prstGeom prst="roundRect">
            <a:avLst>
              <a:gd name="adj" fmla="val 20513"/>
            </a:avLst>
          </a:prstGeom>
          <a:solidFill>
            <a:schemeClr val="bg1"/>
          </a:solidFill>
          <a:ln w="25400">
            <a:solidFill>
              <a:schemeClr val="tx1"/>
            </a:solidFill>
            <a:prstDash val="solid"/>
          </a:ln>
          <a:effectLst>
            <a:outerShdw blurRad="101600" dist="63500" dir="2700000" algn="bl" rotWithShape="0">
              <a:srgbClr val="111A3E">
                <a:alpha val="100000"/>
              </a:srgbClr>
            </a:outerShdw>
          </a:effectLst>
        </p:spPr>
      </p:sp>
      <p:sp>
        <p:nvSpPr>
          <p:cNvPr id="13" name="Chip"/>
          <p:cNvSpPr/>
          <p:nvPr/>
        </p:nvSpPr>
        <p:spPr>
          <a:xfrm>
            <a:off x="6675120" y="2395728"/>
            <a:ext cx="777240" cy="310896"/>
          </a:xfrm>
          <a:prstGeom prst="roundRect">
            <a:avLst>
              <a:gd name="adj" fmla="val 50000"/>
            </a:avLst>
          </a:prstGeom>
          <a:solidFill>
            <a:srgbClr val="FF5A5F"/>
          </a:solidFill>
          <a:ln w="19050">
            <a:solidFill>
              <a:schemeClr val="tx1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6675120" y="2395728"/>
            <a:ext cx="777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chemeClr val="bg1"/>
                </a:solidFill>
              </a:rPr>
              <a:t>DIM</a:t>
            </a:r>
            <a:endParaRPr lang="en-US" sz="1100" dirty="0"/>
          </a:p>
        </p:txBody>
      </p:sp>
      <p:sp>
        <p:nvSpPr>
          <p:cNvPr id="15" name="Text 11"/>
          <p:cNvSpPr txBox="1"/>
          <p:nvPr/>
        </p:nvSpPr>
        <p:spPr>
          <a:xfrm>
            <a:off x="7635240" y="2267712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tx1"/>
                </a:solidFill>
              </a:rPr>
              <a:t>dim_product</a:t>
            </a:r>
            <a:endParaRPr lang="en-US" sz="1500" dirty="0"/>
          </a:p>
        </p:txBody>
      </p:sp>
      <p:sp>
        <p:nvSpPr>
          <p:cNvPr id="16" name="Text 12"/>
          <p:cNvSpPr txBox="1"/>
          <p:nvPr/>
        </p:nvSpPr>
        <p:spPr>
          <a:xfrm>
            <a:off x="7635240" y="2578608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2"/>
                </a:solidFill>
              </a:rPr>
              <a:t>Division, segment, category, variant</a:t>
            </a:r>
            <a:endParaRPr lang="en-US" sz="1200" dirty="0"/>
          </a:p>
        </p:txBody>
      </p:sp>
      <p:sp>
        <p:nvSpPr>
          <p:cNvPr id="17" name="Table card"/>
          <p:cNvSpPr/>
          <p:nvPr/>
        </p:nvSpPr>
        <p:spPr>
          <a:xfrm>
            <a:off x="6492240" y="3017520"/>
            <a:ext cx="5166360" cy="713232"/>
          </a:xfrm>
          <a:prstGeom prst="roundRect">
            <a:avLst>
              <a:gd name="adj" fmla="val 20513"/>
            </a:avLst>
          </a:prstGeom>
          <a:solidFill>
            <a:schemeClr val="bg1"/>
          </a:solidFill>
          <a:ln w="25400">
            <a:solidFill>
              <a:schemeClr val="tx1"/>
            </a:solidFill>
            <a:prstDash val="solid"/>
          </a:ln>
          <a:effectLst>
            <a:outerShdw blurRad="101600" dist="63500" dir="2700000" algn="bl" rotWithShape="0">
              <a:srgbClr val="111A3E">
                <a:alpha val="100000"/>
              </a:srgbClr>
            </a:outerShdw>
          </a:effectLst>
        </p:spPr>
      </p:sp>
      <p:sp>
        <p:nvSpPr>
          <p:cNvPr id="18" name="Chip"/>
          <p:cNvSpPr/>
          <p:nvPr/>
        </p:nvSpPr>
        <p:spPr>
          <a:xfrm>
            <a:off x="6675120" y="3218688"/>
            <a:ext cx="777240" cy="310896"/>
          </a:xfrm>
          <a:prstGeom prst="roundRect">
            <a:avLst>
              <a:gd name="adj" fmla="val 50000"/>
            </a:avLst>
          </a:prstGeom>
          <a:solidFill>
            <a:srgbClr val="22C3B0"/>
          </a:solidFill>
          <a:ln w="19050">
            <a:solidFill>
              <a:schemeClr val="tx1"/>
            </a:solidFill>
            <a:prstDash val="solid"/>
          </a:ln>
        </p:spPr>
      </p:sp>
      <p:sp>
        <p:nvSpPr>
          <p:cNvPr id="19" name="Text 15"/>
          <p:cNvSpPr txBox="1"/>
          <p:nvPr/>
        </p:nvSpPr>
        <p:spPr>
          <a:xfrm>
            <a:off x="6675120" y="3218688"/>
            <a:ext cx="777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chemeClr val="tx1"/>
                </a:solidFill>
              </a:rPr>
              <a:t>FACT</a:t>
            </a:r>
            <a:endParaRPr lang="en-US" sz="1100" dirty="0"/>
          </a:p>
        </p:txBody>
      </p:sp>
      <p:sp>
        <p:nvSpPr>
          <p:cNvPr id="20" name="Text 16"/>
          <p:cNvSpPr txBox="1"/>
          <p:nvPr/>
        </p:nvSpPr>
        <p:spPr>
          <a:xfrm>
            <a:off x="7635240" y="3090672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tx1"/>
                </a:solidFill>
              </a:rPr>
              <a:t>fact_sales_monthly</a:t>
            </a:r>
            <a:endParaRPr lang="en-US" sz="1500" dirty="0"/>
          </a:p>
        </p:txBody>
      </p:sp>
      <p:sp>
        <p:nvSpPr>
          <p:cNvPr id="21" name="Text 17"/>
          <p:cNvSpPr txBox="1"/>
          <p:nvPr/>
        </p:nvSpPr>
        <p:spPr>
          <a:xfrm>
            <a:off x="7635240" y="3401568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2"/>
                </a:solidFill>
              </a:rPr>
              <a:t>Monthly units sold</a:t>
            </a:r>
            <a:endParaRPr lang="en-US" sz="1200" dirty="0"/>
          </a:p>
        </p:txBody>
      </p:sp>
      <p:sp>
        <p:nvSpPr>
          <p:cNvPr id="22" name="Table card"/>
          <p:cNvSpPr/>
          <p:nvPr/>
        </p:nvSpPr>
        <p:spPr>
          <a:xfrm>
            <a:off x="6492240" y="3840480"/>
            <a:ext cx="5166360" cy="713232"/>
          </a:xfrm>
          <a:prstGeom prst="roundRect">
            <a:avLst>
              <a:gd name="adj" fmla="val 20513"/>
            </a:avLst>
          </a:prstGeom>
          <a:solidFill>
            <a:schemeClr val="bg1"/>
          </a:solidFill>
          <a:ln w="25400">
            <a:solidFill>
              <a:schemeClr val="tx1"/>
            </a:solidFill>
            <a:prstDash val="solid"/>
          </a:ln>
          <a:effectLst>
            <a:outerShdw blurRad="101600" dist="63500" dir="2700000" algn="bl" rotWithShape="0">
              <a:srgbClr val="111A3E">
                <a:alpha val="100000"/>
              </a:srgbClr>
            </a:outerShdw>
          </a:effectLst>
        </p:spPr>
      </p:sp>
      <p:sp>
        <p:nvSpPr>
          <p:cNvPr id="23" name="Chip"/>
          <p:cNvSpPr/>
          <p:nvPr/>
        </p:nvSpPr>
        <p:spPr>
          <a:xfrm>
            <a:off x="6675120" y="4041648"/>
            <a:ext cx="777240" cy="310896"/>
          </a:xfrm>
          <a:prstGeom prst="roundRect">
            <a:avLst>
              <a:gd name="adj" fmla="val 50000"/>
            </a:avLst>
          </a:prstGeom>
          <a:solidFill>
            <a:srgbClr val="22C3B0"/>
          </a:solidFill>
          <a:ln w="19050">
            <a:solidFill>
              <a:schemeClr val="tx1"/>
            </a:solidFill>
            <a:prstDash val="solid"/>
          </a:ln>
        </p:spPr>
      </p:sp>
      <p:sp>
        <p:nvSpPr>
          <p:cNvPr id="24" name="Text 20"/>
          <p:cNvSpPr txBox="1"/>
          <p:nvPr/>
        </p:nvSpPr>
        <p:spPr>
          <a:xfrm>
            <a:off x="6675120" y="4041648"/>
            <a:ext cx="777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chemeClr val="tx1"/>
                </a:solidFill>
              </a:rPr>
              <a:t>FACT</a:t>
            </a:r>
            <a:endParaRPr lang="en-US" sz="1100" dirty="0"/>
          </a:p>
        </p:txBody>
      </p:sp>
      <p:sp>
        <p:nvSpPr>
          <p:cNvPr id="25" name="Text 21"/>
          <p:cNvSpPr txBox="1"/>
          <p:nvPr/>
        </p:nvSpPr>
        <p:spPr>
          <a:xfrm>
            <a:off x="7635240" y="3913632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tx1"/>
                </a:solidFill>
              </a:rPr>
              <a:t>fact_gross_price</a:t>
            </a:r>
            <a:endParaRPr lang="en-US" sz="1500" dirty="0"/>
          </a:p>
        </p:txBody>
      </p:sp>
      <p:sp>
        <p:nvSpPr>
          <p:cNvPr id="26" name="Text 22"/>
          <p:cNvSpPr txBox="1"/>
          <p:nvPr/>
        </p:nvSpPr>
        <p:spPr>
          <a:xfrm>
            <a:off x="7635240" y="4224528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2"/>
                </a:solidFill>
              </a:rPr>
              <a:t>Gross price by fiscal year</a:t>
            </a:r>
            <a:endParaRPr lang="en-US" sz="1200" dirty="0"/>
          </a:p>
        </p:txBody>
      </p:sp>
      <p:sp>
        <p:nvSpPr>
          <p:cNvPr id="27" name="Table card"/>
          <p:cNvSpPr/>
          <p:nvPr/>
        </p:nvSpPr>
        <p:spPr>
          <a:xfrm>
            <a:off x="6492240" y="4663440"/>
            <a:ext cx="5166360" cy="713232"/>
          </a:xfrm>
          <a:prstGeom prst="roundRect">
            <a:avLst>
              <a:gd name="adj" fmla="val 20513"/>
            </a:avLst>
          </a:prstGeom>
          <a:solidFill>
            <a:schemeClr val="bg1"/>
          </a:solidFill>
          <a:ln w="25400">
            <a:solidFill>
              <a:schemeClr val="tx1"/>
            </a:solidFill>
            <a:prstDash val="solid"/>
          </a:ln>
          <a:effectLst>
            <a:outerShdw blurRad="101600" dist="63500" dir="2700000" algn="bl" rotWithShape="0">
              <a:srgbClr val="111A3E">
                <a:alpha val="100000"/>
              </a:srgbClr>
            </a:outerShdw>
          </a:effectLst>
        </p:spPr>
      </p:sp>
      <p:sp>
        <p:nvSpPr>
          <p:cNvPr id="28" name="Chip"/>
          <p:cNvSpPr/>
          <p:nvPr/>
        </p:nvSpPr>
        <p:spPr>
          <a:xfrm>
            <a:off x="6675120" y="4864608"/>
            <a:ext cx="777240" cy="310896"/>
          </a:xfrm>
          <a:prstGeom prst="roundRect">
            <a:avLst>
              <a:gd name="adj" fmla="val 50000"/>
            </a:avLst>
          </a:prstGeom>
          <a:solidFill>
            <a:srgbClr val="22C3B0"/>
          </a:solidFill>
          <a:ln w="19050">
            <a:solidFill>
              <a:schemeClr val="tx1"/>
            </a:solidFill>
            <a:prstDash val="solid"/>
          </a:ln>
        </p:spPr>
      </p:sp>
      <p:sp>
        <p:nvSpPr>
          <p:cNvPr id="29" name="Text 25"/>
          <p:cNvSpPr txBox="1"/>
          <p:nvPr/>
        </p:nvSpPr>
        <p:spPr>
          <a:xfrm>
            <a:off x="6675120" y="4864608"/>
            <a:ext cx="777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chemeClr val="tx1"/>
                </a:solidFill>
              </a:rPr>
              <a:t>FACT</a:t>
            </a:r>
            <a:endParaRPr lang="en-US" sz="1100" dirty="0"/>
          </a:p>
        </p:txBody>
      </p:sp>
      <p:sp>
        <p:nvSpPr>
          <p:cNvPr id="30" name="Text 26"/>
          <p:cNvSpPr txBox="1"/>
          <p:nvPr/>
        </p:nvSpPr>
        <p:spPr>
          <a:xfrm>
            <a:off x="7635240" y="4736592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tx1"/>
                </a:solidFill>
              </a:rPr>
              <a:t>fact_manufacturing_cost</a:t>
            </a:r>
            <a:endParaRPr lang="en-US" sz="1500" dirty="0"/>
          </a:p>
        </p:txBody>
      </p:sp>
      <p:sp>
        <p:nvSpPr>
          <p:cNvPr id="31" name="Text 27"/>
          <p:cNvSpPr txBox="1"/>
          <p:nvPr/>
        </p:nvSpPr>
        <p:spPr>
          <a:xfrm>
            <a:off x="7635240" y="5047488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2"/>
                </a:solidFill>
              </a:rPr>
              <a:t>Manufacturing cost per product</a:t>
            </a:r>
            <a:endParaRPr lang="en-US" sz="1200" dirty="0"/>
          </a:p>
        </p:txBody>
      </p:sp>
      <p:sp>
        <p:nvSpPr>
          <p:cNvPr id="32" name="Table card"/>
          <p:cNvSpPr/>
          <p:nvPr/>
        </p:nvSpPr>
        <p:spPr>
          <a:xfrm>
            <a:off x="6492240" y="5486400"/>
            <a:ext cx="5166360" cy="713232"/>
          </a:xfrm>
          <a:prstGeom prst="roundRect">
            <a:avLst>
              <a:gd name="adj" fmla="val 20513"/>
            </a:avLst>
          </a:prstGeom>
          <a:solidFill>
            <a:schemeClr val="bg1"/>
          </a:solidFill>
          <a:ln w="25400">
            <a:solidFill>
              <a:schemeClr val="tx1"/>
            </a:solidFill>
            <a:prstDash val="solid"/>
          </a:ln>
          <a:effectLst>
            <a:outerShdw blurRad="101600" dist="63500" dir="2700000" algn="bl" rotWithShape="0">
              <a:srgbClr val="111A3E">
                <a:alpha val="100000"/>
              </a:srgbClr>
            </a:outerShdw>
          </a:effectLst>
        </p:spPr>
      </p:sp>
      <p:sp>
        <p:nvSpPr>
          <p:cNvPr id="33" name="Chip"/>
          <p:cNvSpPr/>
          <p:nvPr/>
        </p:nvSpPr>
        <p:spPr>
          <a:xfrm>
            <a:off x="6675120" y="5687568"/>
            <a:ext cx="777240" cy="310896"/>
          </a:xfrm>
          <a:prstGeom prst="roundRect">
            <a:avLst>
              <a:gd name="adj" fmla="val 50000"/>
            </a:avLst>
          </a:prstGeom>
          <a:solidFill>
            <a:srgbClr val="22C3B0"/>
          </a:solidFill>
          <a:ln w="19050">
            <a:solidFill>
              <a:schemeClr val="tx1"/>
            </a:solidFill>
            <a:prstDash val="solid"/>
          </a:ln>
        </p:spPr>
      </p:sp>
      <p:sp>
        <p:nvSpPr>
          <p:cNvPr id="34" name="Text 30"/>
          <p:cNvSpPr txBox="1"/>
          <p:nvPr/>
        </p:nvSpPr>
        <p:spPr>
          <a:xfrm>
            <a:off x="6675120" y="5687568"/>
            <a:ext cx="777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chemeClr val="tx1"/>
                </a:solidFill>
              </a:rPr>
              <a:t>FACT</a:t>
            </a:r>
            <a:endParaRPr lang="en-US" sz="1100" dirty="0"/>
          </a:p>
        </p:txBody>
      </p:sp>
      <p:sp>
        <p:nvSpPr>
          <p:cNvPr id="35" name="Text 31"/>
          <p:cNvSpPr txBox="1"/>
          <p:nvPr/>
        </p:nvSpPr>
        <p:spPr>
          <a:xfrm>
            <a:off x="7635240" y="5559552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tx1"/>
                </a:solidFill>
              </a:rPr>
              <a:t>fact_pre_invoice_deductions</a:t>
            </a:r>
            <a:endParaRPr lang="en-US" sz="1500" dirty="0"/>
          </a:p>
        </p:txBody>
      </p:sp>
      <p:sp>
        <p:nvSpPr>
          <p:cNvPr id="36" name="Text 32"/>
          <p:cNvSpPr txBox="1"/>
          <p:nvPr/>
        </p:nvSpPr>
        <p:spPr>
          <a:xfrm>
            <a:off x="7635240" y="5870448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2"/>
                </a:solidFill>
              </a:rPr>
              <a:t>Pre-invoice discount percentages</a:t>
            </a:r>
            <a:endParaRPr lang="en-US" sz="1200" dirty="0"/>
          </a:p>
        </p:txBody>
      </p:sp>
      <p:sp>
        <p:nvSpPr>
          <p:cNvPr id="3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2B3A7A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27432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1"/>
                </a:solidFill>
              </a:rPr>
              <a:t>A peek at the data: gross_sales view</a:t>
            </a:r>
            <a:endParaRPr lang="en-US" sz="3000" dirty="0"/>
          </a:p>
        </p:txBody>
      </p:sp>
      <p:sp>
        <p:nvSpPr>
          <p:cNvPr id="3" name="Mascot ring"/>
          <p:cNvSpPr/>
          <p:nvPr/>
        </p:nvSpPr>
        <p:spPr>
          <a:xfrm>
            <a:off x="10835640" y="228600"/>
            <a:ext cx="914400" cy="9144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  <a:prstDash val="solid"/>
          </a:ln>
          <a:effectLst>
            <a:outerShdw blurRad="101600" dist="63500" dir="2700000" algn="bl" rotWithShape="0">
              <a:srgbClr val="111A3E">
                <a:alpha val="100000"/>
              </a:srgbClr>
            </a:outerShdw>
          </a:effectLst>
        </p:spPr>
      </p:sp>
      <p:pic>
        <p:nvPicPr>
          <p:cNvPr id="4" name="Image 0" descr="Cartoon masco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45368" y="338328"/>
            <a:ext cx="694944" cy="694944"/>
          </a:xfrm>
          <a:prstGeom prst="rect">
            <a:avLst/>
          </a:prstGeom>
        </p:spPr>
      </p:pic>
      <p:sp>
        <p:nvSpPr>
          <p:cNvPr id="5" name="Screenshot card"/>
          <p:cNvSpPr/>
          <p:nvPr/>
        </p:nvSpPr>
        <p:spPr>
          <a:xfrm>
            <a:off x="548640" y="1371600"/>
            <a:ext cx="7498080" cy="4023360"/>
          </a:xfrm>
          <a:prstGeom prst="roundRect">
            <a:avLst>
              <a:gd name="adj" fmla="val 3636"/>
            </a:avLst>
          </a:prstGeom>
          <a:solidFill>
            <a:schemeClr val="bg1"/>
          </a:solidFill>
          <a:ln w="25400">
            <a:solidFill>
              <a:schemeClr val="tx1"/>
            </a:solidFill>
            <a:prstDash val="solid"/>
          </a:ln>
          <a:effectLst>
            <a:outerShdw blurRad="101600" dist="63500" dir="2700000" algn="bl" rotWithShape="0">
              <a:srgbClr val="111A3E">
                <a:alpha val="100000"/>
              </a:srgbClr>
            </a:outerShdw>
          </a:effectLst>
        </p:spPr>
      </p:sp>
      <p:pic>
        <p:nvPicPr>
          <p:cNvPr id="6" name="Image 1" descr="gross_sales view output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1914861"/>
            <a:ext cx="7132320" cy="2936838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548640" y="5577840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i="1" dirty="0">
                <a:solidFill>
                  <a:schemeClr val="tx2"/>
                </a:solidFill>
              </a:rPr>
              <a:t>Product: AQ Dracula HDD (3.5 inch, Standard variant), first sales month of FY2018.</a:t>
            </a:r>
            <a:endParaRPr lang="en-US" sz="1300" dirty="0"/>
          </a:p>
        </p:txBody>
      </p:sp>
      <p:sp>
        <p:nvSpPr>
          <p:cNvPr id="8" name="Callout"/>
          <p:cNvSpPr/>
          <p:nvPr/>
        </p:nvSpPr>
        <p:spPr>
          <a:xfrm>
            <a:off x="8366760" y="1371600"/>
            <a:ext cx="3291840" cy="1188720"/>
          </a:xfrm>
          <a:prstGeom prst="roundRect">
            <a:avLst>
              <a:gd name="adj" fmla="val 12308"/>
            </a:avLst>
          </a:prstGeom>
          <a:solidFill>
            <a:srgbClr val="FFC53D"/>
          </a:solidFill>
          <a:ln w="25400">
            <a:solidFill>
              <a:schemeClr val="tx1"/>
            </a:solidFill>
            <a:prstDash val="solid"/>
          </a:ln>
          <a:effectLst>
            <a:outerShdw blurRad="101600" dist="63500" dir="2700000" algn="bl" rotWithShape="0">
              <a:srgbClr val="111A3E">
                <a:alpha val="100000"/>
              </a:srgbClr>
            </a:outerShdw>
          </a:effectLst>
        </p:spPr>
      </p:sp>
      <p:sp>
        <p:nvSpPr>
          <p:cNvPr id="9" name="Text 5"/>
          <p:cNvSpPr txBox="1"/>
          <p:nvPr/>
        </p:nvSpPr>
        <p:spPr>
          <a:xfrm>
            <a:off x="8595360" y="1371600"/>
            <a:ext cx="2834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tx1"/>
                </a:solidFill>
              </a:rPr>
              <a:t>One row per customer, product and month</a:t>
            </a:r>
            <a:endParaRPr lang="en-US" sz="1700" dirty="0"/>
          </a:p>
        </p:txBody>
      </p:sp>
      <p:sp>
        <p:nvSpPr>
          <p:cNvPr id="10" name="Callout"/>
          <p:cNvSpPr/>
          <p:nvPr/>
        </p:nvSpPr>
        <p:spPr>
          <a:xfrm>
            <a:off x="8366760" y="2743200"/>
            <a:ext cx="3291840" cy="1188720"/>
          </a:xfrm>
          <a:prstGeom prst="roundRect">
            <a:avLst>
              <a:gd name="adj" fmla="val 12308"/>
            </a:avLst>
          </a:prstGeom>
          <a:solidFill>
            <a:srgbClr val="FF5A5F"/>
          </a:solidFill>
          <a:ln w="25400">
            <a:solidFill>
              <a:schemeClr val="tx1"/>
            </a:solidFill>
            <a:prstDash val="solid"/>
          </a:ln>
          <a:effectLst>
            <a:outerShdw blurRad="101600" dist="63500" dir="2700000" algn="bl" rotWithShape="0">
              <a:srgbClr val="111A3E">
                <a:alpha val="100000"/>
              </a:srgbClr>
            </a:outerShdw>
          </a:effectLst>
        </p:spPr>
      </p:sp>
      <p:sp>
        <p:nvSpPr>
          <p:cNvPr id="11" name="Text 7"/>
          <p:cNvSpPr txBox="1"/>
          <p:nvPr/>
        </p:nvSpPr>
        <p:spPr>
          <a:xfrm>
            <a:off x="8595360" y="2743200"/>
            <a:ext cx="2834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bg1"/>
                </a:solidFill>
              </a:rPr>
              <a:t>Gross total = quantity x gross price</a:t>
            </a:r>
            <a:endParaRPr lang="en-US" sz="1700" dirty="0"/>
          </a:p>
        </p:txBody>
      </p:sp>
      <p:sp>
        <p:nvSpPr>
          <p:cNvPr id="12" name="Callout"/>
          <p:cNvSpPr/>
          <p:nvPr/>
        </p:nvSpPr>
        <p:spPr>
          <a:xfrm>
            <a:off x="8366760" y="4114800"/>
            <a:ext cx="3291840" cy="1188720"/>
          </a:xfrm>
          <a:prstGeom prst="roundRect">
            <a:avLst>
              <a:gd name="adj" fmla="val 12308"/>
            </a:avLst>
          </a:prstGeom>
          <a:solidFill>
            <a:srgbClr val="22C3B0"/>
          </a:solidFill>
          <a:ln w="25400">
            <a:solidFill>
              <a:schemeClr val="tx1"/>
            </a:solidFill>
            <a:prstDash val="solid"/>
          </a:ln>
          <a:effectLst>
            <a:outerShdw blurRad="101600" dist="63500" dir="2700000" algn="bl" rotWithShape="0">
              <a:srgbClr val="111A3E">
                <a:alpha val="100000"/>
              </a:srgbClr>
            </a:outerShdw>
          </a:effectLst>
        </p:spPr>
      </p:sp>
      <p:sp>
        <p:nvSpPr>
          <p:cNvPr id="13" name="Text 9"/>
          <p:cNvSpPr txBox="1"/>
          <p:nvPr/>
        </p:nvSpPr>
        <p:spPr>
          <a:xfrm>
            <a:off x="8595360" y="4114800"/>
            <a:ext cx="2834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tx1"/>
                </a:solidFill>
              </a:rPr>
              <a:t>Feeds net sales, top-N and market reports</a:t>
            </a:r>
            <a:endParaRPr lang="en-US" sz="1700" dirty="0"/>
          </a:p>
        </p:txBody>
      </p:sp>
      <p:pic>
        <p:nvPicPr>
          <p:cNvPr id="14" name="Image 2" descr="FaDatabase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55480" y="5486400"/>
            <a:ext cx="731520" cy="73152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2B3A7A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27432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bg1"/>
                </a:solidFill>
              </a:rPr>
              <a:t>18 business requests, one story</a:t>
            </a:r>
            <a:endParaRPr lang="en-US" sz="3000" dirty="0"/>
          </a:p>
        </p:txBody>
      </p:sp>
      <p:sp>
        <p:nvSpPr>
          <p:cNvPr id="3" name="Mascot ring"/>
          <p:cNvSpPr/>
          <p:nvPr/>
        </p:nvSpPr>
        <p:spPr>
          <a:xfrm>
            <a:off x="10835640" y="228600"/>
            <a:ext cx="914400" cy="9144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  <a:prstDash val="solid"/>
          </a:ln>
          <a:effectLst>
            <a:outerShdw blurRad="101600" dist="63500" dir="2700000" algn="bl" rotWithShape="0">
              <a:srgbClr val="111A3E">
                <a:alpha val="100000"/>
              </a:srgbClr>
            </a:outerShdw>
          </a:effectLst>
        </p:spPr>
      </p:sp>
      <p:pic>
        <p:nvPicPr>
          <p:cNvPr id="4" name="Image 0" descr="Cartoon masco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45368" y="338328"/>
            <a:ext cx="694944" cy="694944"/>
          </a:xfrm>
          <a:prstGeom prst="rect">
            <a:avLst/>
          </a:prstGeom>
        </p:spPr>
      </p:pic>
      <p:sp>
        <p:nvSpPr>
          <p:cNvPr id="5" name="Part panel"/>
          <p:cNvSpPr/>
          <p:nvPr/>
        </p:nvSpPr>
        <p:spPr>
          <a:xfrm>
            <a:off x="548640" y="1371600"/>
            <a:ext cx="5486400" cy="4892040"/>
          </a:xfrm>
          <a:prstGeom prst="roundRect">
            <a:avLst>
              <a:gd name="adj" fmla="val 2991"/>
            </a:avLst>
          </a:prstGeom>
          <a:solidFill>
            <a:schemeClr val="tx2"/>
          </a:solidFill>
          <a:ln w="19050">
            <a:solidFill>
              <a:schemeClr val="bg1"/>
            </a:solidFill>
            <a:prstDash val="solid"/>
          </a:ln>
          <a:effectLst>
            <a:outerShdw blurRad="101600" dist="63500" dir="2700000" algn="bl" rotWithShape="0">
              <a:srgbClr val="070D26">
                <a:alpha val="100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822960" y="155448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PART 1  |  Sales and product analytics</a:t>
            </a:r>
            <a:endParaRPr lang="en-US" sz="1600" dirty="0"/>
          </a:p>
        </p:txBody>
      </p:sp>
      <p:sp>
        <p:nvSpPr>
          <p:cNvPr id="7" name="Request pill"/>
          <p:cNvSpPr/>
          <p:nvPr/>
        </p:nvSpPr>
        <p:spPr>
          <a:xfrm>
            <a:off x="822960" y="2194560"/>
            <a:ext cx="2468880" cy="658368"/>
          </a:xfrm>
          <a:prstGeom prst="roundRect">
            <a:avLst>
              <a:gd name="adj" fmla="val 19444"/>
            </a:avLst>
          </a:prstGeom>
          <a:solidFill>
            <a:schemeClr val="tx1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Badge"/>
          <p:cNvSpPr/>
          <p:nvPr/>
        </p:nvSpPr>
        <p:spPr>
          <a:xfrm>
            <a:off x="914400" y="2286000"/>
            <a:ext cx="475488" cy="475488"/>
          </a:xfrm>
          <a:prstGeom prst="ellipse">
            <a:avLst/>
          </a:prstGeom>
          <a:solidFill>
            <a:srgbClr val="FF5A5F"/>
          </a:solidFill>
          <a:ln w="19050">
            <a:solidFill>
              <a:schemeClr val="bg1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914400" y="228600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tx1"/>
                </a:solidFill>
              </a:rPr>
              <a:t>1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1481328" y="2194560"/>
            <a:ext cx="1737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bg1"/>
                </a:solidFill>
              </a:rPr>
              <a:t>APAC markets</a:t>
            </a:r>
            <a:endParaRPr lang="en-US" sz="1400" dirty="0"/>
          </a:p>
        </p:txBody>
      </p:sp>
      <p:sp>
        <p:nvSpPr>
          <p:cNvPr id="11" name="Request pill"/>
          <p:cNvSpPr/>
          <p:nvPr/>
        </p:nvSpPr>
        <p:spPr>
          <a:xfrm>
            <a:off x="3383280" y="2194560"/>
            <a:ext cx="2468880" cy="658368"/>
          </a:xfrm>
          <a:prstGeom prst="roundRect">
            <a:avLst>
              <a:gd name="adj" fmla="val 19444"/>
            </a:avLst>
          </a:prstGeom>
          <a:solidFill>
            <a:schemeClr val="tx1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Badge"/>
          <p:cNvSpPr/>
          <p:nvPr/>
        </p:nvSpPr>
        <p:spPr>
          <a:xfrm>
            <a:off x="3474720" y="2286000"/>
            <a:ext cx="475488" cy="475488"/>
          </a:xfrm>
          <a:prstGeom prst="ellipse">
            <a:avLst/>
          </a:prstGeom>
          <a:solidFill>
            <a:srgbClr val="FF5A5F"/>
          </a:solidFill>
          <a:ln w="19050">
            <a:solidFill>
              <a:schemeClr val="bg1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3474720" y="228600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tx1"/>
                </a:solidFill>
              </a:rPr>
              <a:t>2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4041648" y="2194560"/>
            <a:ext cx="1737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bg1"/>
                </a:solidFill>
              </a:rPr>
              <a:t>Product growth</a:t>
            </a:r>
            <a:endParaRPr lang="en-US" sz="1400" dirty="0"/>
          </a:p>
        </p:txBody>
      </p:sp>
      <p:sp>
        <p:nvSpPr>
          <p:cNvPr id="15" name="Request pill"/>
          <p:cNvSpPr/>
          <p:nvPr/>
        </p:nvSpPr>
        <p:spPr>
          <a:xfrm>
            <a:off x="822960" y="2999232"/>
            <a:ext cx="2468880" cy="658368"/>
          </a:xfrm>
          <a:prstGeom prst="roundRect">
            <a:avLst>
              <a:gd name="adj" fmla="val 19444"/>
            </a:avLst>
          </a:prstGeom>
          <a:solidFill>
            <a:schemeClr val="tx1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Badge"/>
          <p:cNvSpPr/>
          <p:nvPr/>
        </p:nvSpPr>
        <p:spPr>
          <a:xfrm>
            <a:off x="914400" y="3090672"/>
            <a:ext cx="475488" cy="475488"/>
          </a:xfrm>
          <a:prstGeom prst="ellipse">
            <a:avLst/>
          </a:prstGeom>
          <a:solidFill>
            <a:srgbClr val="FF5A5F"/>
          </a:solidFill>
          <a:ln w="19050">
            <a:solidFill>
              <a:schemeClr val="bg1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914400" y="309067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tx1"/>
                </a:solidFill>
              </a:rPr>
              <a:t>3</a:t>
            </a:r>
            <a:endParaRPr lang="en-US" sz="1300" dirty="0"/>
          </a:p>
        </p:txBody>
      </p:sp>
      <p:sp>
        <p:nvSpPr>
          <p:cNvPr id="18" name="Text 15"/>
          <p:cNvSpPr txBox="1"/>
          <p:nvPr/>
        </p:nvSpPr>
        <p:spPr>
          <a:xfrm>
            <a:off x="1481328" y="2999232"/>
            <a:ext cx="1737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bg1"/>
                </a:solidFill>
              </a:rPr>
              <a:t>Segment mix</a:t>
            </a:r>
            <a:endParaRPr lang="en-US" sz="1400" dirty="0"/>
          </a:p>
        </p:txBody>
      </p:sp>
      <p:sp>
        <p:nvSpPr>
          <p:cNvPr id="19" name="Request pill"/>
          <p:cNvSpPr/>
          <p:nvPr/>
        </p:nvSpPr>
        <p:spPr>
          <a:xfrm>
            <a:off x="3383280" y="2999232"/>
            <a:ext cx="2468880" cy="658368"/>
          </a:xfrm>
          <a:prstGeom prst="roundRect">
            <a:avLst>
              <a:gd name="adj" fmla="val 19444"/>
            </a:avLst>
          </a:prstGeom>
          <a:solidFill>
            <a:schemeClr val="tx1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0" name="Badge"/>
          <p:cNvSpPr/>
          <p:nvPr/>
        </p:nvSpPr>
        <p:spPr>
          <a:xfrm>
            <a:off x="3474720" y="3090672"/>
            <a:ext cx="475488" cy="475488"/>
          </a:xfrm>
          <a:prstGeom prst="ellipse">
            <a:avLst/>
          </a:prstGeom>
          <a:solidFill>
            <a:srgbClr val="FF5A5F"/>
          </a:solidFill>
          <a:ln w="19050">
            <a:solidFill>
              <a:schemeClr val="bg1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3474720" y="309067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tx1"/>
                </a:solidFill>
              </a:rPr>
              <a:t>4</a:t>
            </a:r>
            <a:endParaRPr lang="en-US" sz="1300" dirty="0"/>
          </a:p>
        </p:txBody>
      </p:sp>
      <p:sp>
        <p:nvSpPr>
          <p:cNvPr id="22" name="Text 19"/>
          <p:cNvSpPr txBox="1"/>
          <p:nvPr/>
        </p:nvSpPr>
        <p:spPr>
          <a:xfrm>
            <a:off x="4041648" y="2999232"/>
            <a:ext cx="1737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bg1"/>
                </a:solidFill>
              </a:rPr>
              <a:t>Segment growth</a:t>
            </a:r>
            <a:endParaRPr lang="en-US" sz="1400" dirty="0"/>
          </a:p>
        </p:txBody>
      </p:sp>
      <p:sp>
        <p:nvSpPr>
          <p:cNvPr id="23" name="Request pill"/>
          <p:cNvSpPr/>
          <p:nvPr/>
        </p:nvSpPr>
        <p:spPr>
          <a:xfrm>
            <a:off x="822960" y="3803904"/>
            <a:ext cx="2468880" cy="658368"/>
          </a:xfrm>
          <a:prstGeom prst="roundRect">
            <a:avLst>
              <a:gd name="adj" fmla="val 19444"/>
            </a:avLst>
          </a:prstGeom>
          <a:solidFill>
            <a:schemeClr val="tx1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4" name="Badge"/>
          <p:cNvSpPr/>
          <p:nvPr/>
        </p:nvSpPr>
        <p:spPr>
          <a:xfrm>
            <a:off x="914400" y="3895344"/>
            <a:ext cx="475488" cy="475488"/>
          </a:xfrm>
          <a:prstGeom prst="ellipse">
            <a:avLst/>
          </a:prstGeom>
          <a:solidFill>
            <a:srgbClr val="FF5A5F"/>
          </a:solidFill>
          <a:ln w="19050">
            <a:solidFill>
              <a:schemeClr val="bg1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914400" y="389534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tx1"/>
                </a:solidFill>
              </a:rPr>
              <a:t>5</a:t>
            </a:r>
            <a:endParaRPr lang="en-US" sz="1300" dirty="0"/>
          </a:p>
        </p:txBody>
      </p:sp>
      <p:sp>
        <p:nvSpPr>
          <p:cNvPr id="26" name="Text 23"/>
          <p:cNvSpPr txBox="1"/>
          <p:nvPr/>
        </p:nvSpPr>
        <p:spPr>
          <a:xfrm>
            <a:off x="1481328" y="3803904"/>
            <a:ext cx="1737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bg1"/>
                </a:solidFill>
              </a:rPr>
              <a:t>Cost extremes</a:t>
            </a:r>
            <a:endParaRPr lang="en-US" sz="1400" dirty="0"/>
          </a:p>
        </p:txBody>
      </p:sp>
      <p:sp>
        <p:nvSpPr>
          <p:cNvPr id="27" name="Request pill"/>
          <p:cNvSpPr/>
          <p:nvPr/>
        </p:nvSpPr>
        <p:spPr>
          <a:xfrm>
            <a:off x="3383280" y="3803904"/>
            <a:ext cx="2468880" cy="658368"/>
          </a:xfrm>
          <a:prstGeom prst="roundRect">
            <a:avLst>
              <a:gd name="adj" fmla="val 19444"/>
            </a:avLst>
          </a:prstGeom>
          <a:solidFill>
            <a:schemeClr val="tx1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8" name="Badge"/>
          <p:cNvSpPr/>
          <p:nvPr/>
        </p:nvSpPr>
        <p:spPr>
          <a:xfrm>
            <a:off x="3474720" y="3895344"/>
            <a:ext cx="475488" cy="475488"/>
          </a:xfrm>
          <a:prstGeom prst="ellipse">
            <a:avLst/>
          </a:prstGeom>
          <a:solidFill>
            <a:srgbClr val="FF5A5F"/>
          </a:solidFill>
          <a:ln w="19050">
            <a:solidFill>
              <a:schemeClr val="bg1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3474720" y="389534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tx1"/>
                </a:solidFill>
              </a:rPr>
              <a:t>6</a:t>
            </a:r>
            <a:endParaRPr lang="en-US" sz="1300" dirty="0"/>
          </a:p>
        </p:txBody>
      </p:sp>
      <p:sp>
        <p:nvSpPr>
          <p:cNvPr id="30" name="Text 27"/>
          <p:cNvSpPr txBox="1"/>
          <p:nvPr/>
        </p:nvSpPr>
        <p:spPr>
          <a:xfrm>
            <a:off x="4041648" y="3803904"/>
            <a:ext cx="1737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bg1"/>
                </a:solidFill>
              </a:rPr>
              <a:t>Top discounts</a:t>
            </a:r>
            <a:endParaRPr lang="en-US" sz="1400" dirty="0"/>
          </a:p>
        </p:txBody>
      </p:sp>
      <p:sp>
        <p:nvSpPr>
          <p:cNvPr id="31" name="Request pill"/>
          <p:cNvSpPr/>
          <p:nvPr/>
        </p:nvSpPr>
        <p:spPr>
          <a:xfrm>
            <a:off x="822960" y="4608576"/>
            <a:ext cx="2468880" cy="658368"/>
          </a:xfrm>
          <a:prstGeom prst="roundRect">
            <a:avLst>
              <a:gd name="adj" fmla="val 19444"/>
            </a:avLst>
          </a:prstGeom>
          <a:solidFill>
            <a:schemeClr val="tx1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2" name="Badge"/>
          <p:cNvSpPr/>
          <p:nvPr/>
        </p:nvSpPr>
        <p:spPr>
          <a:xfrm>
            <a:off x="914400" y="4700016"/>
            <a:ext cx="475488" cy="475488"/>
          </a:xfrm>
          <a:prstGeom prst="ellipse">
            <a:avLst/>
          </a:prstGeom>
          <a:solidFill>
            <a:srgbClr val="FF5A5F"/>
          </a:solidFill>
          <a:ln w="19050">
            <a:solidFill>
              <a:schemeClr val="bg1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914400" y="470001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tx1"/>
                </a:solidFill>
              </a:rPr>
              <a:t>7</a:t>
            </a:r>
            <a:endParaRPr lang="en-US" sz="1300" dirty="0"/>
          </a:p>
        </p:txBody>
      </p:sp>
      <p:sp>
        <p:nvSpPr>
          <p:cNvPr id="34" name="Text 31"/>
          <p:cNvSpPr txBox="1"/>
          <p:nvPr/>
        </p:nvSpPr>
        <p:spPr>
          <a:xfrm>
            <a:off x="1481328" y="4608576"/>
            <a:ext cx="1737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bg1"/>
                </a:solidFill>
              </a:rPr>
              <a:t>Monthly sales</a:t>
            </a:r>
            <a:endParaRPr lang="en-US" sz="1400" dirty="0"/>
          </a:p>
        </p:txBody>
      </p:sp>
      <p:sp>
        <p:nvSpPr>
          <p:cNvPr id="35" name="Request pill"/>
          <p:cNvSpPr/>
          <p:nvPr/>
        </p:nvSpPr>
        <p:spPr>
          <a:xfrm>
            <a:off x="3383280" y="4608576"/>
            <a:ext cx="2468880" cy="658368"/>
          </a:xfrm>
          <a:prstGeom prst="roundRect">
            <a:avLst>
              <a:gd name="adj" fmla="val 19444"/>
            </a:avLst>
          </a:prstGeom>
          <a:solidFill>
            <a:schemeClr val="tx1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6" name="Badge"/>
          <p:cNvSpPr/>
          <p:nvPr/>
        </p:nvSpPr>
        <p:spPr>
          <a:xfrm>
            <a:off x="3474720" y="4700016"/>
            <a:ext cx="475488" cy="475488"/>
          </a:xfrm>
          <a:prstGeom prst="ellipse">
            <a:avLst/>
          </a:prstGeom>
          <a:solidFill>
            <a:srgbClr val="FF5A5F"/>
          </a:solidFill>
          <a:ln w="19050">
            <a:solidFill>
              <a:schemeClr val="bg1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3474720" y="470001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tx1"/>
                </a:solidFill>
              </a:rPr>
              <a:t>8</a:t>
            </a:r>
            <a:endParaRPr lang="en-US" sz="1300" dirty="0"/>
          </a:p>
        </p:txBody>
      </p:sp>
      <p:sp>
        <p:nvSpPr>
          <p:cNvPr id="38" name="Text 35"/>
          <p:cNvSpPr txBox="1"/>
          <p:nvPr/>
        </p:nvSpPr>
        <p:spPr>
          <a:xfrm>
            <a:off x="4041648" y="4608576"/>
            <a:ext cx="1737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bg1"/>
                </a:solidFill>
              </a:rPr>
              <a:t>Quarterly volume</a:t>
            </a:r>
            <a:endParaRPr lang="en-US" sz="1400" dirty="0"/>
          </a:p>
        </p:txBody>
      </p:sp>
      <p:sp>
        <p:nvSpPr>
          <p:cNvPr id="39" name="Request pill"/>
          <p:cNvSpPr/>
          <p:nvPr/>
        </p:nvSpPr>
        <p:spPr>
          <a:xfrm>
            <a:off x="822960" y="5413248"/>
            <a:ext cx="2468880" cy="658368"/>
          </a:xfrm>
          <a:prstGeom prst="roundRect">
            <a:avLst>
              <a:gd name="adj" fmla="val 19444"/>
            </a:avLst>
          </a:prstGeom>
          <a:solidFill>
            <a:schemeClr val="tx1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0" name="Badge"/>
          <p:cNvSpPr/>
          <p:nvPr/>
        </p:nvSpPr>
        <p:spPr>
          <a:xfrm>
            <a:off x="914400" y="5504688"/>
            <a:ext cx="475488" cy="475488"/>
          </a:xfrm>
          <a:prstGeom prst="ellipse">
            <a:avLst/>
          </a:prstGeom>
          <a:solidFill>
            <a:srgbClr val="FF5A5F"/>
          </a:solidFill>
          <a:ln w="19050">
            <a:solidFill>
              <a:schemeClr val="bg1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914400" y="550468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tx1"/>
                </a:solidFill>
              </a:rPr>
              <a:t>9</a:t>
            </a:r>
            <a:endParaRPr lang="en-US" sz="1300" dirty="0"/>
          </a:p>
        </p:txBody>
      </p:sp>
      <p:sp>
        <p:nvSpPr>
          <p:cNvPr id="42" name="Text 39"/>
          <p:cNvSpPr txBox="1"/>
          <p:nvPr/>
        </p:nvSpPr>
        <p:spPr>
          <a:xfrm>
            <a:off x="1481328" y="5413248"/>
            <a:ext cx="1737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bg1"/>
                </a:solidFill>
              </a:rPr>
              <a:t>Channel mix</a:t>
            </a:r>
            <a:endParaRPr lang="en-US" sz="1400" dirty="0"/>
          </a:p>
        </p:txBody>
      </p:sp>
      <p:sp>
        <p:nvSpPr>
          <p:cNvPr id="43" name="Request pill"/>
          <p:cNvSpPr/>
          <p:nvPr/>
        </p:nvSpPr>
        <p:spPr>
          <a:xfrm>
            <a:off x="3383280" y="5413248"/>
            <a:ext cx="2468880" cy="658368"/>
          </a:xfrm>
          <a:prstGeom prst="roundRect">
            <a:avLst>
              <a:gd name="adj" fmla="val 19444"/>
            </a:avLst>
          </a:prstGeom>
          <a:solidFill>
            <a:schemeClr val="tx1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4" name="Badge"/>
          <p:cNvSpPr/>
          <p:nvPr/>
        </p:nvSpPr>
        <p:spPr>
          <a:xfrm>
            <a:off x="3474720" y="5504688"/>
            <a:ext cx="475488" cy="475488"/>
          </a:xfrm>
          <a:prstGeom prst="ellipse">
            <a:avLst/>
          </a:prstGeom>
          <a:solidFill>
            <a:srgbClr val="FF5A5F"/>
          </a:solidFill>
          <a:ln w="19050">
            <a:solidFill>
              <a:schemeClr val="bg1"/>
            </a:solidFill>
            <a:prstDash val="solid"/>
          </a:ln>
        </p:spPr>
      </p:sp>
      <p:sp>
        <p:nvSpPr>
          <p:cNvPr id="45" name="Text 42"/>
          <p:cNvSpPr txBox="1"/>
          <p:nvPr/>
        </p:nvSpPr>
        <p:spPr>
          <a:xfrm>
            <a:off x="3474720" y="550468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tx1"/>
                </a:solidFill>
              </a:rPr>
              <a:t>10</a:t>
            </a:r>
            <a:endParaRPr lang="en-US" sz="1300" dirty="0"/>
          </a:p>
        </p:txBody>
      </p:sp>
      <p:sp>
        <p:nvSpPr>
          <p:cNvPr id="46" name="Text 43"/>
          <p:cNvSpPr txBox="1"/>
          <p:nvPr/>
        </p:nvSpPr>
        <p:spPr>
          <a:xfrm>
            <a:off x="4041648" y="5413248"/>
            <a:ext cx="1737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bg1"/>
                </a:solidFill>
              </a:rPr>
              <a:t>Top sellers</a:t>
            </a:r>
            <a:endParaRPr lang="en-US" sz="1400" dirty="0"/>
          </a:p>
        </p:txBody>
      </p:sp>
      <p:sp>
        <p:nvSpPr>
          <p:cNvPr id="47" name="Part panel"/>
          <p:cNvSpPr/>
          <p:nvPr/>
        </p:nvSpPr>
        <p:spPr>
          <a:xfrm>
            <a:off x="6172200" y="1371600"/>
            <a:ext cx="5486400" cy="4892040"/>
          </a:xfrm>
          <a:prstGeom prst="roundRect">
            <a:avLst>
              <a:gd name="adj" fmla="val 2991"/>
            </a:avLst>
          </a:prstGeom>
          <a:solidFill>
            <a:schemeClr val="tx2"/>
          </a:solidFill>
          <a:ln w="19050">
            <a:solidFill>
              <a:schemeClr val="bg1"/>
            </a:solidFill>
            <a:prstDash val="solid"/>
          </a:ln>
          <a:effectLst>
            <a:outerShdw blurRad="101600" dist="63500" dir="2700000" algn="bl" rotWithShape="0">
              <a:srgbClr val="070D26">
                <a:alpha val="100000"/>
              </a:srgbClr>
            </a:outerShdw>
          </a:effectLst>
        </p:spPr>
      </p:sp>
      <p:sp>
        <p:nvSpPr>
          <p:cNvPr id="48" name="Text 45"/>
          <p:cNvSpPr txBox="1"/>
          <p:nvPr/>
        </p:nvSpPr>
        <p:spPr>
          <a:xfrm>
            <a:off x="6446520" y="155448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PART 2  |  Customers, markets and supply chain</a:t>
            </a:r>
            <a:endParaRPr lang="en-US" sz="1600" dirty="0"/>
          </a:p>
        </p:txBody>
      </p:sp>
      <p:sp>
        <p:nvSpPr>
          <p:cNvPr id="49" name="Request pill"/>
          <p:cNvSpPr/>
          <p:nvPr/>
        </p:nvSpPr>
        <p:spPr>
          <a:xfrm>
            <a:off x="6446520" y="2194560"/>
            <a:ext cx="2468880" cy="658368"/>
          </a:xfrm>
          <a:prstGeom prst="roundRect">
            <a:avLst>
              <a:gd name="adj" fmla="val 19444"/>
            </a:avLst>
          </a:prstGeom>
          <a:solidFill>
            <a:schemeClr val="tx1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0" name="Badge"/>
          <p:cNvSpPr/>
          <p:nvPr/>
        </p:nvSpPr>
        <p:spPr>
          <a:xfrm>
            <a:off x="6537960" y="2286000"/>
            <a:ext cx="475488" cy="475488"/>
          </a:xfrm>
          <a:prstGeom prst="ellipse">
            <a:avLst/>
          </a:prstGeom>
          <a:solidFill>
            <a:srgbClr val="22C3B0"/>
          </a:solidFill>
          <a:ln w="19050">
            <a:solidFill>
              <a:schemeClr val="bg1"/>
            </a:solidFill>
            <a:prstDash val="solid"/>
          </a:ln>
        </p:spPr>
      </p:sp>
      <p:sp>
        <p:nvSpPr>
          <p:cNvPr id="51" name="Text 48"/>
          <p:cNvSpPr txBox="1"/>
          <p:nvPr/>
        </p:nvSpPr>
        <p:spPr>
          <a:xfrm>
            <a:off x="6537960" y="228600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tx1"/>
                </a:solidFill>
              </a:rPr>
              <a:t>11</a:t>
            </a:r>
            <a:endParaRPr lang="en-US" sz="1300" dirty="0"/>
          </a:p>
        </p:txBody>
      </p:sp>
      <p:sp>
        <p:nvSpPr>
          <p:cNvPr id="52" name="Text 49"/>
          <p:cNvSpPr txBox="1"/>
          <p:nvPr/>
        </p:nvSpPr>
        <p:spPr>
          <a:xfrm>
            <a:off x="7104888" y="2194560"/>
            <a:ext cx="1737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bg1"/>
                </a:solidFill>
              </a:rPr>
              <a:t>Top customers</a:t>
            </a:r>
            <a:endParaRPr lang="en-US" sz="1400" dirty="0"/>
          </a:p>
        </p:txBody>
      </p:sp>
      <p:sp>
        <p:nvSpPr>
          <p:cNvPr id="53" name="Request pill"/>
          <p:cNvSpPr/>
          <p:nvPr/>
        </p:nvSpPr>
        <p:spPr>
          <a:xfrm>
            <a:off x="9006840" y="2194560"/>
            <a:ext cx="2468880" cy="658368"/>
          </a:xfrm>
          <a:prstGeom prst="roundRect">
            <a:avLst>
              <a:gd name="adj" fmla="val 19444"/>
            </a:avLst>
          </a:prstGeom>
          <a:solidFill>
            <a:schemeClr val="tx1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4" name="Badge"/>
          <p:cNvSpPr/>
          <p:nvPr/>
        </p:nvSpPr>
        <p:spPr>
          <a:xfrm>
            <a:off x="9098280" y="2286000"/>
            <a:ext cx="475488" cy="475488"/>
          </a:xfrm>
          <a:prstGeom prst="ellipse">
            <a:avLst/>
          </a:prstGeom>
          <a:solidFill>
            <a:srgbClr val="22C3B0"/>
          </a:solidFill>
          <a:ln w="19050">
            <a:solidFill>
              <a:schemeClr val="bg1"/>
            </a:solidFill>
            <a:prstDash val="solid"/>
          </a:ln>
        </p:spPr>
      </p:sp>
      <p:sp>
        <p:nvSpPr>
          <p:cNvPr id="55" name="Text 52"/>
          <p:cNvSpPr txBox="1"/>
          <p:nvPr/>
        </p:nvSpPr>
        <p:spPr>
          <a:xfrm>
            <a:off x="9098280" y="228600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tx1"/>
                </a:solidFill>
              </a:rPr>
              <a:t>12</a:t>
            </a:r>
            <a:endParaRPr lang="en-US" sz="1300" dirty="0"/>
          </a:p>
        </p:txBody>
      </p:sp>
      <p:sp>
        <p:nvSpPr>
          <p:cNvPr id="56" name="Text 53"/>
          <p:cNvSpPr txBox="1"/>
          <p:nvPr/>
        </p:nvSpPr>
        <p:spPr>
          <a:xfrm>
            <a:off x="9665208" y="2194560"/>
            <a:ext cx="1737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bg1"/>
                </a:solidFill>
              </a:rPr>
              <a:t>APAC customer share</a:t>
            </a:r>
            <a:endParaRPr lang="en-US" sz="1400" dirty="0"/>
          </a:p>
        </p:txBody>
      </p:sp>
      <p:sp>
        <p:nvSpPr>
          <p:cNvPr id="57" name="Request pill"/>
          <p:cNvSpPr/>
          <p:nvPr/>
        </p:nvSpPr>
        <p:spPr>
          <a:xfrm>
            <a:off x="6446520" y="2999232"/>
            <a:ext cx="2468880" cy="658368"/>
          </a:xfrm>
          <a:prstGeom prst="roundRect">
            <a:avLst>
              <a:gd name="adj" fmla="val 19444"/>
            </a:avLst>
          </a:prstGeom>
          <a:solidFill>
            <a:schemeClr val="tx1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8" name="Badge"/>
          <p:cNvSpPr/>
          <p:nvPr/>
        </p:nvSpPr>
        <p:spPr>
          <a:xfrm>
            <a:off x="6537960" y="3090672"/>
            <a:ext cx="475488" cy="475488"/>
          </a:xfrm>
          <a:prstGeom prst="ellipse">
            <a:avLst/>
          </a:prstGeom>
          <a:solidFill>
            <a:srgbClr val="22C3B0"/>
          </a:solidFill>
          <a:ln w="19050">
            <a:solidFill>
              <a:schemeClr val="bg1"/>
            </a:solidFill>
            <a:prstDash val="solid"/>
          </a:ln>
        </p:spPr>
      </p:sp>
      <p:sp>
        <p:nvSpPr>
          <p:cNvPr id="59" name="Text 56"/>
          <p:cNvSpPr txBox="1"/>
          <p:nvPr/>
        </p:nvSpPr>
        <p:spPr>
          <a:xfrm>
            <a:off x="6537960" y="309067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tx1"/>
                </a:solidFill>
              </a:rPr>
              <a:t>13</a:t>
            </a:r>
            <a:endParaRPr lang="en-US" sz="1300" dirty="0"/>
          </a:p>
        </p:txBody>
      </p:sp>
      <p:sp>
        <p:nvSpPr>
          <p:cNvPr id="60" name="Text 57"/>
          <p:cNvSpPr txBox="1"/>
          <p:nvPr/>
        </p:nvSpPr>
        <p:spPr>
          <a:xfrm>
            <a:off x="7104888" y="2999232"/>
            <a:ext cx="1737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bg1"/>
                </a:solidFill>
              </a:rPr>
              <a:t>Top sellers by division</a:t>
            </a:r>
            <a:endParaRPr lang="en-US" sz="1400" dirty="0"/>
          </a:p>
        </p:txBody>
      </p:sp>
      <p:sp>
        <p:nvSpPr>
          <p:cNvPr id="61" name="Request pill"/>
          <p:cNvSpPr/>
          <p:nvPr/>
        </p:nvSpPr>
        <p:spPr>
          <a:xfrm>
            <a:off x="9006840" y="2999232"/>
            <a:ext cx="2468880" cy="658368"/>
          </a:xfrm>
          <a:prstGeom prst="roundRect">
            <a:avLst>
              <a:gd name="adj" fmla="val 19444"/>
            </a:avLst>
          </a:prstGeom>
          <a:solidFill>
            <a:schemeClr val="tx1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2" name="Badge"/>
          <p:cNvSpPr/>
          <p:nvPr/>
        </p:nvSpPr>
        <p:spPr>
          <a:xfrm>
            <a:off x="9098280" y="3090672"/>
            <a:ext cx="475488" cy="475488"/>
          </a:xfrm>
          <a:prstGeom prst="ellipse">
            <a:avLst/>
          </a:prstGeom>
          <a:solidFill>
            <a:srgbClr val="22C3B0"/>
          </a:solidFill>
          <a:ln w="19050">
            <a:solidFill>
              <a:schemeClr val="bg1"/>
            </a:solidFill>
            <a:prstDash val="solid"/>
          </a:ln>
        </p:spPr>
      </p:sp>
      <p:sp>
        <p:nvSpPr>
          <p:cNvPr id="63" name="Text 60"/>
          <p:cNvSpPr txBox="1"/>
          <p:nvPr/>
        </p:nvSpPr>
        <p:spPr>
          <a:xfrm>
            <a:off x="9098280" y="309067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tx1"/>
                </a:solidFill>
              </a:rPr>
              <a:t>14</a:t>
            </a:r>
            <a:endParaRPr lang="en-US" sz="1300" dirty="0"/>
          </a:p>
        </p:txBody>
      </p:sp>
      <p:sp>
        <p:nvSpPr>
          <p:cNvPr id="64" name="Text 61"/>
          <p:cNvSpPr txBox="1"/>
          <p:nvPr/>
        </p:nvSpPr>
        <p:spPr>
          <a:xfrm>
            <a:off x="9665208" y="2999232"/>
            <a:ext cx="1737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bg1"/>
                </a:solidFill>
              </a:rPr>
              <a:t>Croma yearly sales</a:t>
            </a:r>
            <a:endParaRPr lang="en-US" sz="1400" dirty="0"/>
          </a:p>
        </p:txBody>
      </p:sp>
      <p:sp>
        <p:nvSpPr>
          <p:cNvPr id="65" name="Request pill"/>
          <p:cNvSpPr/>
          <p:nvPr/>
        </p:nvSpPr>
        <p:spPr>
          <a:xfrm>
            <a:off x="6446520" y="3803904"/>
            <a:ext cx="2468880" cy="658368"/>
          </a:xfrm>
          <a:prstGeom prst="roundRect">
            <a:avLst>
              <a:gd name="adj" fmla="val 19444"/>
            </a:avLst>
          </a:prstGeom>
          <a:solidFill>
            <a:schemeClr val="tx1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6" name="Badge"/>
          <p:cNvSpPr/>
          <p:nvPr/>
        </p:nvSpPr>
        <p:spPr>
          <a:xfrm>
            <a:off x="6537960" y="3895344"/>
            <a:ext cx="475488" cy="475488"/>
          </a:xfrm>
          <a:prstGeom prst="ellipse">
            <a:avLst/>
          </a:prstGeom>
          <a:solidFill>
            <a:srgbClr val="22C3B0"/>
          </a:solidFill>
          <a:ln w="19050">
            <a:solidFill>
              <a:schemeClr val="bg1"/>
            </a:solidFill>
            <a:prstDash val="solid"/>
          </a:ln>
        </p:spPr>
      </p:sp>
      <p:sp>
        <p:nvSpPr>
          <p:cNvPr id="67" name="Text 64"/>
          <p:cNvSpPr txBox="1"/>
          <p:nvPr/>
        </p:nvSpPr>
        <p:spPr>
          <a:xfrm>
            <a:off x="6537960" y="389534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tx1"/>
                </a:solidFill>
              </a:rPr>
              <a:t>15</a:t>
            </a:r>
            <a:endParaRPr lang="en-US" sz="1300" dirty="0"/>
          </a:p>
        </p:txBody>
      </p:sp>
      <p:sp>
        <p:nvSpPr>
          <p:cNvPr id="68" name="Text 65"/>
          <p:cNvSpPr txBox="1"/>
          <p:nvPr/>
        </p:nvSpPr>
        <p:spPr>
          <a:xfrm>
            <a:off x="7104888" y="3803904"/>
            <a:ext cx="1737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bg1"/>
                </a:solidFill>
              </a:rPr>
              <a:t>Market badges</a:t>
            </a:r>
            <a:endParaRPr lang="en-US" sz="1400" dirty="0"/>
          </a:p>
        </p:txBody>
      </p:sp>
      <p:sp>
        <p:nvSpPr>
          <p:cNvPr id="69" name="Request pill"/>
          <p:cNvSpPr/>
          <p:nvPr/>
        </p:nvSpPr>
        <p:spPr>
          <a:xfrm>
            <a:off x="9006840" y="3803904"/>
            <a:ext cx="2468880" cy="658368"/>
          </a:xfrm>
          <a:prstGeom prst="roundRect">
            <a:avLst>
              <a:gd name="adj" fmla="val 19444"/>
            </a:avLst>
          </a:prstGeom>
          <a:solidFill>
            <a:schemeClr val="tx1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0" name="Badge"/>
          <p:cNvSpPr/>
          <p:nvPr/>
        </p:nvSpPr>
        <p:spPr>
          <a:xfrm>
            <a:off x="9098280" y="3895344"/>
            <a:ext cx="475488" cy="475488"/>
          </a:xfrm>
          <a:prstGeom prst="ellipse">
            <a:avLst/>
          </a:prstGeom>
          <a:solidFill>
            <a:srgbClr val="22C3B0"/>
          </a:solidFill>
          <a:ln w="19050">
            <a:solidFill>
              <a:schemeClr val="bg1"/>
            </a:solidFill>
            <a:prstDash val="solid"/>
          </a:ln>
        </p:spPr>
      </p:sp>
      <p:sp>
        <p:nvSpPr>
          <p:cNvPr id="71" name="Text 68"/>
          <p:cNvSpPr txBox="1"/>
          <p:nvPr/>
        </p:nvSpPr>
        <p:spPr>
          <a:xfrm>
            <a:off x="9098280" y="389534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tx1"/>
                </a:solidFill>
              </a:rPr>
              <a:t>16</a:t>
            </a:r>
            <a:endParaRPr lang="en-US" sz="1300" dirty="0"/>
          </a:p>
        </p:txBody>
      </p:sp>
      <p:sp>
        <p:nvSpPr>
          <p:cNvPr id="72" name="Text 69"/>
          <p:cNvSpPr txBox="1"/>
          <p:nvPr/>
        </p:nvSpPr>
        <p:spPr>
          <a:xfrm>
            <a:off x="9665208" y="3803904"/>
            <a:ext cx="1737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bg1"/>
                </a:solidFill>
              </a:rPr>
              <a:t>Forecast accuracy</a:t>
            </a:r>
            <a:endParaRPr lang="en-US" sz="1400" dirty="0"/>
          </a:p>
        </p:txBody>
      </p:sp>
      <p:sp>
        <p:nvSpPr>
          <p:cNvPr id="73" name="Request pill"/>
          <p:cNvSpPr/>
          <p:nvPr/>
        </p:nvSpPr>
        <p:spPr>
          <a:xfrm>
            <a:off x="6446520" y="4608576"/>
            <a:ext cx="2468880" cy="658368"/>
          </a:xfrm>
          <a:prstGeom prst="roundRect">
            <a:avLst>
              <a:gd name="adj" fmla="val 19444"/>
            </a:avLst>
          </a:prstGeom>
          <a:solidFill>
            <a:schemeClr val="tx1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4" name="Badge"/>
          <p:cNvSpPr/>
          <p:nvPr/>
        </p:nvSpPr>
        <p:spPr>
          <a:xfrm>
            <a:off x="6537960" y="4700016"/>
            <a:ext cx="475488" cy="475488"/>
          </a:xfrm>
          <a:prstGeom prst="ellipse">
            <a:avLst/>
          </a:prstGeom>
          <a:solidFill>
            <a:srgbClr val="22C3B0"/>
          </a:solidFill>
          <a:ln w="19050">
            <a:solidFill>
              <a:schemeClr val="bg1"/>
            </a:solidFill>
            <a:prstDash val="solid"/>
          </a:ln>
        </p:spPr>
      </p:sp>
      <p:sp>
        <p:nvSpPr>
          <p:cNvPr id="75" name="Text 72"/>
          <p:cNvSpPr txBox="1"/>
          <p:nvPr/>
        </p:nvSpPr>
        <p:spPr>
          <a:xfrm>
            <a:off x="6537960" y="470001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tx1"/>
                </a:solidFill>
              </a:rPr>
              <a:t>17</a:t>
            </a:r>
            <a:endParaRPr lang="en-US" sz="1300" dirty="0"/>
          </a:p>
        </p:txBody>
      </p:sp>
      <p:sp>
        <p:nvSpPr>
          <p:cNvPr id="76" name="Text 73"/>
          <p:cNvSpPr txBox="1"/>
          <p:nvPr/>
        </p:nvSpPr>
        <p:spPr>
          <a:xfrm>
            <a:off x="7104888" y="4608576"/>
            <a:ext cx="1737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bg1"/>
                </a:solidFill>
              </a:rPr>
              <a:t>Top products</a:t>
            </a:r>
            <a:endParaRPr lang="en-US" sz="1400" dirty="0"/>
          </a:p>
        </p:txBody>
      </p:sp>
      <p:sp>
        <p:nvSpPr>
          <p:cNvPr id="77" name="Request pill"/>
          <p:cNvSpPr/>
          <p:nvPr/>
        </p:nvSpPr>
        <p:spPr>
          <a:xfrm>
            <a:off x="9006840" y="4608576"/>
            <a:ext cx="2468880" cy="658368"/>
          </a:xfrm>
          <a:prstGeom prst="roundRect">
            <a:avLst>
              <a:gd name="adj" fmla="val 19444"/>
            </a:avLst>
          </a:prstGeom>
          <a:solidFill>
            <a:schemeClr val="tx1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8" name="Badge"/>
          <p:cNvSpPr/>
          <p:nvPr/>
        </p:nvSpPr>
        <p:spPr>
          <a:xfrm>
            <a:off x="9098280" y="4700016"/>
            <a:ext cx="475488" cy="475488"/>
          </a:xfrm>
          <a:prstGeom prst="ellipse">
            <a:avLst/>
          </a:prstGeom>
          <a:solidFill>
            <a:srgbClr val="22C3B0"/>
          </a:solidFill>
          <a:ln w="19050">
            <a:solidFill>
              <a:schemeClr val="bg1"/>
            </a:solidFill>
            <a:prstDash val="solid"/>
          </a:ln>
        </p:spPr>
      </p:sp>
      <p:sp>
        <p:nvSpPr>
          <p:cNvPr id="79" name="Text 76"/>
          <p:cNvSpPr txBox="1"/>
          <p:nvPr/>
        </p:nvSpPr>
        <p:spPr>
          <a:xfrm>
            <a:off x="9098280" y="470001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tx1"/>
                </a:solidFill>
              </a:rPr>
              <a:t>18</a:t>
            </a:r>
            <a:endParaRPr lang="en-US" sz="1300" dirty="0"/>
          </a:p>
        </p:txBody>
      </p:sp>
      <p:sp>
        <p:nvSpPr>
          <p:cNvPr id="80" name="Text 77"/>
          <p:cNvSpPr txBox="1"/>
          <p:nvPr/>
        </p:nvSpPr>
        <p:spPr>
          <a:xfrm>
            <a:off x="9665208" y="4608576"/>
            <a:ext cx="1737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bg1"/>
                </a:solidFill>
              </a:rPr>
              <a:t>Top markets</a:t>
            </a:r>
            <a:endParaRPr lang="en-US" sz="1400" dirty="0"/>
          </a:p>
        </p:txBody>
      </p:sp>
      <p:sp>
        <p:nvSpPr>
          <p:cNvPr id="81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CADCFC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27432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bg1"/>
                </a:solidFill>
              </a:rPr>
              <a:t>Headline insights at a glance</a:t>
            </a:r>
            <a:endParaRPr lang="en-US" sz="3000" dirty="0"/>
          </a:p>
        </p:txBody>
      </p:sp>
      <p:sp>
        <p:nvSpPr>
          <p:cNvPr id="3" name="Mascot ring"/>
          <p:cNvSpPr/>
          <p:nvPr/>
        </p:nvSpPr>
        <p:spPr>
          <a:xfrm>
            <a:off x="10835640" y="228600"/>
            <a:ext cx="914400" cy="9144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  <a:prstDash val="solid"/>
          </a:ln>
          <a:effectLst>
            <a:outerShdw blurRad="101600" dist="63500" dir="2700000" algn="bl" rotWithShape="0">
              <a:srgbClr val="111A3E">
                <a:alpha val="100000"/>
              </a:srgbClr>
            </a:outerShdw>
          </a:effectLst>
        </p:spPr>
      </p:sp>
      <p:pic>
        <p:nvPicPr>
          <p:cNvPr id="4" name="Image 0" descr="Cartoon masco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45368" y="338328"/>
            <a:ext cx="694944" cy="694944"/>
          </a:xfrm>
          <a:prstGeom prst="rect">
            <a:avLst/>
          </a:prstGeom>
        </p:spPr>
      </p:pic>
      <p:sp>
        <p:nvSpPr>
          <p:cNvPr id="5" name="KPI card"/>
          <p:cNvSpPr/>
          <p:nvPr/>
        </p:nvSpPr>
        <p:spPr>
          <a:xfrm>
            <a:off x="548640" y="1417320"/>
            <a:ext cx="3611880" cy="2331720"/>
          </a:xfrm>
          <a:prstGeom prst="roundRect">
            <a:avLst>
              <a:gd name="adj" fmla="val 6275"/>
            </a:avLst>
          </a:prstGeom>
          <a:solidFill>
            <a:schemeClr val="bg1"/>
          </a:solidFill>
          <a:ln w="25400">
            <a:solidFill>
              <a:schemeClr val="tx1"/>
            </a:solidFill>
            <a:prstDash val="solid"/>
          </a:ln>
          <a:effectLst>
            <a:outerShdw blurRad="101600" dist="63500" dir="2700000" algn="bl" rotWithShape="0">
              <a:srgbClr val="070D26">
                <a:alpha val="100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822960" y="155448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chemeClr val="accent1"/>
                </a:solidFill>
              </a:rPr>
              <a:t>+36%</a:t>
            </a:r>
            <a:endParaRPr lang="en-US" sz="4400" dirty="0"/>
          </a:p>
        </p:txBody>
      </p:sp>
      <p:sp>
        <p:nvSpPr>
          <p:cNvPr id="7" name="Chip"/>
          <p:cNvSpPr/>
          <p:nvPr/>
        </p:nvSpPr>
        <p:spPr>
          <a:xfrm>
            <a:off x="3291840" y="1691640"/>
            <a:ext cx="594360" cy="310896"/>
          </a:xfrm>
          <a:prstGeom prst="roundRect">
            <a:avLst>
              <a:gd name="adj" fmla="val 50000"/>
            </a:avLst>
          </a:prstGeom>
          <a:solidFill>
            <a:srgbClr val="FFC53D"/>
          </a:solidFill>
          <a:ln w="19050">
            <a:solidFill>
              <a:schemeClr val="tx1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3291840" y="1691640"/>
            <a:ext cx="594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chemeClr val="tx1"/>
                </a:solidFill>
              </a:rPr>
              <a:t>R2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822960" y="242316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Product range grew in a year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822960" y="2834640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2"/>
                </a:solidFill>
              </a:rPr>
              <a:t>245 to 334 unique products, about 7 launches a month.</a:t>
            </a:r>
            <a:endParaRPr lang="en-US" sz="1300" dirty="0"/>
          </a:p>
        </p:txBody>
      </p:sp>
      <p:sp>
        <p:nvSpPr>
          <p:cNvPr id="11" name="KPI card"/>
          <p:cNvSpPr/>
          <p:nvPr/>
        </p:nvSpPr>
        <p:spPr>
          <a:xfrm>
            <a:off x="4297680" y="1417320"/>
            <a:ext cx="3611880" cy="2331720"/>
          </a:xfrm>
          <a:prstGeom prst="roundRect">
            <a:avLst>
              <a:gd name="adj" fmla="val 6275"/>
            </a:avLst>
          </a:prstGeom>
          <a:solidFill>
            <a:schemeClr val="bg1"/>
          </a:solidFill>
          <a:ln w="25400">
            <a:solidFill>
              <a:schemeClr val="tx1"/>
            </a:solidFill>
            <a:prstDash val="solid"/>
          </a:ln>
          <a:effectLst>
            <a:outerShdw blurRad="101600" dist="63500" dir="2700000" algn="bl" rotWithShape="0">
              <a:srgbClr val="070D26">
                <a:alpha val="100000"/>
              </a:srgbClr>
            </a:outerShdw>
          </a:effectLst>
        </p:spPr>
      </p:sp>
      <p:sp>
        <p:nvSpPr>
          <p:cNvPr id="12" name="Text 9"/>
          <p:cNvSpPr txBox="1"/>
          <p:nvPr/>
        </p:nvSpPr>
        <p:spPr>
          <a:xfrm>
            <a:off x="4572000" y="155448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chemeClr val="accent6"/>
                </a:solidFill>
              </a:rPr>
              <a:t>82.87%</a:t>
            </a:r>
            <a:endParaRPr lang="en-US" sz="4400" dirty="0"/>
          </a:p>
        </p:txBody>
      </p:sp>
      <p:sp>
        <p:nvSpPr>
          <p:cNvPr id="13" name="Chip"/>
          <p:cNvSpPr/>
          <p:nvPr/>
        </p:nvSpPr>
        <p:spPr>
          <a:xfrm>
            <a:off x="7040880" y="1691640"/>
            <a:ext cx="594360" cy="310896"/>
          </a:xfrm>
          <a:prstGeom prst="roundRect">
            <a:avLst>
              <a:gd name="adj" fmla="val 50000"/>
            </a:avLst>
          </a:prstGeom>
          <a:solidFill>
            <a:srgbClr val="FFC53D"/>
          </a:solidFill>
          <a:ln w="19050">
            <a:solidFill>
              <a:schemeClr val="tx1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7040880" y="1691640"/>
            <a:ext cx="594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chemeClr val="tx1"/>
                </a:solidFill>
              </a:rPr>
              <a:t>R3</a:t>
            </a:r>
            <a:endParaRPr lang="en-US" sz="1100" dirty="0"/>
          </a:p>
        </p:txBody>
      </p:sp>
      <p:sp>
        <p:nvSpPr>
          <p:cNvPr id="15" name="Text 12"/>
          <p:cNvSpPr txBox="1"/>
          <p:nvPr/>
        </p:nvSpPr>
        <p:spPr>
          <a:xfrm>
            <a:off x="4572000" y="242316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of variety sits in 3 segments</a:t>
            </a:r>
            <a:endParaRPr lang="en-US" sz="1600" dirty="0"/>
          </a:p>
        </p:txBody>
      </p:sp>
      <p:sp>
        <p:nvSpPr>
          <p:cNvPr id="16" name="Text 13"/>
          <p:cNvSpPr txBox="1"/>
          <p:nvPr/>
        </p:nvSpPr>
        <p:spPr>
          <a:xfrm>
            <a:off x="4572000" y="2834640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2"/>
                </a:solidFill>
              </a:rPr>
              <a:t>Notebook, Accessories and Peripherals dominate the range.</a:t>
            </a:r>
            <a:endParaRPr lang="en-US" sz="1300" dirty="0"/>
          </a:p>
        </p:txBody>
      </p:sp>
      <p:sp>
        <p:nvSpPr>
          <p:cNvPr id="17" name="KPI card"/>
          <p:cNvSpPr/>
          <p:nvPr/>
        </p:nvSpPr>
        <p:spPr>
          <a:xfrm>
            <a:off x="8046720" y="1417320"/>
            <a:ext cx="3611880" cy="2331720"/>
          </a:xfrm>
          <a:prstGeom prst="roundRect">
            <a:avLst>
              <a:gd name="adj" fmla="val 6275"/>
            </a:avLst>
          </a:prstGeom>
          <a:solidFill>
            <a:schemeClr val="bg1"/>
          </a:solidFill>
          <a:ln w="25400">
            <a:solidFill>
              <a:schemeClr val="tx1"/>
            </a:solidFill>
            <a:prstDash val="solid"/>
          </a:ln>
          <a:effectLst>
            <a:outerShdw blurRad="101600" dist="63500" dir="2700000" algn="bl" rotWithShape="0">
              <a:srgbClr val="070D26">
                <a:alpha val="100000"/>
              </a:srgbClr>
            </a:outerShdw>
          </a:effectLst>
        </p:spPr>
      </p:sp>
      <p:sp>
        <p:nvSpPr>
          <p:cNvPr id="18" name="Text 15"/>
          <p:cNvSpPr txBox="1"/>
          <p:nvPr/>
        </p:nvSpPr>
        <p:spPr>
          <a:xfrm>
            <a:off x="8321040" y="155448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chemeClr val="accent3"/>
                </a:solidFill>
              </a:rPr>
              <a:t>73.22%</a:t>
            </a:r>
            <a:endParaRPr lang="en-US" sz="4400" dirty="0"/>
          </a:p>
        </p:txBody>
      </p:sp>
      <p:sp>
        <p:nvSpPr>
          <p:cNvPr id="19" name="Chip"/>
          <p:cNvSpPr/>
          <p:nvPr/>
        </p:nvSpPr>
        <p:spPr>
          <a:xfrm>
            <a:off x="10789920" y="1691640"/>
            <a:ext cx="594360" cy="310896"/>
          </a:xfrm>
          <a:prstGeom prst="roundRect">
            <a:avLst>
              <a:gd name="adj" fmla="val 50000"/>
            </a:avLst>
          </a:prstGeom>
          <a:solidFill>
            <a:srgbClr val="FFC53D"/>
          </a:solidFill>
          <a:ln w="19050">
            <a:solidFill>
              <a:schemeClr val="tx1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10789920" y="1691640"/>
            <a:ext cx="594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chemeClr val="tx1"/>
                </a:solidFill>
              </a:rPr>
              <a:t>R9</a:t>
            </a:r>
            <a:endParaRPr lang="en-US" sz="1100" dirty="0"/>
          </a:p>
        </p:txBody>
      </p:sp>
      <p:sp>
        <p:nvSpPr>
          <p:cNvPr id="21" name="Text 18"/>
          <p:cNvSpPr txBox="1"/>
          <p:nvPr/>
        </p:nvSpPr>
        <p:spPr>
          <a:xfrm>
            <a:off x="8321040" y="242316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of gross sales via Retailers</a:t>
            </a:r>
            <a:endParaRPr lang="en-US" sz="1600" dirty="0"/>
          </a:p>
        </p:txBody>
      </p:sp>
      <p:sp>
        <p:nvSpPr>
          <p:cNvPr id="22" name="Text 19"/>
          <p:cNvSpPr txBox="1"/>
          <p:nvPr/>
        </p:nvSpPr>
        <p:spPr>
          <a:xfrm>
            <a:off x="8321040" y="2834640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2"/>
                </a:solidFill>
              </a:rPr>
              <a:t>Retail is about 4.7x Direct: a concentration risk.</a:t>
            </a:r>
            <a:endParaRPr lang="en-US" sz="1300" dirty="0"/>
          </a:p>
        </p:txBody>
      </p:sp>
      <p:sp>
        <p:nvSpPr>
          <p:cNvPr id="23" name="KPI card"/>
          <p:cNvSpPr/>
          <p:nvPr/>
        </p:nvSpPr>
        <p:spPr>
          <a:xfrm>
            <a:off x="548640" y="3931920"/>
            <a:ext cx="3611880" cy="2331720"/>
          </a:xfrm>
          <a:prstGeom prst="roundRect">
            <a:avLst>
              <a:gd name="adj" fmla="val 6275"/>
            </a:avLst>
          </a:prstGeom>
          <a:solidFill>
            <a:schemeClr val="bg1"/>
          </a:solidFill>
          <a:ln w="25400">
            <a:solidFill>
              <a:schemeClr val="tx1"/>
            </a:solidFill>
            <a:prstDash val="solid"/>
          </a:ln>
          <a:effectLst>
            <a:outerShdw blurRad="101600" dist="63500" dir="2700000" algn="bl" rotWithShape="0">
              <a:srgbClr val="070D26">
                <a:alpha val="100000"/>
              </a:srgbClr>
            </a:outerShdw>
          </a:effectLst>
        </p:spPr>
      </p:sp>
      <p:sp>
        <p:nvSpPr>
          <p:cNvPr id="24" name="Text 21"/>
          <p:cNvSpPr txBox="1"/>
          <p:nvPr/>
        </p:nvSpPr>
        <p:spPr>
          <a:xfrm>
            <a:off x="822960" y="406908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chemeClr val="accent4"/>
                </a:solidFill>
              </a:rPr>
              <a:t>110x</a:t>
            </a:r>
            <a:endParaRPr lang="en-US" sz="4400" dirty="0"/>
          </a:p>
        </p:txBody>
      </p:sp>
      <p:sp>
        <p:nvSpPr>
          <p:cNvPr id="25" name="Chip"/>
          <p:cNvSpPr/>
          <p:nvPr/>
        </p:nvSpPr>
        <p:spPr>
          <a:xfrm>
            <a:off x="3291840" y="4206240"/>
            <a:ext cx="594360" cy="310896"/>
          </a:xfrm>
          <a:prstGeom prst="roundRect">
            <a:avLst>
              <a:gd name="adj" fmla="val 50000"/>
            </a:avLst>
          </a:prstGeom>
          <a:solidFill>
            <a:srgbClr val="FFC53D"/>
          </a:solidFill>
          <a:ln w="19050">
            <a:solidFill>
              <a:schemeClr val="tx1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3291840" y="4206240"/>
            <a:ext cx="594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chemeClr val="tx1"/>
                </a:solidFill>
              </a:rPr>
              <a:t>R14</a:t>
            </a:r>
            <a:endParaRPr lang="en-US" sz="1100" dirty="0"/>
          </a:p>
        </p:txBody>
      </p:sp>
      <p:sp>
        <p:nvSpPr>
          <p:cNvPr id="27" name="Text 24"/>
          <p:cNvSpPr txBox="1"/>
          <p:nvPr/>
        </p:nvSpPr>
        <p:spPr>
          <a:xfrm>
            <a:off x="822960" y="493776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Croma sales growth since 2017</a:t>
            </a:r>
            <a:endParaRPr lang="en-US" sz="1600" dirty="0"/>
          </a:p>
        </p:txBody>
      </p:sp>
      <p:sp>
        <p:nvSpPr>
          <p:cNvPr id="28" name="Text 25"/>
          <p:cNvSpPr txBox="1"/>
          <p:nvPr/>
        </p:nvSpPr>
        <p:spPr>
          <a:xfrm>
            <a:off x="822960" y="5349240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2"/>
                </a:solidFill>
              </a:rPr>
              <a:t>0.53M to 58.37M, more than doubling every year.</a:t>
            </a:r>
            <a:endParaRPr lang="en-US" sz="1300" dirty="0"/>
          </a:p>
        </p:txBody>
      </p:sp>
      <p:sp>
        <p:nvSpPr>
          <p:cNvPr id="29" name="KPI card"/>
          <p:cNvSpPr/>
          <p:nvPr/>
        </p:nvSpPr>
        <p:spPr>
          <a:xfrm>
            <a:off x="4297680" y="3931920"/>
            <a:ext cx="3611880" cy="2331720"/>
          </a:xfrm>
          <a:prstGeom prst="roundRect">
            <a:avLst>
              <a:gd name="adj" fmla="val 6275"/>
            </a:avLst>
          </a:prstGeom>
          <a:solidFill>
            <a:schemeClr val="bg1"/>
          </a:solidFill>
          <a:ln w="25400">
            <a:solidFill>
              <a:schemeClr val="tx1"/>
            </a:solidFill>
            <a:prstDash val="solid"/>
          </a:ln>
          <a:effectLst>
            <a:outerShdw blurRad="101600" dist="63500" dir="2700000" algn="bl" rotWithShape="0">
              <a:srgbClr val="070D26">
                <a:alpha val="100000"/>
              </a:srgbClr>
            </a:outerShdw>
          </a:effectLst>
        </p:spPr>
      </p:sp>
      <p:sp>
        <p:nvSpPr>
          <p:cNvPr id="30" name="Text 27"/>
          <p:cNvSpPr txBox="1"/>
          <p:nvPr/>
        </p:nvSpPr>
        <p:spPr>
          <a:xfrm>
            <a:off x="4572000" y="406908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chemeClr val="accent5"/>
                </a:solidFill>
              </a:rPr>
              <a:t>1.6x</a:t>
            </a:r>
            <a:endParaRPr lang="en-US" sz="4400" dirty="0"/>
          </a:p>
        </p:txBody>
      </p:sp>
      <p:sp>
        <p:nvSpPr>
          <p:cNvPr id="31" name="Chip"/>
          <p:cNvSpPr/>
          <p:nvPr/>
        </p:nvSpPr>
        <p:spPr>
          <a:xfrm>
            <a:off x="7040880" y="4206240"/>
            <a:ext cx="594360" cy="310896"/>
          </a:xfrm>
          <a:prstGeom prst="roundRect">
            <a:avLst>
              <a:gd name="adj" fmla="val 50000"/>
            </a:avLst>
          </a:prstGeom>
          <a:solidFill>
            <a:srgbClr val="FFC53D"/>
          </a:solidFill>
          <a:ln w="19050">
            <a:solidFill>
              <a:schemeClr val="tx1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7040880" y="4206240"/>
            <a:ext cx="594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chemeClr val="tx1"/>
                </a:solidFill>
              </a:rPr>
              <a:t>R18</a:t>
            </a:r>
            <a:endParaRPr lang="en-US" sz="1100" dirty="0"/>
          </a:p>
        </p:txBody>
      </p:sp>
      <p:sp>
        <p:nvSpPr>
          <p:cNvPr id="33" name="Text 30"/>
          <p:cNvSpPr txBox="1"/>
          <p:nvPr/>
        </p:nvSpPr>
        <p:spPr>
          <a:xfrm>
            <a:off x="4572000" y="493776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India vs USA in net sales</a:t>
            </a:r>
            <a:endParaRPr lang="en-US" sz="1600" dirty="0"/>
          </a:p>
        </p:txBody>
      </p:sp>
      <p:sp>
        <p:nvSpPr>
          <p:cNvPr id="34" name="Text 31"/>
          <p:cNvSpPr txBox="1"/>
          <p:nvPr/>
        </p:nvSpPr>
        <p:spPr>
          <a:xfrm>
            <a:off x="4572000" y="5349240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2"/>
                </a:solidFill>
              </a:rPr>
              <a:t>210.67M vs 132.05M: India is 47% of the top four.</a:t>
            </a:r>
            <a:endParaRPr lang="en-US" sz="1300" dirty="0"/>
          </a:p>
        </p:txBody>
      </p:sp>
      <p:sp>
        <p:nvSpPr>
          <p:cNvPr id="35" name="KPI card"/>
          <p:cNvSpPr/>
          <p:nvPr/>
        </p:nvSpPr>
        <p:spPr>
          <a:xfrm>
            <a:off x="8046720" y="3931920"/>
            <a:ext cx="3611880" cy="2331720"/>
          </a:xfrm>
          <a:prstGeom prst="roundRect">
            <a:avLst>
              <a:gd name="adj" fmla="val 6275"/>
            </a:avLst>
          </a:prstGeom>
          <a:solidFill>
            <a:schemeClr val="bg1"/>
          </a:solidFill>
          <a:ln w="25400">
            <a:solidFill>
              <a:schemeClr val="tx1"/>
            </a:solidFill>
            <a:prstDash val="solid"/>
          </a:ln>
          <a:effectLst>
            <a:outerShdw blurRad="101600" dist="63500" dir="2700000" algn="bl" rotWithShape="0">
              <a:srgbClr val="070D26">
                <a:alpha val="100000"/>
              </a:srgbClr>
            </a:outerShdw>
          </a:effectLst>
        </p:spPr>
      </p:sp>
      <p:sp>
        <p:nvSpPr>
          <p:cNvPr id="36" name="Text 33"/>
          <p:cNvSpPr txBox="1"/>
          <p:nvPr/>
        </p:nvSpPr>
        <p:spPr>
          <a:xfrm>
            <a:off x="8321040" y="406908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chemeClr val="accent1"/>
                </a:solidFill>
              </a:rPr>
              <a:t>0%</a:t>
            </a:r>
            <a:endParaRPr lang="en-US" sz="4400" dirty="0"/>
          </a:p>
        </p:txBody>
      </p:sp>
      <p:sp>
        <p:nvSpPr>
          <p:cNvPr id="37" name="Chip"/>
          <p:cNvSpPr/>
          <p:nvPr/>
        </p:nvSpPr>
        <p:spPr>
          <a:xfrm>
            <a:off x="10789920" y="4206240"/>
            <a:ext cx="594360" cy="310896"/>
          </a:xfrm>
          <a:prstGeom prst="roundRect">
            <a:avLst>
              <a:gd name="adj" fmla="val 50000"/>
            </a:avLst>
          </a:prstGeom>
          <a:solidFill>
            <a:srgbClr val="FFC53D"/>
          </a:solidFill>
          <a:ln w="19050">
            <a:solidFill>
              <a:schemeClr val="tx1"/>
            </a:solidFill>
            <a:prstDash val="solid"/>
          </a:ln>
        </p:spPr>
      </p:sp>
      <p:sp>
        <p:nvSpPr>
          <p:cNvPr id="38" name="Text 35"/>
          <p:cNvSpPr txBox="1"/>
          <p:nvPr/>
        </p:nvSpPr>
        <p:spPr>
          <a:xfrm>
            <a:off x="10789920" y="4206240"/>
            <a:ext cx="594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chemeClr val="tx1"/>
                </a:solidFill>
              </a:rPr>
              <a:t>R16</a:t>
            </a:r>
            <a:endParaRPr lang="en-US" sz="1100" dirty="0"/>
          </a:p>
        </p:txBody>
      </p:sp>
      <p:sp>
        <p:nvSpPr>
          <p:cNvPr id="39" name="Text 36"/>
          <p:cNvSpPr txBox="1"/>
          <p:nvPr/>
        </p:nvSpPr>
        <p:spPr>
          <a:xfrm>
            <a:off x="8321040" y="493776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Forecast accuracy in the Netherlands</a:t>
            </a:r>
            <a:endParaRPr lang="en-US" sz="1600" dirty="0"/>
          </a:p>
        </p:txBody>
      </p:sp>
      <p:sp>
        <p:nvSpPr>
          <p:cNvPr id="40" name="Text 37"/>
          <p:cNvSpPr txBox="1"/>
          <p:nvPr/>
        </p:nvSpPr>
        <p:spPr>
          <a:xfrm>
            <a:off x="8321040" y="5349240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2"/>
                </a:solidFill>
              </a:rPr>
              <a:t>Down from 35-39% in FY2020: the steepest fall.</a:t>
            </a:r>
            <a:endParaRPr lang="en-US" sz="1300" dirty="0"/>
          </a:p>
        </p:txBody>
      </p:sp>
      <p:sp>
        <p:nvSpPr>
          <p:cNvPr id="41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CADCFC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27432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1"/>
                </a:solidFill>
              </a:rPr>
              <a:t>AtliQ Exclusive spans 8 APAC markets</a:t>
            </a:r>
            <a:endParaRPr lang="en-US" sz="3000" dirty="0"/>
          </a:p>
        </p:txBody>
      </p:sp>
      <p:sp>
        <p:nvSpPr>
          <p:cNvPr id="3" name="Mascot ring"/>
          <p:cNvSpPr/>
          <p:nvPr/>
        </p:nvSpPr>
        <p:spPr>
          <a:xfrm>
            <a:off x="10835640" y="228600"/>
            <a:ext cx="914400" cy="9144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  <a:prstDash val="solid"/>
          </a:ln>
          <a:effectLst>
            <a:outerShdw blurRad="101600" dist="63500" dir="2700000" algn="bl" rotWithShape="0">
              <a:srgbClr val="111A3E">
                <a:alpha val="100000"/>
              </a:srgbClr>
            </a:outerShdw>
          </a:effectLst>
        </p:spPr>
      </p:sp>
      <p:pic>
        <p:nvPicPr>
          <p:cNvPr id="4" name="Image 0" descr="Cartoon masco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45368" y="338328"/>
            <a:ext cx="694944" cy="694944"/>
          </a:xfrm>
          <a:prstGeom prst="rect">
            <a:avLst/>
          </a:prstGeom>
        </p:spPr>
      </p:pic>
      <p:sp>
        <p:nvSpPr>
          <p:cNvPr id="5" name="Chip"/>
          <p:cNvSpPr/>
          <p:nvPr/>
        </p:nvSpPr>
        <p:spPr>
          <a:xfrm>
            <a:off x="548640" y="1097280"/>
            <a:ext cx="1463040" cy="347472"/>
          </a:xfrm>
          <a:prstGeom prst="roundRect">
            <a:avLst>
              <a:gd name="adj" fmla="val 50000"/>
            </a:avLst>
          </a:prstGeom>
          <a:solidFill>
            <a:srgbClr val="FF5A5F"/>
          </a:solidFill>
          <a:ln w="19050">
            <a:solidFill>
              <a:schemeClr val="tx1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48640" y="1097280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chemeClr val="bg1"/>
                </a:solidFill>
              </a:rPr>
              <a:t>REQUEST 01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2194560" y="1097280"/>
            <a:ext cx="8046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chemeClr val="tx2"/>
                </a:solidFill>
              </a:rPr>
              <a:t>Which markets does the customer AtliQ Exclusive operate in within the APAC region?</a:t>
            </a:r>
            <a:endParaRPr lang="en-US" sz="1400" dirty="0"/>
          </a:p>
        </p:txBody>
      </p:sp>
      <p:sp>
        <p:nvSpPr>
          <p:cNvPr id="8" name="Chip"/>
          <p:cNvSpPr/>
          <p:nvPr/>
        </p:nvSpPr>
        <p:spPr>
          <a:xfrm>
            <a:off x="10424160" y="1097280"/>
            <a:ext cx="1234440" cy="347472"/>
          </a:xfrm>
          <a:prstGeom prst="roundRect">
            <a:avLst>
              <a:gd name="adj" fmla="val 50000"/>
            </a:avLst>
          </a:prstGeom>
          <a:solidFill>
            <a:srgbClr val="22C3B0"/>
          </a:solidFill>
          <a:ln w="19050">
            <a:solidFill>
              <a:schemeClr val="tx1"/>
            </a:solidFill>
            <a:prstDash val="solid"/>
          </a:ln>
        </p:spPr>
      </p:sp>
      <p:sp>
        <p:nvSpPr>
          <p:cNvPr id="9" name="Text 6">
            <a:hlinkClick r:id="rId4" action="ppaction://hlinksldjump" tooltip="Open SQL query and output"/>
          </p:cNvPr>
          <p:cNvSpPr txBox="1"/>
          <p:nvPr/>
        </p:nvSpPr>
        <p:spPr>
          <a:xfrm>
            <a:off x="10424160" y="1097280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u="sng" kern="0" spc="100" dirty="0">
                <a:solidFill>
                  <a:schemeClr val="tx1"/>
                </a:solidFill>
                <a:hlinkClick r:id="rId4" action="ppaction://hlinksldjump" tooltip="Open SQL query and output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SQL  p.31</a:t>
            </a:r>
            <a:endParaRPr lang="en-US" sz="1200" dirty="0"/>
          </a:p>
        </p:txBody>
      </p:sp>
      <p:sp>
        <p:nvSpPr>
          <p:cNvPr id="10" name="Markets card"/>
          <p:cNvSpPr/>
          <p:nvPr/>
        </p:nvSpPr>
        <p:spPr>
          <a:xfrm>
            <a:off x="548640" y="1645920"/>
            <a:ext cx="6949440" cy="4617720"/>
          </a:xfrm>
          <a:prstGeom prst="roundRect">
            <a:avLst>
              <a:gd name="adj" fmla="val 3168"/>
            </a:avLst>
          </a:prstGeom>
          <a:solidFill>
            <a:schemeClr val="bg1"/>
          </a:solidFill>
          <a:ln w="25400">
            <a:solidFill>
              <a:schemeClr val="tx1"/>
            </a:solidFill>
            <a:prstDash val="solid"/>
          </a:ln>
          <a:effectLst>
            <a:outerShdw blurRad="101600" dist="63500" dir="2700000" algn="bl" rotWithShape="0">
              <a:srgbClr val="111A3E">
                <a:alpha val="100000"/>
              </a:srgbClr>
            </a:outerShdw>
          </a:effectLst>
        </p:spPr>
      </p:sp>
      <p:sp>
        <p:nvSpPr>
          <p:cNvPr id="11" name="Text 8"/>
          <p:cNvSpPr txBox="1"/>
          <p:nvPr/>
        </p:nvSpPr>
        <p:spPr>
          <a:xfrm>
            <a:off x="777240" y="2011680"/>
            <a:ext cx="20116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0" b="1" dirty="0">
                <a:solidFill>
                  <a:schemeClr val="accent1"/>
                </a:solidFill>
              </a:rPr>
              <a:t>8</a:t>
            </a:r>
            <a:endParaRPr lang="en-US" sz="11000" dirty="0"/>
          </a:p>
        </p:txBody>
      </p:sp>
      <p:sp>
        <p:nvSpPr>
          <p:cNvPr id="12" name="Text 9"/>
          <p:cNvSpPr txBox="1"/>
          <p:nvPr/>
        </p:nvSpPr>
        <p:spPr>
          <a:xfrm>
            <a:off x="777240" y="374904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countries in the APAC region</a:t>
            </a:r>
            <a:endParaRPr lang="en-US" sz="1600" dirty="0"/>
          </a:p>
        </p:txBody>
      </p:sp>
      <p:sp>
        <p:nvSpPr>
          <p:cNvPr id="13" name="Chip"/>
          <p:cNvSpPr/>
          <p:nvPr/>
        </p:nvSpPr>
        <p:spPr>
          <a:xfrm>
            <a:off x="3017520" y="1965960"/>
            <a:ext cx="2011680" cy="566928"/>
          </a:xfrm>
          <a:prstGeom prst="roundRect">
            <a:avLst>
              <a:gd name="adj" fmla="val 50000"/>
            </a:avLst>
          </a:prstGeom>
          <a:solidFill>
            <a:srgbClr val="FF5A5F"/>
          </a:solidFill>
          <a:ln w="25400">
            <a:solidFill>
              <a:schemeClr val="tx1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3017520" y="1965960"/>
            <a:ext cx="2011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bg1"/>
                </a:solidFill>
              </a:rPr>
              <a:t>India</a:t>
            </a:r>
            <a:endParaRPr lang="en-US" sz="1500" dirty="0"/>
          </a:p>
        </p:txBody>
      </p:sp>
      <p:sp>
        <p:nvSpPr>
          <p:cNvPr id="15" name="Chip"/>
          <p:cNvSpPr/>
          <p:nvPr/>
        </p:nvSpPr>
        <p:spPr>
          <a:xfrm>
            <a:off x="5212080" y="1965960"/>
            <a:ext cx="2011680" cy="566928"/>
          </a:xfrm>
          <a:prstGeom prst="roundRect">
            <a:avLst>
              <a:gd name="adj" fmla="val 50000"/>
            </a:avLst>
          </a:prstGeom>
          <a:solidFill>
            <a:srgbClr val="FF5A5F"/>
          </a:solidFill>
          <a:ln w="25400">
            <a:solidFill>
              <a:schemeClr val="tx1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5212080" y="1965960"/>
            <a:ext cx="2011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bg1"/>
                </a:solidFill>
              </a:rPr>
              <a:t>Bangladesh</a:t>
            </a:r>
            <a:endParaRPr lang="en-US" sz="1500" dirty="0"/>
          </a:p>
        </p:txBody>
      </p:sp>
      <p:sp>
        <p:nvSpPr>
          <p:cNvPr id="17" name="Chip"/>
          <p:cNvSpPr/>
          <p:nvPr/>
        </p:nvSpPr>
        <p:spPr>
          <a:xfrm>
            <a:off x="3017520" y="2743200"/>
            <a:ext cx="2011680" cy="566928"/>
          </a:xfrm>
          <a:prstGeom prst="roundRect">
            <a:avLst>
              <a:gd name="adj" fmla="val 50000"/>
            </a:avLst>
          </a:prstGeom>
          <a:solidFill>
            <a:srgbClr val="3D8BFF"/>
          </a:solidFill>
          <a:ln w="25400">
            <a:solidFill>
              <a:schemeClr val="tx1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3017520" y="2743200"/>
            <a:ext cx="2011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bg1"/>
                </a:solidFill>
              </a:rPr>
              <a:t>Japan</a:t>
            </a:r>
            <a:endParaRPr lang="en-US" sz="1500" dirty="0"/>
          </a:p>
        </p:txBody>
      </p:sp>
      <p:sp>
        <p:nvSpPr>
          <p:cNvPr id="19" name="Chip"/>
          <p:cNvSpPr/>
          <p:nvPr/>
        </p:nvSpPr>
        <p:spPr>
          <a:xfrm>
            <a:off x="5212080" y="2743200"/>
            <a:ext cx="2011680" cy="566928"/>
          </a:xfrm>
          <a:prstGeom prst="roundRect">
            <a:avLst>
              <a:gd name="adj" fmla="val 50000"/>
            </a:avLst>
          </a:prstGeom>
          <a:solidFill>
            <a:srgbClr val="3D8BFF"/>
          </a:solidFill>
          <a:ln w="25400">
            <a:solidFill>
              <a:schemeClr val="tx1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5212080" y="2743200"/>
            <a:ext cx="2011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bg1"/>
                </a:solidFill>
              </a:rPr>
              <a:t>South Korea</a:t>
            </a:r>
            <a:endParaRPr lang="en-US" sz="1500" dirty="0"/>
          </a:p>
        </p:txBody>
      </p:sp>
      <p:sp>
        <p:nvSpPr>
          <p:cNvPr id="21" name="Chip"/>
          <p:cNvSpPr/>
          <p:nvPr/>
        </p:nvSpPr>
        <p:spPr>
          <a:xfrm>
            <a:off x="3017520" y="3520440"/>
            <a:ext cx="2011680" cy="566928"/>
          </a:xfrm>
          <a:prstGeom prst="roundRect">
            <a:avLst>
              <a:gd name="adj" fmla="val 50000"/>
            </a:avLst>
          </a:prstGeom>
          <a:solidFill>
            <a:srgbClr val="22C3B0"/>
          </a:solidFill>
          <a:ln w="25400">
            <a:solidFill>
              <a:schemeClr val="tx1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3017520" y="3520440"/>
            <a:ext cx="2011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tx1"/>
                </a:solidFill>
              </a:rPr>
              <a:t>Indonesia</a:t>
            </a:r>
            <a:endParaRPr lang="en-US" sz="1500" dirty="0"/>
          </a:p>
        </p:txBody>
      </p:sp>
      <p:sp>
        <p:nvSpPr>
          <p:cNvPr id="23" name="Chip"/>
          <p:cNvSpPr/>
          <p:nvPr/>
        </p:nvSpPr>
        <p:spPr>
          <a:xfrm>
            <a:off x="5212080" y="3520440"/>
            <a:ext cx="2011680" cy="566928"/>
          </a:xfrm>
          <a:prstGeom prst="roundRect">
            <a:avLst>
              <a:gd name="adj" fmla="val 50000"/>
            </a:avLst>
          </a:prstGeom>
          <a:solidFill>
            <a:srgbClr val="22C3B0"/>
          </a:solidFill>
          <a:ln w="25400">
            <a:solidFill>
              <a:schemeClr val="tx1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5212080" y="3520440"/>
            <a:ext cx="2011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tx1"/>
                </a:solidFill>
              </a:rPr>
              <a:t>Philippines</a:t>
            </a:r>
            <a:endParaRPr lang="en-US" sz="1500" dirty="0"/>
          </a:p>
        </p:txBody>
      </p:sp>
      <p:sp>
        <p:nvSpPr>
          <p:cNvPr id="25" name="Chip"/>
          <p:cNvSpPr/>
          <p:nvPr/>
        </p:nvSpPr>
        <p:spPr>
          <a:xfrm>
            <a:off x="3017520" y="4297680"/>
            <a:ext cx="2011680" cy="566928"/>
          </a:xfrm>
          <a:prstGeom prst="roundRect">
            <a:avLst>
              <a:gd name="adj" fmla="val 50000"/>
            </a:avLst>
          </a:prstGeom>
          <a:solidFill>
            <a:srgbClr val="7B61FF"/>
          </a:solidFill>
          <a:ln w="25400">
            <a:solidFill>
              <a:schemeClr val="tx1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3017520" y="4297680"/>
            <a:ext cx="2011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bg1"/>
                </a:solidFill>
              </a:rPr>
              <a:t>Australia</a:t>
            </a:r>
            <a:endParaRPr lang="en-US" sz="1500" dirty="0"/>
          </a:p>
        </p:txBody>
      </p:sp>
      <p:sp>
        <p:nvSpPr>
          <p:cNvPr id="27" name="Chip"/>
          <p:cNvSpPr/>
          <p:nvPr/>
        </p:nvSpPr>
        <p:spPr>
          <a:xfrm>
            <a:off x="5212080" y="4297680"/>
            <a:ext cx="2011680" cy="566928"/>
          </a:xfrm>
          <a:prstGeom prst="roundRect">
            <a:avLst>
              <a:gd name="adj" fmla="val 50000"/>
            </a:avLst>
          </a:prstGeom>
          <a:solidFill>
            <a:srgbClr val="7B61FF"/>
          </a:solidFill>
          <a:ln w="25400">
            <a:solidFill>
              <a:schemeClr val="tx1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5212080" y="4297680"/>
            <a:ext cx="2011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bg1"/>
                </a:solidFill>
              </a:rPr>
              <a:t>New Zealand</a:t>
            </a:r>
            <a:endParaRPr lang="en-US" sz="1500" dirty="0"/>
          </a:p>
        </p:txBody>
      </p:sp>
      <p:sp>
        <p:nvSpPr>
          <p:cNvPr id="29" name="Badge"/>
          <p:cNvSpPr/>
          <p:nvPr/>
        </p:nvSpPr>
        <p:spPr>
          <a:xfrm>
            <a:off x="822960" y="5669280"/>
            <a:ext cx="201168" cy="201168"/>
          </a:xfrm>
          <a:prstGeom prst="ellipse">
            <a:avLst/>
          </a:prstGeom>
          <a:solidFill>
            <a:srgbClr val="FF5A5F"/>
          </a:solidFill>
          <a:ln w="19050">
            <a:solidFill>
              <a:schemeClr val="tx1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1097280" y="5596128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tx1"/>
                </a:solidFill>
              </a:rPr>
              <a:t>South Asia</a:t>
            </a:r>
            <a:endParaRPr lang="en-US" sz="1200" dirty="0"/>
          </a:p>
        </p:txBody>
      </p:sp>
      <p:sp>
        <p:nvSpPr>
          <p:cNvPr id="31" name="Badge"/>
          <p:cNvSpPr/>
          <p:nvPr/>
        </p:nvSpPr>
        <p:spPr>
          <a:xfrm>
            <a:off x="2468880" y="5669280"/>
            <a:ext cx="201168" cy="201168"/>
          </a:xfrm>
          <a:prstGeom prst="ellipse">
            <a:avLst/>
          </a:prstGeom>
          <a:solidFill>
            <a:srgbClr val="3D8BFF"/>
          </a:solidFill>
          <a:ln w="19050">
            <a:solidFill>
              <a:schemeClr val="tx1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2743200" y="5596128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tx1"/>
                </a:solidFill>
              </a:rPr>
              <a:t>East Asia</a:t>
            </a:r>
            <a:endParaRPr lang="en-US" sz="1200" dirty="0"/>
          </a:p>
        </p:txBody>
      </p:sp>
      <p:sp>
        <p:nvSpPr>
          <p:cNvPr id="33" name="Badge"/>
          <p:cNvSpPr/>
          <p:nvPr/>
        </p:nvSpPr>
        <p:spPr>
          <a:xfrm>
            <a:off x="4114800" y="5669280"/>
            <a:ext cx="201168" cy="201168"/>
          </a:xfrm>
          <a:prstGeom prst="ellipse">
            <a:avLst/>
          </a:prstGeom>
          <a:solidFill>
            <a:srgbClr val="22C3B0"/>
          </a:solidFill>
          <a:ln w="19050">
            <a:solidFill>
              <a:schemeClr val="tx1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4389120" y="5596128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tx1"/>
                </a:solidFill>
              </a:rPr>
              <a:t>Southeast Asia</a:t>
            </a:r>
            <a:endParaRPr lang="en-US" sz="1200" dirty="0"/>
          </a:p>
        </p:txBody>
      </p:sp>
      <p:sp>
        <p:nvSpPr>
          <p:cNvPr id="35" name="Badge"/>
          <p:cNvSpPr/>
          <p:nvPr/>
        </p:nvSpPr>
        <p:spPr>
          <a:xfrm>
            <a:off x="5760720" y="5669280"/>
            <a:ext cx="201168" cy="201168"/>
          </a:xfrm>
          <a:prstGeom prst="ellipse">
            <a:avLst/>
          </a:prstGeom>
          <a:solidFill>
            <a:srgbClr val="7B61FF"/>
          </a:solidFill>
          <a:ln w="19050">
            <a:solidFill>
              <a:schemeClr val="tx1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6035040" y="5596128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tx1"/>
                </a:solidFill>
              </a:rPr>
              <a:t>Oceania</a:t>
            </a:r>
            <a:endParaRPr lang="en-US" sz="1200" dirty="0"/>
          </a:p>
        </p:txBody>
      </p:sp>
      <p:sp>
        <p:nvSpPr>
          <p:cNvPr id="37" name="Insights card"/>
          <p:cNvSpPr/>
          <p:nvPr/>
        </p:nvSpPr>
        <p:spPr>
          <a:xfrm>
            <a:off x="7772400" y="1645920"/>
            <a:ext cx="3886200" cy="3108960"/>
          </a:xfrm>
          <a:prstGeom prst="roundRect">
            <a:avLst>
              <a:gd name="adj" fmla="val 4706"/>
            </a:avLst>
          </a:prstGeom>
          <a:solidFill>
            <a:schemeClr val="tx1"/>
          </a:solidFill>
          <a:ln w="25400">
            <a:solidFill>
              <a:schemeClr val="tx1"/>
            </a:solidFill>
            <a:prstDash val="solid"/>
          </a:ln>
          <a:effectLst>
            <a:outerShdw blurRad="101600" dist="63500" dir="2700000" algn="bl" rotWithShape="0">
              <a:srgbClr val="111A3E">
                <a:alpha val="100000"/>
              </a:srgbClr>
            </a:outerShdw>
          </a:effectLst>
        </p:spPr>
      </p:sp>
      <p:sp>
        <p:nvSpPr>
          <p:cNvPr id="38" name="Badge"/>
          <p:cNvSpPr/>
          <p:nvPr/>
        </p:nvSpPr>
        <p:spPr>
          <a:xfrm>
            <a:off x="8001000" y="1847088"/>
            <a:ext cx="384048" cy="384048"/>
          </a:xfrm>
          <a:prstGeom prst="ellipse">
            <a:avLst/>
          </a:prstGeom>
          <a:solidFill>
            <a:srgbClr val="FFC53D"/>
          </a:solidFill>
          <a:ln w="25400">
            <a:solidFill>
              <a:srgbClr val="FFC53D"/>
            </a:solidFill>
            <a:prstDash val="solid"/>
          </a:ln>
        </p:spPr>
      </p:sp>
      <p:pic>
        <p:nvPicPr>
          <p:cNvPr id="39" name="Image 1" descr="FaLightbulb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83296" y="1929384"/>
            <a:ext cx="219456" cy="219456"/>
          </a:xfrm>
          <a:prstGeom prst="rect">
            <a:avLst/>
          </a:prstGeom>
        </p:spPr>
      </p:pic>
      <p:sp>
        <p:nvSpPr>
          <p:cNvPr id="40" name="Text 36"/>
          <p:cNvSpPr txBox="1"/>
          <p:nvPr/>
        </p:nvSpPr>
        <p:spPr>
          <a:xfrm>
            <a:off x="8522208" y="1847088"/>
            <a:ext cx="2971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chemeClr val="accent2"/>
                </a:solidFill>
              </a:rPr>
              <a:t>KEY INSIGHTS</a:t>
            </a:r>
            <a:endParaRPr lang="en-US" sz="1300" dirty="0"/>
          </a:p>
        </p:txBody>
      </p:sp>
      <p:sp>
        <p:nvSpPr>
          <p:cNvPr id="41" name="Text 37"/>
          <p:cNvSpPr txBox="1"/>
          <p:nvPr/>
        </p:nvSpPr>
        <p:spPr>
          <a:xfrm>
            <a:off x="8028432" y="2395728"/>
            <a:ext cx="342900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AtliQ Exclusive operates in eight countries across APAC.</a:t>
            </a:r>
            <a:endParaRPr lang="en-US" sz="14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Coverage is balanced: two markets in each of four sub-regions.</a:t>
            </a:r>
            <a:endParaRPr lang="en-US" sz="1400" dirty="0"/>
          </a:p>
          <a:p>
            <a:pPr marL="177800" indent="-177800">
              <a:buSzPct val="100000"/>
              <a:buChar char="•"/>
            </a:pPr>
            <a:r>
              <a:rPr lang="en-US" sz="1400" b="1" dirty="0">
                <a:solidFill>
                  <a:schemeClr val="accent2"/>
                </a:solidFill>
              </a:rPr>
              <a:t>So what: </a:t>
            </a:r>
            <a:r>
              <a:rPr lang="en-US" sz="1400" dirty="0">
                <a:solidFill>
                  <a:schemeClr val="bg1"/>
                </a:solidFill>
              </a:rPr>
              <a:t>India anchors the region and leads FY2021 net sales (R18).</a:t>
            </a:r>
            <a:endParaRPr lang="en-US" sz="1400" dirty="0"/>
          </a:p>
        </p:txBody>
      </p:sp>
      <p:sp>
        <p:nvSpPr>
          <p:cNvPr id="42" name="Stat card"/>
          <p:cNvSpPr/>
          <p:nvPr/>
        </p:nvSpPr>
        <p:spPr>
          <a:xfrm>
            <a:off x="7772400" y="4937760"/>
            <a:ext cx="3886200" cy="1325880"/>
          </a:xfrm>
          <a:prstGeom prst="roundRect">
            <a:avLst>
              <a:gd name="adj" fmla="val 11034"/>
            </a:avLst>
          </a:prstGeom>
          <a:solidFill>
            <a:schemeClr val="accent2"/>
          </a:solidFill>
          <a:ln w="25400">
            <a:solidFill>
              <a:schemeClr val="tx1"/>
            </a:solidFill>
            <a:prstDash val="solid"/>
          </a:ln>
          <a:effectLst>
            <a:outerShdw blurRad="101600" dist="63500" dir="2700000" algn="bl" rotWithShape="0">
              <a:srgbClr val="111A3E">
                <a:alpha val="100000"/>
              </a:srgbClr>
            </a:outerShdw>
          </a:effectLst>
        </p:spPr>
      </p:sp>
      <p:sp>
        <p:nvSpPr>
          <p:cNvPr id="43" name="Text 39"/>
          <p:cNvSpPr txBox="1"/>
          <p:nvPr/>
        </p:nvSpPr>
        <p:spPr>
          <a:xfrm>
            <a:off x="8046720" y="5047488"/>
            <a:ext cx="3337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4000" b="1" dirty="0">
                <a:solidFill>
                  <a:schemeClr val="tx1"/>
                </a:solidFill>
              </a:rPr>
              <a:t>4 x 2</a:t>
            </a:r>
            <a:endParaRPr lang="en-US" sz="4000" dirty="0"/>
          </a:p>
        </p:txBody>
      </p:sp>
      <p:sp>
        <p:nvSpPr>
          <p:cNvPr id="44" name="Text 40"/>
          <p:cNvSpPr txBox="1"/>
          <p:nvPr/>
        </p:nvSpPr>
        <p:spPr>
          <a:xfrm>
            <a:off x="8046720" y="5742432"/>
            <a:ext cx="3337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chemeClr val="tx1"/>
                </a:solidFill>
              </a:rPr>
              <a:t>sub-regions covered, two markets each</a:t>
            </a:r>
            <a:endParaRPr lang="en-US" sz="1300" dirty="0"/>
          </a:p>
        </p:txBody>
      </p:sp>
      <p:sp>
        <p:nvSpPr>
          <p:cNvPr id="4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2B3A7A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27432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1"/>
                </a:solidFill>
              </a:rPr>
              <a:t>Product range up 36% in a year</a:t>
            </a:r>
            <a:endParaRPr lang="en-US" sz="3000" dirty="0"/>
          </a:p>
        </p:txBody>
      </p:sp>
      <p:sp>
        <p:nvSpPr>
          <p:cNvPr id="3" name="Mascot ring"/>
          <p:cNvSpPr/>
          <p:nvPr/>
        </p:nvSpPr>
        <p:spPr>
          <a:xfrm>
            <a:off x="10835640" y="228600"/>
            <a:ext cx="914400" cy="9144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  <a:prstDash val="solid"/>
          </a:ln>
          <a:effectLst>
            <a:outerShdw blurRad="101600" dist="63500" dir="2700000" algn="bl" rotWithShape="0">
              <a:srgbClr val="111A3E">
                <a:alpha val="100000"/>
              </a:srgbClr>
            </a:outerShdw>
          </a:effectLst>
        </p:spPr>
      </p:sp>
      <p:pic>
        <p:nvPicPr>
          <p:cNvPr id="4" name="Image 0" descr="Cartoon masco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45368" y="338328"/>
            <a:ext cx="694944" cy="694944"/>
          </a:xfrm>
          <a:prstGeom prst="rect">
            <a:avLst/>
          </a:prstGeom>
        </p:spPr>
      </p:pic>
      <p:sp>
        <p:nvSpPr>
          <p:cNvPr id="5" name="Chip"/>
          <p:cNvSpPr/>
          <p:nvPr/>
        </p:nvSpPr>
        <p:spPr>
          <a:xfrm>
            <a:off x="548640" y="1097280"/>
            <a:ext cx="1463040" cy="347472"/>
          </a:xfrm>
          <a:prstGeom prst="roundRect">
            <a:avLst>
              <a:gd name="adj" fmla="val 50000"/>
            </a:avLst>
          </a:prstGeom>
          <a:solidFill>
            <a:srgbClr val="FF5A5F"/>
          </a:solidFill>
          <a:ln w="19050">
            <a:solidFill>
              <a:schemeClr val="tx1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48640" y="1097280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chemeClr val="bg1"/>
                </a:solidFill>
              </a:rPr>
              <a:t>REQUEST 02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2194560" y="1097280"/>
            <a:ext cx="8046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chemeClr val="tx2"/>
                </a:solidFill>
              </a:rPr>
              <a:t>What is the percentage increase in unique products in 2021 vs 2020?</a:t>
            </a:r>
            <a:endParaRPr lang="en-US" sz="1400" dirty="0"/>
          </a:p>
        </p:txBody>
      </p:sp>
      <p:sp>
        <p:nvSpPr>
          <p:cNvPr id="8" name="Chip"/>
          <p:cNvSpPr/>
          <p:nvPr/>
        </p:nvSpPr>
        <p:spPr>
          <a:xfrm>
            <a:off x="10424160" y="1097280"/>
            <a:ext cx="1234440" cy="347472"/>
          </a:xfrm>
          <a:prstGeom prst="roundRect">
            <a:avLst>
              <a:gd name="adj" fmla="val 50000"/>
            </a:avLst>
          </a:prstGeom>
          <a:solidFill>
            <a:srgbClr val="22C3B0"/>
          </a:solidFill>
          <a:ln w="19050">
            <a:solidFill>
              <a:schemeClr val="tx1"/>
            </a:solidFill>
            <a:prstDash val="solid"/>
          </a:ln>
        </p:spPr>
      </p:sp>
      <p:sp>
        <p:nvSpPr>
          <p:cNvPr id="9" name="Text 6">
            <a:hlinkClick r:id="rId4" action="ppaction://hlinksldjump" tooltip="Open SQL query and output"/>
          </p:cNvPr>
          <p:cNvSpPr txBox="1"/>
          <p:nvPr/>
        </p:nvSpPr>
        <p:spPr>
          <a:xfrm>
            <a:off x="10424160" y="1097280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u="sng" kern="0" spc="100" dirty="0">
                <a:solidFill>
                  <a:schemeClr val="tx1"/>
                </a:solidFill>
                <a:hlinkClick r:id="rId4" action="ppaction://hlinksldjump" tooltip="Open SQL query and output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SQL  p.31</a:t>
            </a:r>
            <a:endParaRPr lang="en-US" sz="1200" dirty="0"/>
          </a:p>
        </p:txBody>
      </p:sp>
      <p:sp>
        <p:nvSpPr>
          <p:cNvPr id="10" name="Chart card"/>
          <p:cNvSpPr/>
          <p:nvPr/>
        </p:nvSpPr>
        <p:spPr>
          <a:xfrm>
            <a:off x="548640" y="1645920"/>
            <a:ext cx="6949440" cy="4617720"/>
          </a:xfrm>
          <a:prstGeom prst="roundRect">
            <a:avLst>
              <a:gd name="adj" fmla="val 3168"/>
            </a:avLst>
          </a:prstGeom>
          <a:solidFill>
            <a:schemeClr val="bg1"/>
          </a:solidFill>
          <a:ln w="25400">
            <a:solidFill>
              <a:schemeClr val="tx1"/>
            </a:solidFill>
            <a:prstDash val="solid"/>
          </a:ln>
          <a:effectLst>
            <a:outerShdw blurRad="101600" dist="63500" dir="2700000" algn="bl" rotWithShape="0">
              <a:srgbClr val="111A3E">
                <a:alpha val="100000"/>
              </a:srgbClr>
            </a:outerShdw>
          </a:effectLst>
        </p:spPr>
      </p:sp>
      <p:graphicFrame>
        <p:nvGraphicFramePr>
          <p:cNvPr id="11" name="Chart 0"/>
          <p:cNvGraphicFramePr/>
          <p:nvPr/>
        </p:nvGraphicFramePr>
        <p:xfrm>
          <a:off x="731520" y="1783080"/>
          <a:ext cx="4114800" cy="4343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12" name="SQL peek"/>
          <p:cNvSpPr/>
          <p:nvPr/>
        </p:nvSpPr>
        <p:spPr>
          <a:xfrm>
            <a:off x="4937760" y="2103120"/>
            <a:ext cx="2377440" cy="2194560"/>
          </a:xfrm>
          <a:prstGeom prst="roundRect">
            <a:avLst>
              <a:gd name="adj" fmla="val 4167"/>
            </a:avLst>
          </a:prstGeom>
          <a:solidFill>
            <a:schemeClr val="bg2"/>
          </a:solidFill>
          <a:ln w="12700">
            <a:solidFill>
              <a:schemeClr val="tx1"/>
            </a:solidFill>
            <a:prstDash val="solid"/>
          </a:ln>
        </p:spPr>
      </p:sp>
      <p:pic>
        <p:nvPicPr>
          <p:cNvPr id="13" name="Image 1" descr="SQL query for request 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29200" y="2794730"/>
            <a:ext cx="2194560" cy="1085660"/>
          </a:xfrm>
          <a:prstGeom prst="rect">
            <a:avLst/>
          </a:prstGeom>
        </p:spPr>
      </p:pic>
      <p:sp>
        <p:nvSpPr>
          <p:cNvPr id="14" name="Chip"/>
          <p:cNvSpPr/>
          <p:nvPr/>
        </p:nvSpPr>
        <p:spPr>
          <a:xfrm>
            <a:off x="5029200" y="1993392"/>
            <a:ext cx="1188720" cy="237744"/>
          </a:xfrm>
          <a:prstGeom prst="roundRect">
            <a:avLst>
              <a:gd name="adj" fmla="val 50000"/>
            </a:avLst>
          </a:prstGeom>
          <a:solidFill>
            <a:srgbClr val="FFC53D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5" name="Text 10"/>
          <p:cNvSpPr txBox="1"/>
          <p:nvPr/>
        </p:nvSpPr>
        <p:spPr>
          <a:xfrm>
            <a:off x="5029200" y="1993392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chemeClr val="tx1"/>
                </a:solidFill>
              </a:rPr>
              <a:t>MY SQL QUERY</a:t>
            </a:r>
            <a:endParaRPr lang="en-US" sz="900" dirty="0"/>
          </a:p>
        </p:txBody>
      </p:sp>
      <p:sp>
        <p:nvSpPr>
          <p:cNvPr id="16" name="Text 11"/>
          <p:cNvSpPr txBox="1"/>
          <p:nvPr/>
        </p:nvSpPr>
        <p:spPr>
          <a:xfrm>
            <a:off x="4937760" y="457200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accent1"/>
                </a:solidFill>
              </a:rPr>
              <a:t>+89 new products</a:t>
            </a:r>
            <a:endParaRPr lang="en-US" sz="1800" dirty="0"/>
          </a:p>
        </p:txBody>
      </p:sp>
      <p:sp>
        <p:nvSpPr>
          <p:cNvPr id="17" name="Insights card"/>
          <p:cNvSpPr/>
          <p:nvPr/>
        </p:nvSpPr>
        <p:spPr>
          <a:xfrm>
            <a:off x="7772400" y="1645920"/>
            <a:ext cx="3886200" cy="3108960"/>
          </a:xfrm>
          <a:prstGeom prst="roundRect">
            <a:avLst>
              <a:gd name="adj" fmla="val 4706"/>
            </a:avLst>
          </a:prstGeom>
          <a:solidFill>
            <a:schemeClr val="tx1"/>
          </a:solidFill>
          <a:ln w="25400">
            <a:solidFill>
              <a:schemeClr val="tx1"/>
            </a:solidFill>
            <a:prstDash val="solid"/>
          </a:ln>
          <a:effectLst>
            <a:outerShdw blurRad="101600" dist="63500" dir="2700000" algn="bl" rotWithShape="0">
              <a:srgbClr val="111A3E">
                <a:alpha val="100000"/>
              </a:srgbClr>
            </a:outerShdw>
          </a:effectLst>
        </p:spPr>
      </p:sp>
      <p:sp>
        <p:nvSpPr>
          <p:cNvPr id="18" name="Badge"/>
          <p:cNvSpPr/>
          <p:nvPr/>
        </p:nvSpPr>
        <p:spPr>
          <a:xfrm>
            <a:off x="8001000" y="1847088"/>
            <a:ext cx="384048" cy="384048"/>
          </a:xfrm>
          <a:prstGeom prst="ellipse">
            <a:avLst/>
          </a:prstGeom>
          <a:solidFill>
            <a:srgbClr val="FFC53D"/>
          </a:solidFill>
          <a:ln w="25400">
            <a:solidFill>
              <a:srgbClr val="FFC53D"/>
            </a:solidFill>
            <a:prstDash val="solid"/>
          </a:ln>
        </p:spPr>
      </p:sp>
      <p:pic>
        <p:nvPicPr>
          <p:cNvPr id="19" name="Image 2" descr="FaLightbulb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83296" y="1929384"/>
            <a:ext cx="219456" cy="219456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8522208" y="1847088"/>
            <a:ext cx="2971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chemeClr val="accent2"/>
                </a:solidFill>
              </a:rPr>
              <a:t>KEY INSIGHTS</a:t>
            </a:r>
            <a:endParaRPr lang="en-US" sz="1300" dirty="0"/>
          </a:p>
        </p:txBody>
      </p:sp>
      <p:sp>
        <p:nvSpPr>
          <p:cNvPr id="21" name="Text 15"/>
          <p:cNvSpPr txBox="1"/>
          <p:nvPr/>
        </p:nvSpPr>
        <p:spPr>
          <a:xfrm>
            <a:off x="8028432" y="2395728"/>
            <a:ext cx="342900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Unique products grew from 245 in 2020 to 334 in 2021.</a:t>
            </a:r>
            <a:endParaRPr lang="en-US" sz="14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That is 89 new products, roughly 7 launches every month.</a:t>
            </a:r>
            <a:endParaRPr lang="en-US" sz="1400" dirty="0"/>
          </a:p>
          <a:p>
            <a:pPr marL="177800" indent="-177800">
              <a:buSzPct val="100000"/>
              <a:buChar char="•"/>
            </a:pPr>
            <a:r>
              <a:rPr lang="en-US" sz="1400" b="1" dirty="0">
                <a:solidFill>
                  <a:schemeClr val="accent2"/>
                </a:solidFill>
              </a:rPr>
              <a:t>So what: </a:t>
            </a:r>
            <a:r>
              <a:rPr lang="en-US" sz="1400" dirty="0">
                <a:solidFill>
                  <a:schemeClr val="bg1"/>
                </a:solidFill>
              </a:rPr>
              <a:t>A wider range signals innovation and diverse customer needs.</a:t>
            </a:r>
            <a:endParaRPr lang="en-US" sz="1400" dirty="0"/>
          </a:p>
        </p:txBody>
      </p:sp>
      <p:sp>
        <p:nvSpPr>
          <p:cNvPr id="22" name="Stat card"/>
          <p:cNvSpPr/>
          <p:nvPr/>
        </p:nvSpPr>
        <p:spPr>
          <a:xfrm>
            <a:off x="7772400" y="4937760"/>
            <a:ext cx="3886200" cy="1325880"/>
          </a:xfrm>
          <a:prstGeom prst="roundRect">
            <a:avLst>
              <a:gd name="adj" fmla="val 11034"/>
            </a:avLst>
          </a:prstGeom>
          <a:solidFill>
            <a:schemeClr val="accent2"/>
          </a:solidFill>
          <a:ln w="25400">
            <a:solidFill>
              <a:schemeClr val="tx1"/>
            </a:solidFill>
            <a:prstDash val="solid"/>
          </a:ln>
          <a:effectLst>
            <a:outerShdw blurRad="101600" dist="63500" dir="2700000" algn="bl" rotWithShape="0">
              <a:srgbClr val="111A3E">
                <a:alpha val="100000"/>
              </a:srgbClr>
            </a:outerShdw>
          </a:effectLst>
        </p:spPr>
      </p:sp>
      <p:sp>
        <p:nvSpPr>
          <p:cNvPr id="23" name="Text 17"/>
          <p:cNvSpPr txBox="1"/>
          <p:nvPr/>
        </p:nvSpPr>
        <p:spPr>
          <a:xfrm>
            <a:off x="8046720" y="5047488"/>
            <a:ext cx="3337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4000" b="1" dirty="0">
                <a:solidFill>
                  <a:schemeClr val="tx1"/>
                </a:solidFill>
              </a:rPr>
              <a:t>+36.33%</a:t>
            </a:r>
            <a:endParaRPr lang="en-US" sz="4000" dirty="0"/>
          </a:p>
        </p:txBody>
      </p:sp>
      <p:sp>
        <p:nvSpPr>
          <p:cNvPr id="24" name="Text 18"/>
          <p:cNvSpPr txBox="1"/>
          <p:nvPr/>
        </p:nvSpPr>
        <p:spPr>
          <a:xfrm>
            <a:off x="8046720" y="5742432"/>
            <a:ext cx="3337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chemeClr val="tx1"/>
                </a:solidFill>
              </a:rPr>
              <a:t>unique products, 2021 vs 2020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2B3A7A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27432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1"/>
                </a:solidFill>
              </a:rPr>
              <a:t>Three segments hold 83% of the range</a:t>
            </a:r>
            <a:endParaRPr lang="en-US" sz="3000" dirty="0"/>
          </a:p>
        </p:txBody>
      </p:sp>
      <p:sp>
        <p:nvSpPr>
          <p:cNvPr id="3" name="Mascot ring"/>
          <p:cNvSpPr/>
          <p:nvPr/>
        </p:nvSpPr>
        <p:spPr>
          <a:xfrm>
            <a:off x="10835640" y="228600"/>
            <a:ext cx="914400" cy="9144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  <a:prstDash val="solid"/>
          </a:ln>
          <a:effectLst>
            <a:outerShdw blurRad="101600" dist="63500" dir="2700000" algn="bl" rotWithShape="0">
              <a:srgbClr val="111A3E">
                <a:alpha val="100000"/>
              </a:srgbClr>
            </a:outerShdw>
          </a:effectLst>
        </p:spPr>
      </p:sp>
      <p:pic>
        <p:nvPicPr>
          <p:cNvPr id="4" name="Image 0" descr="Cartoon masco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45368" y="338328"/>
            <a:ext cx="694944" cy="694944"/>
          </a:xfrm>
          <a:prstGeom prst="rect">
            <a:avLst/>
          </a:prstGeom>
        </p:spPr>
      </p:pic>
      <p:sp>
        <p:nvSpPr>
          <p:cNvPr id="5" name="Chip"/>
          <p:cNvSpPr/>
          <p:nvPr/>
        </p:nvSpPr>
        <p:spPr>
          <a:xfrm>
            <a:off x="548640" y="1097280"/>
            <a:ext cx="1463040" cy="347472"/>
          </a:xfrm>
          <a:prstGeom prst="roundRect">
            <a:avLst>
              <a:gd name="adj" fmla="val 50000"/>
            </a:avLst>
          </a:prstGeom>
          <a:solidFill>
            <a:srgbClr val="FF5A5F"/>
          </a:solidFill>
          <a:ln w="19050">
            <a:solidFill>
              <a:schemeClr val="tx1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48640" y="1097280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chemeClr val="bg1"/>
                </a:solidFill>
              </a:rPr>
              <a:t>REQUEST 03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2194560" y="1097280"/>
            <a:ext cx="8046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chemeClr val="tx2"/>
                </a:solidFill>
              </a:rPr>
              <a:t>Unique product count for each segment, sorted from highest to lowest.</a:t>
            </a:r>
            <a:endParaRPr lang="en-US" sz="1400" dirty="0"/>
          </a:p>
        </p:txBody>
      </p:sp>
      <p:sp>
        <p:nvSpPr>
          <p:cNvPr id="8" name="Chip"/>
          <p:cNvSpPr/>
          <p:nvPr/>
        </p:nvSpPr>
        <p:spPr>
          <a:xfrm>
            <a:off x="10424160" y="1097280"/>
            <a:ext cx="1234440" cy="347472"/>
          </a:xfrm>
          <a:prstGeom prst="roundRect">
            <a:avLst>
              <a:gd name="adj" fmla="val 50000"/>
            </a:avLst>
          </a:prstGeom>
          <a:solidFill>
            <a:srgbClr val="22C3B0"/>
          </a:solidFill>
          <a:ln w="19050">
            <a:solidFill>
              <a:schemeClr val="tx1"/>
            </a:solidFill>
            <a:prstDash val="solid"/>
          </a:ln>
        </p:spPr>
      </p:sp>
      <p:sp>
        <p:nvSpPr>
          <p:cNvPr id="9" name="Text 6">
            <a:hlinkClick r:id="rId4" action="ppaction://hlinksldjump" tooltip="Open SQL query and output"/>
          </p:cNvPr>
          <p:cNvSpPr txBox="1"/>
          <p:nvPr/>
        </p:nvSpPr>
        <p:spPr>
          <a:xfrm>
            <a:off x="10424160" y="1097280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u="sng" kern="0" spc="100" dirty="0">
                <a:solidFill>
                  <a:schemeClr val="tx1"/>
                </a:solidFill>
                <a:hlinkClick r:id="rId4" action="ppaction://hlinksldjump" tooltip="Open SQL query and output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SQL  p.32</a:t>
            </a:r>
            <a:endParaRPr lang="en-US" sz="1200" dirty="0"/>
          </a:p>
        </p:txBody>
      </p:sp>
      <p:sp>
        <p:nvSpPr>
          <p:cNvPr id="10" name="Chart card"/>
          <p:cNvSpPr/>
          <p:nvPr/>
        </p:nvSpPr>
        <p:spPr>
          <a:xfrm>
            <a:off x="548640" y="1645920"/>
            <a:ext cx="6949440" cy="4617720"/>
          </a:xfrm>
          <a:prstGeom prst="roundRect">
            <a:avLst>
              <a:gd name="adj" fmla="val 3168"/>
            </a:avLst>
          </a:prstGeom>
          <a:solidFill>
            <a:schemeClr val="bg1"/>
          </a:solidFill>
          <a:ln w="25400">
            <a:solidFill>
              <a:schemeClr val="tx1"/>
            </a:solidFill>
            <a:prstDash val="solid"/>
          </a:ln>
          <a:effectLst>
            <a:outerShdw blurRad="101600" dist="63500" dir="2700000" algn="bl" rotWithShape="0">
              <a:srgbClr val="111A3E">
                <a:alpha val="100000"/>
              </a:srgbClr>
            </a:outerShdw>
          </a:effectLst>
        </p:spPr>
      </p:sp>
      <p:graphicFrame>
        <p:nvGraphicFramePr>
          <p:cNvPr id="11" name="Chart 0"/>
          <p:cNvGraphicFramePr/>
          <p:nvPr/>
        </p:nvGraphicFramePr>
        <p:xfrm>
          <a:off x="731520" y="1783080"/>
          <a:ext cx="6583680" cy="4343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12" name="Insights card"/>
          <p:cNvSpPr/>
          <p:nvPr/>
        </p:nvSpPr>
        <p:spPr>
          <a:xfrm>
            <a:off x="7772400" y="1645920"/>
            <a:ext cx="3886200" cy="3108960"/>
          </a:xfrm>
          <a:prstGeom prst="roundRect">
            <a:avLst>
              <a:gd name="adj" fmla="val 4706"/>
            </a:avLst>
          </a:prstGeom>
          <a:solidFill>
            <a:schemeClr val="tx1"/>
          </a:solidFill>
          <a:ln w="25400">
            <a:solidFill>
              <a:schemeClr val="tx1"/>
            </a:solidFill>
            <a:prstDash val="solid"/>
          </a:ln>
          <a:effectLst>
            <a:outerShdw blurRad="101600" dist="63500" dir="2700000" algn="bl" rotWithShape="0">
              <a:srgbClr val="111A3E">
                <a:alpha val="100000"/>
              </a:srgbClr>
            </a:outerShdw>
          </a:effectLst>
        </p:spPr>
      </p:sp>
      <p:sp>
        <p:nvSpPr>
          <p:cNvPr id="13" name="Badge"/>
          <p:cNvSpPr/>
          <p:nvPr/>
        </p:nvSpPr>
        <p:spPr>
          <a:xfrm>
            <a:off x="8001000" y="1847088"/>
            <a:ext cx="384048" cy="384048"/>
          </a:xfrm>
          <a:prstGeom prst="ellipse">
            <a:avLst/>
          </a:prstGeom>
          <a:solidFill>
            <a:srgbClr val="FFC53D"/>
          </a:solidFill>
          <a:ln w="25400">
            <a:solidFill>
              <a:srgbClr val="FFC53D"/>
            </a:solidFill>
            <a:prstDash val="solid"/>
          </a:ln>
        </p:spPr>
      </p:sp>
      <p:pic>
        <p:nvPicPr>
          <p:cNvPr id="14" name="Image 1" descr="FaLightbulb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83296" y="1929384"/>
            <a:ext cx="219456" cy="219456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8522208" y="1847088"/>
            <a:ext cx="2971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chemeClr val="accent2"/>
                </a:solidFill>
              </a:rPr>
              <a:t>KEY INSIGHTS</a:t>
            </a:r>
            <a:endParaRPr lang="en-US" sz="1300" dirty="0"/>
          </a:p>
        </p:txBody>
      </p:sp>
      <p:sp>
        <p:nvSpPr>
          <p:cNvPr id="16" name="Text 11"/>
          <p:cNvSpPr txBox="1"/>
          <p:nvPr/>
        </p:nvSpPr>
        <p:spPr>
          <a:xfrm>
            <a:off x="8028432" y="2395728"/>
            <a:ext cx="342900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Notebooks, Accessories and Peripherals make up 82.87% of variety.</a:t>
            </a:r>
            <a:endParaRPr lang="en-US" sz="14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Desktop, Storage and Networking hold just 17.13%.</a:t>
            </a:r>
            <a:endParaRPr lang="en-US" sz="1400" dirty="0"/>
          </a:p>
          <a:p>
            <a:pPr marL="177800" indent="-177800">
              <a:buSzPct val="100000"/>
              <a:buChar char="•"/>
            </a:pPr>
            <a:r>
              <a:rPr lang="en-US" sz="1400" b="1" dirty="0">
                <a:solidFill>
                  <a:schemeClr val="accent2"/>
                </a:solidFill>
              </a:rPr>
              <a:t>So what: </a:t>
            </a:r>
            <a:r>
              <a:rPr lang="en-US" sz="1400" dirty="0">
                <a:solidFill>
                  <a:schemeClr val="bg1"/>
                </a:solidFill>
              </a:rPr>
              <a:t>Match the thin segments to customer trends and demand.</a:t>
            </a:r>
            <a:endParaRPr lang="en-US" sz="1400" dirty="0"/>
          </a:p>
        </p:txBody>
      </p:sp>
      <p:sp>
        <p:nvSpPr>
          <p:cNvPr id="17" name="Stat card"/>
          <p:cNvSpPr/>
          <p:nvPr/>
        </p:nvSpPr>
        <p:spPr>
          <a:xfrm>
            <a:off x="7772400" y="4937760"/>
            <a:ext cx="3886200" cy="1325880"/>
          </a:xfrm>
          <a:prstGeom prst="roundRect">
            <a:avLst>
              <a:gd name="adj" fmla="val 11034"/>
            </a:avLst>
          </a:prstGeom>
          <a:solidFill>
            <a:schemeClr val="accent2"/>
          </a:solidFill>
          <a:ln w="25400">
            <a:solidFill>
              <a:schemeClr val="tx1"/>
            </a:solidFill>
            <a:prstDash val="solid"/>
          </a:ln>
          <a:effectLst>
            <a:outerShdw blurRad="101600" dist="63500" dir="2700000" algn="bl" rotWithShape="0">
              <a:srgbClr val="111A3E">
                <a:alpha val="100000"/>
              </a:srgbClr>
            </a:outerShdw>
          </a:effectLst>
        </p:spPr>
      </p:sp>
      <p:sp>
        <p:nvSpPr>
          <p:cNvPr id="18" name="Text 13"/>
          <p:cNvSpPr txBox="1"/>
          <p:nvPr/>
        </p:nvSpPr>
        <p:spPr>
          <a:xfrm>
            <a:off x="8046720" y="5047488"/>
            <a:ext cx="3337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4000" b="1" dirty="0">
                <a:solidFill>
                  <a:schemeClr val="tx1"/>
                </a:solidFill>
              </a:rPr>
              <a:t>82.87%</a:t>
            </a:r>
            <a:endParaRPr lang="en-US" sz="4000" dirty="0"/>
          </a:p>
        </p:txBody>
      </p:sp>
      <p:sp>
        <p:nvSpPr>
          <p:cNvPr id="19" name="Text 14"/>
          <p:cNvSpPr txBox="1"/>
          <p:nvPr/>
        </p:nvSpPr>
        <p:spPr>
          <a:xfrm>
            <a:off x="8046720" y="5742432"/>
            <a:ext cx="3337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chemeClr val="tx1"/>
                </a:solidFill>
              </a:rPr>
              <a:t>of the 397-product range in just three segments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2B3A7A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27432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1"/>
                </a:solidFill>
              </a:rPr>
              <a:t>Accessories added the most new products</a:t>
            </a:r>
            <a:endParaRPr lang="en-US" sz="3000" dirty="0"/>
          </a:p>
        </p:txBody>
      </p:sp>
      <p:sp>
        <p:nvSpPr>
          <p:cNvPr id="3" name="Mascot ring"/>
          <p:cNvSpPr/>
          <p:nvPr/>
        </p:nvSpPr>
        <p:spPr>
          <a:xfrm>
            <a:off x="10835640" y="228600"/>
            <a:ext cx="914400" cy="9144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  <a:prstDash val="solid"/>
          </a:ln>
          <a:effectLst>
            <a:outerShdw blurRad="101600" dist="63500" dir="2700000" algn="bl" rotWithShape="0">
              <a:srgbClr val="111A3E">
                <a:alpha val="100000"/>
              </a:srgbClr>
            </a:outerShdw>
          </a:effectLst>
        </p:spPr>
      </p:sp>
      <p:pic>
        <p:nvPicPr>
          <p:cNvPr id="4" name="Image 0" descr="Cartoon masco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45368" y="338328"/>
            <a:ext cx="694944" cy="694944"/>
          </a:xfrm>
          <a:prstGeom prst="rect">
            <a:avLst/>
          </a:prstGeom>
        </p:spPr>
      </p:pic>
      <p:sp>
        <p:nvSpPr>
          <p:cNvPr id="5" name="Chip"/>
          <p:cNvSpPr/>
          <p:nvPr/>
        </p:nvSpPr>
        <p:spPr>
          <a:xfrm>
            <a:off x="548640" y="1097280"/>
            <a:ext cx="1463040" cy="347472"/>
          </a:xfrm>
          <a:prstGeom prst="roundRect">
            <a:avLst>
              <a:gd name="adj" fmla="val 50000"/>
            </a:avLst>
          </a:prstGeom>
          <a:solidFill>
            <a:srgbClr val="FF5A5F"/>
          </a:solidFill>
          <a:ln w="19050">
            <a:solidFill>
              <a:schemeClr val="tx1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48640" y="1097280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chemeClr val="bg1"/>
                </a:solidFill>
              </a:rPr>
              <a:t>REQUEST 04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2194560" y="1097280"/>
            <a:ext cx="8046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chemeClr val="tx2"/>
                </a:solidFill>
              </a:rPr>
              <a:t>Which segment gained the most unique products in 2021 vs 2020?</a:t>
            </a:r>
            <a:endParaRPr lang="en-US" sz="1400" dirty="0"/>
          </a:p>
        </p:txBody>
      </p:sp>
      <p:sp>
        <p:nvSpPr>
          <p:cNvPr id="8" name="Chip"/>
          <p:cNvSpPr/>
          <p:nvPr/>
        </p:nvSpPr>
        <p:spPr>
          <a:xfrm>
            <a:off x="10424160" y="1097280"/>
            <a:ext cx="1234440" cy="347472"/>
          </a:xfrm>
          <a:prstGeom prst="roundRect">
            <a:avLst>
              <a:gd name="adj" fmla="val 50000"/>
            </a:avLst>
          </a:prstGeom>
          <a:solidFill>
            <a:srgbClr val="22C3B0"/>
          </a:solidFill>
          <a:ln w="19050">
            <a:solidFill>
              <a:schemeClr val="tx1"/>
            </a:solidFill>
            <a:prstDash val="solid"/>
          </a:ln>
        </p:spPr>
      </p:sp>
      <p:sp>
        <p:nvSpPr>
          <p:cNvPr id="9" name="Text 6">
            <a:hlinkClick r:id="rId4" action="ppaction://hlinksldjump" tooltip="Open SQL query and output"/>
          </p:cNvPr>
          <p:cNvSpPr txBox="1"/>
          <p:nvPr/>
        </p:nvSpPr>
        <p:spPr>
          <a:xfrm>
            <a:off x="10424160" y="1097280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u="sng" kern="0" spc="100" dirty="0">
                <a:solidFill>
                  <a:schemeClr val="tx1"/>
                </a:solidFill>
                <a:hlinkClick r:id="rId4" action="ppaction://hlinksldjump" tooltip="Open SQL query and output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SQL  p.32</a:t>
            </a:r>
            <a:endParaRPr lang="en-US" sz="1200" dirty="0"/>
          </a:p>
        </p:txBody>
      </p:sp>
      <p:sp>
        <p:nvSpPr>
          <p:cNvPr id="10" name="Chart card"/>
          <p:cNvSpPr/>
          <p:nvPr/>
        </p:nvSpPr>
        <p:spPr>
          <a:xfrm>
            <a:off x="548640" y="1645920"/>
            <a:ext cx="6949440" cy="4617720"/>
          </a:xfrm>
          <a:prstGeom prst="roundRect">
            <a:avLst>
              <a:gd name="adj" fmla="val 3168"/>
            </a:avLst>
          </a:prstGeom>
          <a:solidFill>
            <a:schemeClr val="bg1"/>
          </a:solidFill>
          <a:ln w="25400">
            <a:solidFill>
              <a:schemeClr val="tx1"/>
            </a:solidFill>
            <a:prstDash val="solid"/>
          </a:ln>
          <a:effectLst>
            <a:outerShdw blurRad="101600" dist="63500" dir="2700000" algn="bl" rotWithShape="0">
              <a:srgbClr val="111A3E">
                <a:alpha val="100000"/>
              </a:srgbClr>
            </a:outerShdw>
          </a:effectLst>
        </p:spPr>
      </p:sp>
      <p:graphicFrame>
        <p:nvGraphicFramePr>
          <p:cNvPr id="11" name="Chart 0"/>
          <p:cNvGraphicFramePr/>
          <p:nvPr/>
        </p:nvGraphicFramePr>
        <p:xfrm>
          <a:off x="731520" y="1783080"/>
          <a:ext cx="6583680" cy="4343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12" name="Insights card"/>
          <p:cNvSpPr/>
          <p:nvPr/>
        </p:nvSpPr>
        <p:spPr>
          <a:xfrm>
            <a:off x="7772400" y="1645920"/>
            <a:ext cx="3886200" cy="3108960"/>
          </a:xfrm>
          <a:prstGeom prst="roundRect">
            <a:avLst>
              <a:gd name="adj" fmla="val 4706"/>
            </a:avLst>
          </a:prstGeom>
          <a:solidFill>
            <a:schemeClr val="tx1"/>
          </a:solidFill>
          <a:ln w="25400">
            <a:solidFill>
              <a:schemeClr val="tx1"/>
            </a:solidFill>
            <a:prstDash val="solid"/>
          </a:ln>
          <a:effectLst>
            <a:outerShdw blurRad="101600" dist="63500" dir="2700000" algn="bl" rotWithShape="0">
              <a:srgbClr val="111A3E">
                <a:alpha val="100000"/>
              </a:srgbClr>
            </a:outerShdw>
          </a:effectLst>
        </p:spPr>
      </p:sp>
      <p:sp>
        <p:nvSpPr>
          <p:cNvPr id="13" name="Badge"/>
          <p:cNvSpPr/>
          <p:nvPr/>
        </p:nvSpPr>
        <p:spPr>
          <a:xfrm>
            <a:off x="8001000" y="1847088"/>
            <a:ext cx="384048" cy="384048"/>
          </a:xfrm>
          <a:prstGeom prst="ellipse">
            <a:avLst/>
          </a:prstGeom>
          <a:solidFill>
            <a:srgbClr val="FFC53D"/>
          </a:solidFill>
          <a:ln w="25400">
            <a:solidFill>
              <a:srgbClr val="FFC53D"/>
            </a:solidFill>
            <a:prstDash val="solid"/>
          </a:ln>
        </p:spPr>
      </p:sp>
      <p:pic>
        <p:nvPicPr>
          <p:cNvPr id="14" name="Image 1" descr="FaLightbulb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83296" y="1929384"/>
            <a:ext cx="219456" cy="219456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8522208" y="1847088"/>
            <a:ext cx="2971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chemeClr val="accent2"/>
                </a:solidFill>
              </a:rPr>
              <a:t>KEY INSIGHTS</a:t>
            </a:r>
            <a:endParaRPr lang="en-US" sz="1300" dirty="0"/>
          </a:p>
        </p:txBody>
      </p:sp>
      <p:sp>
        <p:nvSpPr>
          <p:cNvPr id="16" name="Text 11"/>
          <p:cNvSpPr txBox="1"/>
          <p:nvPr/>
        </p:nvSpPr>
        <p:spPr>
          <a:xfrm>
            <a:off x="8028432" y="2395728"/>
            <a:ext cx="342900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Accessories added the most: +34 new products, 38% of all 89 additions.</a:t>
            </a:r>
            <a:endParaRPr lang="en-US" sz="14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Desktop grew about 214% (7 to 22), the fastest growth rate.</a:t>
            </a:r>
            <a:endParaRPr lang="en-US" sz="1400" dirty="0"/>
          </a:p>
          <a:p>
            <a:pPr marL="177800" indent="-177800">
              <a:buSzPct val="100000"/>
              <a:buChar char="•"/>
            </a:pPr>
            <a:r>
              <a:rPr lang="en-US" sz="1400" b="1" dirty="0">
                <a:solidFill>
                  <a:schemeClr val="accent2"/>
                </a:solidFill>
              </a:rPr>
              <a:t>So what: </a:t>
            </a:r>
            <a:r>
              <a:rPr lang="en-US" sz="1400" dirty="0">
                <a:solidFill>
                  <a:schemeClr val="bg1"/>
                </a:solidFill>
              </a:rPr>
              <a:t>Storage (+5) and Networking (+3) added the fewest: room to grow.</a:t>
            </a:r>
            <a:endParaRPr lang="en-US" sz="1400" dirty="0"/>
          </a:p>
        </p:txBody>
      </p:sp>
      <p:sp>
        <p:nvSpPr>
          <p:cNvPr id="17" name="Stat card"/>
          <p:cNvSpPr/>
          <p:nvPr/>
        </p:nvSpPr>
        <p:spPr>
          <a:xfrm>
            <a:off x="7772400" y="4937760"/>
            <a:ext cx="3886200" cy="1325880"/>
          </a:xfrm>
          <a:prstGeom prst="roundRect">
            <a:avLst>
              <a:gd name="adj" fmla="val 11034"/>
            </a:avLst>
          </a:prstGeom>
          <a:solidFill>
            <a:schemeClr val="accent2"/>
          </a:solidFill>
          <a:ln w="25400">
            <a:solidFill>
              <a:schemeClr val="tx1"/>
            </a:solidFill>
            <a:prstDash val="solid"/>
          </a:ln>
          <a:effectLst>
            <a:outerShdw blurRad="101600" dist="63500" dir="2700000" algn="bl" rotWithShape="0">
              <a:srgbClr val="111A3E">
                <a:alpha val="100000"/>
              </a:srgbClr>
            </a:outerShdw>
          </a:effectLst>
        </p:spPr>
      </p:sp>
      <p:sp>
        <p:nvSpPr>
          <p:cNvPr id="18" name="Text 13"/>
          <p:cNvSpPr txBox="1"/>
          <p:nvPr/>
        </p:nvSpPr>
        <p:spPr>
          <a:xfrm>
            <a:off x="8046720" y="5047488"/>
            <a:ext cx="3337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4000" b="1" dirty="0">
                <a:solidFill>
                  <a:schemeClr val="tx1"/>
                </a:solidFill>
              </a:rPr>
              <a:t>+34</a:t>
            </a:r>
            <a:endParaRPr lang="en-US" sz="4000" dirty="0"/>
          </a:p>
        </p:txBody>
      </p:sp>
      <p:sp>
        <p:nvSpPr>
          <p:cNvPr id="19" name="Text 14"/>
          <p:cNvSpPr txBox="1"/>
          <p:nvPr/>
        </p:nvSpPr>
        <p:spPr>
          <a:xfrm>
            <a:off x="8046720" y="5742432"/>
            <a:ext cx="3337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chemeClr val="tx1"/>
                </a:solidFill>
              </a:rPr>
              <a:t>new Accessories products, the most of any segment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2B3A7A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27432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1"/>
                </a:solidFill>
              </a:rPr>
              <a:t>Costliest vs cheapest to make</a:t>
            </a:r>
            <a:endParaRPr lang="en-US" sz="3000" dirty="0"/>
          </a:p>
        </p:txBody>
      </p:sp>
      <p:sp>
        <p:nvSpPr>
          <p:cNvPr id="3" name="Mascot ring"/>
          <p:cNvSpPr/>
          <p:nvPr/>
        </p:nvSpPr>
        <p:spPr>
          <a:xfrm>
            <a:off x="10835640" y="228600"/>
            <a:ext cx="914400" cy="9144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  <a:prstDash val="solid"/>
          </a:ln>
          <a:effectLst>
            <a:outerShdw blurRad="101600" dist="63500" dir="2700000" algn="bl" rotWithShape="0">
              <a:srgbClr val="111A3E">
                <a:alpha val="100000"/>
              </a:srgbClr>
            </a:outerShdw>
          </a:effectLst>
        </p:spPr>
      </p:sp>
      <p:pic>
        <p:nvPicPr>
          <p:cNvPr id="4" name="Image 0" descr="Cartoon masco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45368" y="338328"/>
            <a:ext cx="694944" cy="694944"/>
          </a:xfrm>
          <a:prstGeom prst="rect">
            <a:avLst/>
          </a:prstGeom>
        </p:spPr>
      </p:pic>
      <p:sp>
        <p:nvSpPr>
          <p:cNvPr id="5" name="Chip"/>
          <p:cNvSpPr/>
          <p:nvPr/>
        </p:nvSpPr>
        <p:spPr>
          <a:xfrm>
            <a:off x="548640" y="1097280"/>
            <a:ext cx="1463040" cy="347472"/>
          </a:xfrm>
          <a:prstGeom prst="roundRect">
            <a:avLst>
              <a:gd name="adj" fmla="val 50000"/>
            </a:avLst>
          </a:prstGeom>
          <a:solidFill>
            <a:srgbClr val="FF5A5F"/>
          </a:solidFill>
          <a:ln w="19050">
            <a:solidFill>
              <a:schemeClr val="tx1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48640" y="1097280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chemeClr val="bg1"/>
                </a:solidFill>
              </a:rPr>
              <a:t>REQUEST 05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2194560" y="1097280"/>
            <a:ext cx="8046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chemeClr val="tx2"/>
                </a:solidFill>
              </a:rPr>
              <a:t>Products with the highest and lowest manufacturing cost.</a:t>
            </a:r>
            <a:endParaRPr lang="en-US" sz="1400" dirty="0"/>
          </a:p>
        </p:txBody>
      </p:sp>
      <p:sp>
        <p:nvSpPr>
          <p:cNvPr id="8" name="Chip"/>
          <p:cNvSpPr/>
          <p:nvPr/>
        </p:nvSpPr>
        <p:spPr>
          <a:xfrm>
            <a:off x="10424160" y="1097280"/>
            <a:ext cx="1234440" cy="347472"/>
          </a:xfrm>
          <a:prstGeom prst="roundRect">
            <a:avLst>
              <a:gd name="adj" fmla="val 50000"/>
            </a:avLst>
          </a:prstGeom>
          <a:solidFill>
            <a:srgbClr val="22C3B0"/>
          </a:solidFill>
          <a:ln w="19050">
            <a:solidFill>
              <a:schemeClr val="tx1"/>
            </a:solidFill>
            <a:prstDash val="solid"/>
          </a:ln>
        </p:spPr>
      </p:sp>
      <p:sp>
        <p:nvSpPr>
          <p:cNvPr id="9" name="Text 6">
            <a:hlinkClick r:id="rId4" action="ppaction://hlinksldjump" tooltip="Open SQL query and output"/>
          </p:cNvPr>
          <p:cNvSpPr txBox="1"/>
          <p:nvPr/>
        </p:nvSpPr>
        <p:spPr>
          <a:xfrm>
            <a:off x="10424160" y="1097280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u="sng" kern="0" spc="100" dirty="0">
                <a:solidFill>
                  <a:schemeClr val="tx1"/>
                </a:solidFill>
                <a:hlinkClick r:id="rId4" action="ppaction://hlinksldjump" tooltip="Open SQL query and output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SQL  p.33</a:t>
            </a:r>
            <a:endParaRPr lang="en-US" sz="1200" dirty="0"/>
          </a:p>
        </p:txBody>
      </p:sp>
      <p:sp>
        <p:nvSpPr>
          <p:cNvPr id="10" name="Product card panel"/>
          <p:cNvSpPr/>
          <p:nvPr/>
        </p:nvSpPr>
        <p:spPr>
          <a:xfrm>
            <a:off x="548640" y="1645920"/>
            <a:ext cx="6949440" cy="4617720"/>
          </a:xfrm>
          <a:prstGeom prst="roundRect">
            <a:avLst>
              <a:gd name="adj" fmla="val 3168"/>
            </a:avLst>
          </a:prstGeom>
          <a:solidFill>
            <a:schemeClr val="bg1"/>
          </a:solidFill>
          <a:ln w="25400">
            <a:solidFill>
              <a:schemeClr val="tx1"/>
            </a:solidFill>
            <a:prstDash val="solid"/>
          </a:ln>
          <a:effectLst>
            <a:outerShdw blurRad="101600" dist="63500" dir="2700000" algn="bl" rotWithShape="0">
              <a:srgbClr val="111A3E">
                <a:alpha val="100000"/>
              </a:srgbClr>
            </a:outerShdw>
          </a:effectLst>
        </p:spPr>
      </p:sp>
      <p:pic>
        <p:nvPicPr>
          <p:cNvPr id="11" name="Image 1" descr="HIGHEST COST product card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1828800"/>
            <a:ext cx="3063240" cy="3063240"/>
          </a:xfrm>
          <a:prstGeom prst="rect">
            <a:avLst/>
          </a:prstGeom>
        </p:spPr>
      </p:pic>
      <p:sp>
        <p:nvSpPr>
          <p:cNvPr id="12" name="Chip"/>
          <p:cNvSpPr/>
          <p:nvPr/>
        </p:nvSpPr>
        <p:spPr>
          <a:xfrm>
            <a:off x="1234440" y="5166360"/>
            <a:ext cx="2148840" cy="457200"/>
          </a:xfrm>
          <a:prstGeom prst="roundRect">
            <a:avLst>
              <a:gd name="adj" fmla="val 50000"/>
            </a:avLst>
          </a:prstGeom>
          <a:solidFill>
            <a:srgbClr val="FF5A5F"/>
          </a:solidFill>
          <a:ln w="25400">
            <a:solidFill>
              <a:schemeClr val="tx1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1234440" y="516636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100" dirty="0">
                <a:solidFill>
                  <a:schemeClr val="bg1"/>
                </a:solidFill>
              </a:rPr>
              <a:t>HIGHEST COST</a:t>
            </a:r>
            <a:endParaRPr lang="en-US" sz="1300" dirty="0"/>
          </a:p>
        </p:txBody>
      </p:sp>
      <p:pic>
        <p:nvPicPr>
          <p:cNvPr id="14" name="Image 2" descr="LOWEST COST product card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14800" y="1828800"/>
            <a:ext cx="3063240" cy="3063240"/>
          </a:xfrm>
          <a:prstGeom prst="rect">
            <a:avLst/>
          </a:prstGeom>
        </p:spPr>
      </p:pic>
      <p:sp>
        <p:nvSpPr>
          <p:cNvPr id="15" name="Chip"/>
          <p:cNvSpPr/>
          <p:nvPr/>
        </p:nvSpPr>
        <p:spPr>
          <a:xfrm>
            <a:off x="4572000" y="5166360"/>
            <a:ext cx="2148840" cy="457200"/>
          </a:xfrm>
          <a:prstGeom prst="roundRect">
            <a:avLst>
              <a:gd name="adj" fmla="val 50000"/>
            </a:avLst>
          </a:prstGeom>
          <a:solidFill>
            <a:srgbClr val="22C3B0"/>
          </a:solidFill>
          <a:ln w="25400">
            <a:solidFill>
              <a:schemeClr val="tx1"/>
            </a:solidFill>
            <a:prstDash val="solid"/>
          </a:ln>
        </p:spPr>
      </p:sp>
      <p:sp>
        <p:nvSpPr>
          <p:cNvPr id="16" name="Text 11"/>
          <p:cNvSpPr txBox="1"/>
          <p:nvPr/>
        </p:nvSpPr>
        <p:spPr>
          <a:xfrm>
            <a:off x="4572000" y="516636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100" dirty="0">
                <a:solidFill>
                  <a:schemeClr val="tx1"/>
                </a:solidFill>
              </a:rPr>
              <a:t>LOWEST COST</a:t>
            </a:r>
            <a:endParaRPr lang="en-US" sz="1300" dirty="0"/>
          </a:p>
        </p:txBody>
      </p:sp>
      <p:sp>
        <p:nvSpPr>
          <p:cNvPr id="17" name="Text 12"/>
          <p:cNvSpPr txBox="1"/>
          <p:nvPr/>
        </p:nvSpPr>
        <p:spPr>
          <a:xfrm>
            <a:off x="777240" y="5760720"/>
            <a:ext cx="6492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i="1" dirty="0">
                <a:solidFill>
                  <a:schemeClr val="tx2"/>
                </a:solidFill>
              </a:rPr>
              <a:t>Product cost cards: manufacturing cost per unit</a:t>
            </a:r>
            <a:endParaRPr lang="en-US" sz="1200" dirty="0"/>
          </a:p>
        </p:txBody>
      </p:sp>
      <p:sp>
        <p:nvSpPr>
          <p:cNvPr id="18" name="Insights card"/>
          <p:cNvSpPr/>
          <p:nvPr/>
        </p:nvSpPr>
        <p:spPr>
          <a:xfrm>
            <a:off x="7772400" y="1645920"/>
            <a:ext cx="3886200" cy="3108960"/>
          </a:xfrm>
          <a:prstGeom prst="roundRect">
            <a:avLst>
              <a:gd name="adj" fmla="val 4706"/>
            </a:avLst>
          </a:prstGeom>
          <a:solidFill>
            <a:schemeClr val="tx1"/>
          </a:solidFill>
          <a:ln w="25400">
            <a:solidFill>
              <a:schemeClr val="tx1"/>
            </a:solidFill>
            <a:prstDash val="solid"/>
          </a:ln>
          <a:effectLst>
            <a:outerShdw blurRad="101600" dist="63500" dir="2700000" algn="bl" rotWithShape="0">
              <a:srgbClr val="111A3E">
                <a:alpha val="100000"/>
              </a:srgbClr>
            </a:outerShdw>
          </a:effectLst>
        </p:spPr>
      </p:sp>
      <p:sp>
        <p:nvSpPr>
          <p:cNvPr id="19" name="Badge"/>
          <p:cNvSpPr/>
          <p:nvPr/>
        </p:nvSpPr>
        <p:spPr>
          <a:xfrm>
            <a:off x="8001000" y="1847088"/>
            <a:ext cx="384048" cy="384048"/>
          </a:xfrm>
          <a:prstGeom prst="ellipse">
            <a:avLst/>
          </a:prstGeom>
          <a:solidFill>
            <a:srgbClr val="FFC53D"/>
          </a:solidFill>
          <a:ln w="25400">
            <a:solidFill>
              <a:srgbClr val="FFC53D"/>
            </a:solidFill>
            <a:prstDash val="solid"/>
          </a:ln>
        </p:spPr>
      </p:sp>
      <p:pic>
        <p:nvPicPr>
          <p:cNvPr id="20" name="Image 3" descr="FaLightbulb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83296" y="1929384"/>
            <a:ext cx="219456" cy="219456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8522208" y="1847088"/>
            <a:ext cx="2971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chemeClr val="accent2"/>
                </a:solidFill>
              </a:rPr>
              <a:t>KEY INSIGHTS</a:t>
            </a:r>
            <a:endParaRPr lang="en-US" sz="1300" dirty="0"/>
          </a:p>
        </p:txBody>
      </p:sp>
      <p:sp>
        <p:nvSpPr>
          <p:cNvPr id="22" name="Text 16"/>
          <p:cNvSpPr txBox="1"/>
          <p:nvPr/>
        </p:nvSpPr>
        <p:spPr>
          <a:xfrm>
            <a:off x="8028432" y="2395728"/>
            <a:ext cx="342900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Highest: AQ HOME Allin1 Gen 2 (personal desktop) at $240.54.</a:t>
            </a:r>
            <a:endParaRPr lang="en-US" sz="14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Lowest: AQ Master wired x1 Ms (mouse) at $0.89.</a:t>
            </a:r>
            <a:endParaRPr lang="en-US" sz="1400" dirty="0"/>
          </a:p>
          <a:p>
            <a:pPr marL="177800" indent="-177800">
              <a:buSzPct val="100000"/>
              <a:buChar char="•"/>
            </a:pPr>
            <a:r>
              <a:rPr lang="en-US" sz="1400" b="1" dirty="0">
                <a:solidFill>
                  <a:schemeClr val="accent2"/>
                </a:solidFill>
              </a:rPr>
              <a:t>So what: </a:t>
            </a:r>
            <a:r>
              <a:rPr lang="en-US" sz="1400" dirty="0">
                <a:solidFill>
                  <a:schemeClr val="bg1"/>
                </a:solidFill>
              </a:rPr>
              <a:t>Costs span two orders of magnitude, so price product by product.</a:t>
            </a:r>
            <a:endParaRPr lang="en-US" sz="1400" dirty="0"/>
          </a:p>
        </p:txBody>
      </p:sp>
      <p:sp>
        <p:nvSpPr>
          <p:cNvPr id="23" name="Stat card"/>
          <p:cNvSpPr/>
          <p:nvPr/>
        </p:nvSpPr>
        <p:spPr>
          <a:xfrm>
            <a:off x="7772400" y="4937760"/>
            <a:ext cx="3886200" cy="1325880"/>
          </a:xfrm>
          <a:prstGeom prst="roundRect">
            <a:avLst>
              <a:gd name="adj" fmla="val 11034"/>
            </a:avLst>
          </a:prstGeom>
          <a:solidFill>
            <a:schemeClr val="accent2"/>
          </a:solidFill>
          <a:ln w="25400">
            <a:solidFill>
              <a:schemeClr val="tx1"/>
            </a:solidFill>
            <a:prstDash val="solid"/>
          </a:ln>
          <a:effectLst>
            <a:outerShdw blurRad="101600" dist="63500" dir="2700000" algn="bl" rotWithShape="0">
              <a:srgbClr val="111A3E">
                <a:alpha val="100000"/>
              </a:srgbClr>
            </a:outerShdw>
          </a:effectLst>
        </p:spPr>
      </p:sp>
      <p:sp>
        <p:nvSpPr>
          <p:cNvPr id="24" name="Text 18"/>
          <p:cNvSpPr txBox="1"/>
          <p:nvPr/>
        </p:nvSpPr>
        <p:spPr>
          <a:xfrm>
            <a:off x="8046720" y="5047488"/>
            <a:ext cx="3337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4000" b="1" dirty="0">
                <a:solidFill>
                  <a:schemeClr val="tx1"/>
                </a:solidFill>
              </a:rPr>
              <a:t>270x</a:t>
            </a:r>
            <a:endParaRPr lang="en-US" sz="4000" dirty="0"/>
          </a:p>
        </p:txBody>
      </p:sp>
      <p:sp>
        <p:nvSpPr>
          <p:cNvPr id="25" name="Text 19"/>
          <p:cNvSpPr txBox="1"/>
          <p:nvPr/>
        </p:nvSpPr>
        <p:spPr>
          <a:xfrm>
            <a:off x="8046720" y="5742432"/>
            <a:ext cx="3337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chemeClr val="tx1"/>
                </a:solidFill>
              </a:rPr>
              <a:t>cost gap between the highest and lowest</a:t>
            </a:r>
            <a:endParaRPr lang="en-US" sz="1300" dirty="0"/>
          </a:p>
        </p:txBody>
      </p:sp>
      <p:sp>
        <p:nvSpPr>
          <p:cNvPr id="2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2B3A7A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27432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1"/>
                </a:solidFill>
              </a:rPr>
              <a:t>Flipkart tops the discount list</a:t>
            </a:r>
            <a:endParaRPr lang="en-US" sz="3000" dirty="0"/>
          </a:p>
        </p:txBody>
      </p:sp>
      <p:sp>
        <p:nvSpPr>
          <p:cNvPr id="3" name="Mascot ring"/>
          <p:cNvSpPr/>
          <p:nvPr/>
        </p:nvSpPr>
        <p:spPr>
          <a:xfrm>
            <a:off x="10835640" y="228600"/>
            <a:ext cx="914400" cy="9144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  <a:prstDash val="solid"/>
          </a:ln>
          <a:effectLst>
            <a:outerShdw blurRad="101600" dist="63500" dir="2700000" algn="bl" rotWithShape="0">
              <a:srgbClr val="111A3E">
                <a:alpha val="100000"/>
              </a:srgbClr>
            </a:outerShdw>
          </a:effectLst>
        </p:spPr>
      </p:sp>
      <p:pic>
        <p:nvPicPr>
          <p:cNvPr id="4" name="Image 0" descr="Cartoon masco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45368" y="338328"/>
            <a:ext cx="694944" cy="694944"/>
          </a:xfrm>
          <a:prstGeom prst="rect">
            <a:avLst/>
          </a:prstGeom>
        </p:spPr>
      </p:pic>
      <p:sp>
        <p:nvSpPr>
          <p:cNvPr id="5" name="Chip"/>
          <p:cNvSpPr/>
          <p:nvPr/>
        </p:nvSpPr>
        <p:spPr>
          <a:xfrm>
            <a:off x="548640" y="1097280"/>
            <a:ext cx="1463040" cy="347472"/>
          </a:xfrm>
          <a:prstGeom prst="roundRect">
            <a:avLst>
              <a:gd name="adj" fmla="val 50000"/>
            </a:avLst>
          </a:prstGeom>
          <a:solidFill>
            <a:srgbClr val="FF5A5F"/>
          </a:solidFill>
          <a:ln w="19050">
            <a:solidFill>
              <a:schemeClr val="tx1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48640" y="1097280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chemeClr val="bg1"/>
                </a:solidFill>
              </a:rPr>
              <a:t>REQUEST 06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2194560" y="1097280"/>
            <a:ext cx="8046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chemeClr val="tx2"/>
                </a:solidFill>
              </a:rPr>
              <a:t>Top 5 customers by average pre-invoice discount, FY2021, Indian market.</a:t>
            </a:r>
            <a:endParaRPr lang="en-US" sz="1400" dirty="0"/>
          </a:p>
        </p:txBody>
      </p:sp>
      <p:sp>
        <p:nvSpPr>
          <p:cNvPr id="8" name="Chip"/>
          <p:cNvSpPr/>
          <p:nvPr/>
        </p:nvSpPr>
        <p:spPr>
          <a:xfrm>
            <a:off x="10424160" y="1097280"/>
            <a:ext cx="1234440" cy="347472"/>
          </a:xfrm>
          <a:prstGeom prst="roundRect">
            <a:avLst>
              <a:gd name="adj" fmla="val 50000"/>
            </a:avLst>
          </a:prstGeom>
          <a:solidFill>
            <a:srgbClr val="22C3B0"/>
          </a:solidFill>
          <a:ln w="19050">
            <a:solidFill>
              <a:schemeClr val="tx1"/>
            </a:solidFill>
            <a:prstDash val="solid"/>
          </a:ln>
        </p:spPr>
      </p:sp>
      <p:sp>
        <p:nvSpPr>
          <p:cNvPr id="9" name="Text 6">
            <a:hlinkClick r:id="rId4" action="ppaction://hlinksldjump" tooltip="Open SQL query and output"/>
          </p:cNvPr>
          <p:cNvSpPr txBox="1"/>
          <p:nvPr/>
        </p:nvSpPr>
        <p:spPr>
          <a:xfrm>
            <a:off x="10424160" y="1097280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u="sng" kern="0" spc="100" dirty="0">
                <a:solidFill>
                  <a:schemeClr val="tx1"/>
                </a:solidFill>
                <a:hlinkClick r:id="rId4" action="ppaction://hlinksldjump" tooltip="Open SQL query and output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SQL  p.33</a:t>
            </a:r>
            <a:endParaRPr lang="en-US" sz="1200" dirty="0"/>
          </a:p>
        </p:txBody>
      </p:sp>
      <p:sp>
        <p:nvSpPr>
          <p:cNvPr id="10" name="Chart card"/>
          <p:cNvSpPr/>
          <p:nvPr/>
        </p:nvSpPr>
        <p:spPr>
          <a:xfrm>
            <a:off x="548640" y="1645920"/>
            <a:ext cx="6949440" cy="4617720"/>
          </a:xfrm>
          <a:prstGeom prst="roundRect">
            <a:avLst>
              <a:gd name="adj" fmla="val 3168"/>
            </a:avLst>
          </a:prstGeom>
          <a:solidFill>
            <a:schemeClr val="bg1"/>
          </a:solidFill>
          <a:ln w="25400">
            <a:solidFill>
              <a:schemeClr val="tx1"/>
            </a:solidFill>
            <a:prstDash val="solid"/>
          </a:ln>
          <a:effectLst>
            <a:outerShdw blurRad="101600" dist="63500" dir="2700000" algn="bl" rotWithShape="0">
              <a:srgbClr val="111A3E">
                <a:alpha val="100000"/>
              </a:srgbClr>
            </a:outerShdw>
          </a:effectLst>
        </p:spPr>
      </p:sp>
      <p:graphicFrame>
        <p:nvGraphicFramePr>
          <p:cNvPr id="11" name="Chart 0"/>
          <p:cNvGraphicFramePr/>
          <p:nvPr/>
        </p:nvGraphicFramePr>
        <p:xfrm>
          <a:off x="731520" y="1783080"/>
          <a:ext cx="6583680" cy="4343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12" name="Insights card"/>
          <p:cNvSpPr/>
          <p:nvPr/>
        </p:nvSpPr>
        <p:spPr>
          <a:xfrm>
            <a:off x="7772400" y="1645920"/>
            <a:ext cx="3886200" cy="3108960"/>
          </a:xfrm>
          <a:prstGeom prst="roundRect">
            <a:avLst>
              <a:gd name="adj" fmla="val 4706"/>
            </a:avLst>
          </a:prstGeom>
          <a:solidFill>
            <a:schemeClr val="tx1"/>
          </a:solidFill>
          <a:ln w="25400">
            <a:solidFill>
              <a:schemeClr val="tx1"/>
            </a:solidFill>
            <a:prstDash val="solid"/>
          </a:ln>
          <a:effectLst>
            <a:outerShdw blurRad="101600" dist="63500" dir="2700000" algn="bl" rotWithShape="0">
              <a:srgbClr val="111A3E">
                <a:alpha val="100000"/>
              </a:srgbClr>
            </a:outerShdw>
          </a:effectLst>
        </p:spPr>
      </p:sp>
      <p:sp>
        <p:nvSpPr>
          <p:cNvPr id="13" name="Badge"/>
          <p:cNvSpPr/>
          <p:nvPr/>
        </p:nvSpPr>
        <p:spPr>
          <a:xfrm>
            <a:off x="8001000" y="1847088"/>
            <a:ext cx="384048" cy="384048"/>
          </a:xfrm>
          <a:prstGeom prst="ellipse">
            <a:avLst/>
          </a:prstGeom>
          <a:solidFill>
            <a:srgbClr val="FFC53D"/>
          </a:solidFill>
          <a:ln w="25400">
            <a:solidFill>
              <a:srgbClr val="FFC53D"/>
            </a:solidFill>
            <a:prstDash val="solid"/>
          </a:ln>
        </p:spPr>
      </p:sp>
      <p:pic>
        <p:nvPicPr>
          <p:cNvPr id="14" name="Image 1" descr="FaLightbulb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83296" y="1929384"/>
            <a:ext cx="219456" cy="219456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8522208" y="1847088"/>
            <a:ext cx="2971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chemeClr val="accent2"/>
                </a:solidFill>
              </a:rPr>
              <a:t>KEY INSIGHTS</a:t>
            </a:r>
            <a:endParaRPr lang="en-US" sz="1300" dirty="0"/>
          </a:p>
        </p:txBody>
      </p:sp>
      <p:sp>
        <p:nvSpPr>
          <p:cNvPr id="16" name="Text 11"/>
          <p:cNvSpPr txBox="1"/>
          <p:nvPr/>
        </p:nvSpPr>
        <p:spPr>
          <a:xfrm>
            <a:off x="8028432" y="2395728"/>
            <a:ext cx="342900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Flipkart leads with an average discount of 30.83%.</a:t>
            </a:r>
            <a:endParaRPr lang="en-US" sz="14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The top five sit in a tight 29.33% to 30.83% band.</a:t>
            </a:r>
            <a:endParaRPr lang="en-US" sz="1400" dirty="0"/>
          </a:p>
          <a:p>
            <a:pPr marL="177800" indent="-177800">
              <a:buSzPct val="100000"/>
              <a:buChar char="•"/>
            </a:pPr>
            <a:r>
              <a:rPr lang="en-US" sz="1400" b="1" dirty="0">
                <a:solidFill>
                  <a:schemeClr val="accent2"/>
                </a:solidFill>
              </a:rPr>
              <a:t>So what: </a:t>
            </a:r>
            <a:r>
              <a:rPr lang="en-US" sz="1400" dirty="0">
                <a:solidFill>
                  <a:schemeClr val="bg1"/>
                </a:solidFill>
              </a:rPr>
              <a:t>Discount depth is similar everywhere; compete on service and promotions.</a:t>
            </a:r>
            <a:endParaRPr lang="en-US" sz="1400" dirty="0"/>
          </a:p>
        </p:txBody>
      </p:sp>
      <p:sp>
        <p:nvSpPr>
          <p:cNvPr id="17" name="Stat card"/>
          <p:cNvSpPr/>
          <p:nvPr/>
        </p:nvSpPr>
        <p:spPr>
          <a:xfrm>
            <a:off x="7772400" y="4937760"/>
            <a:ext cx="3886200" cy="1325880"/>
          </a:xfrm>
          <a:prstGeom prst="roundRect">
            <a:avLst>
              <a:gd name="adj" fmla="val 11034"/>
            </a:avLst>
          </a:prstGeom>
          <a:solidFill>
            <a:schemeClr val="accent2"/>
          </a:solidFill>
          <a:ln w="25400">
            <a:solidFill>
              <a:schemeClr val="tx1"/>
            </a:solidFill>
            <a:prstDash val="solid"/>
          </a:ln>
          <a:effectLst>
            <a:outerShdw blurRad="101600" dist="63500" dir="2700000" algn="bl" rotWithShape="0">
              <a:srgbClr val="111A3E">
                <a:alpha val="100000"/>
              </a:srgbClr>
            </a:outerShdw>
          </a:effectLst>
        </p:spPr>
      </p:sp>
      <p:sp>
        <p:nvSpPr>
          <p:cNvPr id="18" name="Text 13"/>
          <p:cNvSpPr txBox="1"/>
          <p:nvPr/>
        </p:nvSpPr>
        <p:spPr>
          <a:xfrm>
            <a:off x="8046720" y="5047488"/>
            <a:ext cx="3337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4000" b="1" dirty="0">
                <a:solidFill>
                  <a:schemeClr val="tx1"/>
                </a:solidFill>
              </a:rPr>
              <a:t>1.5 pts</a:t>
            </a:r>
            <a:endParaRPr lang="en-US" sz="4000" dirty="0"/>
          </a:p>
        </p:txBody>
      </p:sp>
      <p:sp>
        <p:nvSpPr>
          <p:cNvPr id="19" name="Text 14"/>
          <p:cNvSpPr txBox="1"/>
          <p:nvPr/>
        </p:nvSpPr>
        <p:spPr>
          <a:xfrm>
            <a:off x="8046720" y="5742432"/>
            <a:ext cx="3337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chemeClr val="tx1"/>
                </a:solidFill>
              </a:rPr>
              <a:t>spread between the #1 and #5 customers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2B3A7A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27432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1"/>
                </a:solidFill>
              </a:rPr>
              <a:t>Sales rebounded after the COVID dip</a:t>
            </a:r>
            <a:endParaRPr lang="en-US" sz="3000" dirty="0"/>
          </a:p>
        </p:txBody>
      </p:sp>
      <p:sp>
        <p:nvSpPr>
          <p:cNvPr id="3" name="Mascot ring"/>
          <p:cNvSpPr/>
          <p:nvPr/>
        </p:nvSpPr>
        <p:spPr>
          <a:xfrm>
            <a:off x="10835640" y="228600"/>
            <a:ext cx="914400" cy="9144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  <a:prstDash val="solid"/>
          </a:ln>
          <a:effectLst>
            <a:outerShdw blurRad="101600" dist="63500" dir="2700000" algn="bl" rotWithShape="0">
              <a:srgbClr val="111A3E">
                <a:alpha val="100000"/>
              </a:srgbClr>
            </a:outerShdw>
          </a:effectLst>
        </p:spPr>
      </p:sp>
      <p:pic>
        <p:nvPicPr>
          <p:cNvPr id="4" name="Image 0" descr="Cartoon masco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45368" y="338328"/>
            <a:ext cx="694944" cy="694944"/>
          </a:xfrm>
          <a:prstGeom prst="rect">
            <a:avLst/>
          </a:prstGeom>
        </p:spPr>
      </p:pic>
      <p:sp>
        <p:nvSpPr>
          <p:cNvPr id="5" name="Chip"/>
          <p:cNvSpPr/>
          <p:nvPr/>
        </p:nvSpPr>
        <p:spPr>
          <a:xfrm>
            <a:off x="548640" y="1097280"/>
            <a:ext cx="1463040" cy="347472"/>
          </a:xfrm>
          <a:prstGeom prst="roundRect">
            <a:avLst>
              <a:gd name="adj" fmla="val 50000"/>
            </a:avLst>
          </a:prstGeom>
          <a:solidFill>
            <a:srgbClr val="FF5A5F"/>
          </a:solidFill>
          <a:ln w="19050">
            <a:solidFill>
              <a:schemeClr val="tx1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48640" y="1097280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chemeClr val="bg1"/>
                </a:solidFill>
              </a:rPr>
              <a:t>REQUEST 07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2194560" y="1097280"/>
            <a:ext cx="8046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chemeClr val="tx2"/>
                </a:solidFill>
              </a:rPr>
              <a:t>Monthly gross sales of AtliQ Exclusive, to spot low and high months.</a:t>
            </a:r>
            <a:endParaRPr lang="en-US" sz="1400" dirty="0"/>
          </a:p>
        </p:txBody>
      </p:sp>
      <p:sp>
        <p:nvSpPr>
          <p:cNvPr id="8" name="Chip"/>
          <p:cNvSpPr/>
          <p:nvPr/>
        </p:nvSpPr>
        <p:spPr>
          <a:xfrm>
            <a:off x="10424160" y="1097280"/>
            <a:ext cx="1234440" cy="347472"/>
          </a:xfrm>
          <a:prstGeom prst="roundRect">
            <a:avLst>
              <a:gd name="adj" fmla="val 50000"/>
            </a:avLst>
          </a:prstGeom>
          <a:solidFill>
            <a:srgbClr val="22C3B0"/>
          </a:solidFill>
          <a:ln w="19050">
            <a:solidFill>
              <a:schemeClr val="tx1"/>
            </a:solidFill>
            <a:prstDash val="solid"/>
          </a:ln>
        </p:spPr>
      </p:sp>
      <p:sp>
        <p:nvSpPr>
          <p:cNvPr id="9" name="Text 6">
            <a:hlinkClick r:id="rId4" action="ppaction://hlinksldjump" tooltip="Open SQL query and output"/>
          </p:cNvPr>
          <p:cNvSpPr txBox="1"/>
          <p:nvPr/>
        </p:nvSpPr>
        <p:spPr>
          <a:xfrm>
            <a:off x="10424160" y="1097280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u="sng" kern="0" spc="100" dirty="0">
                <a:solidFill>
                  <a:schemeClr val="tx1"/>
                </a:solidFill>
                <a:hlinkClick r:id="rId4" action="ppaction://hlinksldjump" tooltip="Open SQL query and output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SQL  p.34</a:t>
            </a:r>
            <a:endParaRPr lang="en-US" sz="1200" dirty="0"/>
          </a:p>
        </p:txBody>
      </p:sp>
      <p:sp>
        <p:nvSpPr>
          <p:cNvPr id="10" name="Chart card"/>
          <p:cNvSpPr/>
          <p:nvPr/>
        </p:nvSpPr>
        <p:spPr>
          <a:xfrm>
            <a:off x="548640" y="1645920"/>
            <a:ext cx="6949440" cy="4617720"/>
          </a:xfrm>
          <a:prstGeom prst="roundRect">
            <a:avLst>
              <a:gd name="adj" fmla="val 3168"/>
            </a:avLst>
          </a:prstGeom>
          <a:solidFill>
            <a:schemeClr val="bg1"/>
          </a:solidFill>
          <a:ln w="25400">
            <a:solidFill>
              <a:schemeClr val="tx1"/>
            </a:solidFill>
            <a:prstDash val="solid"/>
          </a:ln>
          <a:effectLst>
            <a:outerShdw blurRad="101600" dist="63500" dir="2700000" algn="bl" rotWithShape="0">
              <a:srgbClr val="111A3E">
                <a:alpha val="100000"/>
              </a:srgbClr>
            </a:outerShdw>
          </a:effectLst>
        </p:spPr>
      </p:sp>
      <p:graphicFrame>
        <p:nvGraphicFramePr>
          <p:cNvPr id="11" name="Chart 0"/>
          <p:cNvGraphicFramePr/>
          <p:nvPr/>
        </p:nvGraphicFramePr>
        <p:xfrm>
          <a:off x="731520" y="1783080"/>
          <a:ext cx="6583680" cy="4343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12" name="Insights card"/>
          <p:cNvSpPr/>
          <p:nvPr/>
        </p:nvSpPr>
        <p:spPr>
          <a:xfrm>
            <a:off x="7772400" y="1645920"/>
            <a:ext cx="3886200" cy="3108960"/>
          </a:xfrm>
          <a:prstGeom prst="roundRect">
            <a:avLst>
              <a:gd name="adj" fmla="val 4706"/>
            </a:avLst>
          </a:prstGeom>
          <a:solidFill>
            <a:schemeClr val="tx1"/>
          </a:solidFill>
          <a:ln w="25400">
            <a:solidFill>
              <a:schemeClr val="tx1"/>
            </a:solidFill>
            <a:prstDash val="solid"/>
          </a:ln>
          <a:effectLst>
            <a:outerShdw blurRad="101600" dist="63500" dir="2700000" algn="bl" rotWithShape="0">
              <a:srgbClr val="111A3E">
                <a:alpha val="100000"/>
              </a:srgbClr>
            </a:outerShdw>
          </a:effectLst>
        </p:spPr>
      </p:sp>
      <p:sp>
        <p:nvSpPr>
          <p:cNvPr id="13" name="Badge"/>
          <p:cNvSpPr/>
          <p:nvPr/>
        </p:nvSpPr>
        <p:spPr>
          <a:xfrm>
            <a:off x="8001000" y="1847088"/>
            <a:ext cx="384048" cy="384048"/>
          </a:xfrm>
          <a:prstGeom prst="ellipse">
            <a:avLst/>
          </a:prstGeom>
          <a:solidFill>
            <a:srgbClr val="FFC53D"/>
          </a:solidFill>
          <a:ln w="25400">
            <a:solidFill>
              <a:srgbClr val="FFC53D"/>
            </a:solidFill>
            <a:prstDash val="solid"/>
          </a:ln>
        </p:spPr>
      </p:sp>
      <p:pic>
        <p:nvPicPr>
          <p:cNvPr id="14" name="Image 1" descr="FaLightbulb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83296" y="1929384"/>
            <a:ext cx="219456" cy="219456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8522208" y="1847088"/>
            <a:ext cx="2971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chemeClr val="accent2"/>
                </a:solidFill>
              </a:rPr>
              <a:t>KEY INSIGHTS</a:t>
            </a:r>
            <a:endParaRPr lang="en-US" sz="1300" dirty="0"/>
          </a:p>
        </p:txBody>
      </p:sp>
      <p:sp>
        <p:nvSpPr>
          <p:cNvPr id="16" name="Text 11"/>
          <p:cNvSpPr txBox="1"/>
          <p:nvPr/>
        </p:nvSpPr>
        <p:spPr>
          <a:xfrm>
            <a:off x="8028432" y="2395728"/>
            <a:ext cx="342900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Mar-May were the weakest months, likely COVID-19; recovery began after June.</a:t>
            </a:r>
            <a:endParaRPr lang="en-US" sz="14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November peaks both years: 15.23M in FY2020, 32.25M in FY2021.</a:t>
            </a:r>
            <a:endParaRPr lang="en-US" sz="1400" dirty="0"/>
          </a:p>
          <a:p>
            <a:pPr marL="177800" indent="-177800">
              <a:buSzPct val="100000"/>
              <a:buChar char="•"/>
            </a:pPr>
            <a:r>
              <a:rPr lang="en-US" sz="1400" b="1" dirty="0">
                <a:solidFill>
                  <a:schemeClr val="accent2"/>
                </a:solidFill>
              </a:rPr>
              <a:t>So what: </a:t>
            </a:r>
            <a:r>
              <a:rPr lang="en-US" sz="1400" dirty="0">
                <a:solidFill>
                  <a:schemeClr val="bg1"/>
                </a:solidFill>
              </a:rPr>
              <a:t>Every FY2021 month beat FY2020; stock up for the November peak.</a:t>
            </a:r>
            <a:endParaRPr lang="en-US" sz="1400" dirty="0"/>
          </a:p>
        </p:txBody>
      </p:sp>
      <p:sp>
        <p:nvSpPr>
          <p:cNvPr id="17" name="Stat card"/>
          <p:cNvSpPr/>
          <p:nvPr/>
        </p:nvSpPr>
        <p:spPr>
          <a:xfrm>
            <a:off x="7772400" y="4937760"/>
            <a:ext cx="3886200" cy="1325880"/>
          </a:xfrm>
          <a:prstGeom prst="roundRect">
            <a:avLst>
              <a:gd name="adj" fmla="val 11034"/>
            </a:avLst>
          </a:prstGeom>
          <a:solidFill>
            <a:schemeClr val="accent2"/>
          </a:solidFill>
          <a:ln w="25400">
            <a:solidFill>
              <a:schemeClr val="tx1"/>
            </a:solidFill>
            <a:prstDash val="solid"/>
          </a:ln>
          <a:effectLst>
            <a:outerShdw blurRad="101600" dist="63500" dir="2700000" algn="bl" rotWithShape="0">
              <a:srgbClr val="111A3E">
                <a:alpha val="100000"/>
              </a:srgbClr>
            </a:outerShdw>
          </a:effectLst>
        </p:spPr>
      </p:sp>
      <p:sp>
        <p:nvSpPr>
          <p:cNvPr id="18" name="Text 13"/>
          <p:cNvSpPr txBox="1"/>
          <p:nvPr/>
        </p:nvSpPr>
        <p:spPr>
          <a:xfrm>
            <a:off x="8046720" y="5047488"/>
            <a:ext cx="3337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4000" b="1" dirty="0">
                <a:solidFill>
                  <a:schemeClr val="tx1"/>
                </a:solidFill>
              </a:rPr>
              <a:t>-90%</a:t>
            </a:r>
            <a:endParaRPr lang="en-US" sz="4000" dirty="0"/>
          </a:p>
        </p:txBody>
      </p:sp>
      <p:sp>
        <p:nvSpPr>
          <p:cNvPr id="19" name="Text 14"/>
          <p:cNvSpPr txBox="1"/>
          <p:nvPr/>
        </p:nvSpPr>
        <p:spPr>
          <a:xfrm>
            <a:off x="8046720" y="5742432"/>
            <a:ext cx="3337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chemeClr val="tx1"/>
                </a:solidFill>
              </a:rPr>
              <a:t>sales drop from Feb to Mar in FY2020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2B3A7A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27432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1"/>
                </a:solidFill>
              </a:rPr>
              <a:t>Q1 led volume; Q3 fell hardest</a:t>
            </a:r>
            <a:endParaRPr lang="en-US" sz="3000" dirty="0"/>
          </a:p>
        </p:txBody>
      </p:sp>
      <p:sp>
        <p:nvSpPr>
          <p:cNvPr id="3" name="Mascot ring"/>
          <p:cNvSpPr/>
          <p:nvPr/>
        </p:nvSpPr>
        <p:spPr>
          <a:xfrm>
            <a:off x="10835640" y="228600"/>
            <a:ext cx="914400" cy="9144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  <a:prstDash val="solid"/>
          </a:ln>
          <a:effectLst>
            <a:outerShdw blurRad="101600" dist="63500" dir="2700000" algn="bl" rotWithShape="0">
              <a:srgbClr val="111A3E">
                <a:alpha val="100000"/>
              </a:srgbClr>
            </a:outerShdw>
          </a:effectLst>
        </p:spPr>
      </p:sp>
      <p:pic>
        <p:nvPicPr>
          <p:cNvPr id="4" name="Image 0" descr="Cartoon masco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45368" y="338328"/>
            <a:ext cx="694944" cy="694944"/>
          </a:xfrm>
          <a:prstGeom prst="rect">
            <a:avLst/>
          </a:prstGeom>
        </p:spPr>
      </p:pic>
      <p:sp>
        <p:nvSpPr>
          <p:cNvPr id="5" name="Chip"/>
          <p:cNvSpPr/>
          <p:nvPr/>
        </p:nvSpPr>
        <p:spPr>
          <a:xfrm>
            <a:off x="548640" y="1097280"/>
            <a:ext cx="1463040" cy="347472"/>
          </a:xfrm>
          <a:prstGeom prst="roundRect">
            <a:avLst>
              <a:gd name="adj" fmla="val 50000"/>
            </a:avLst>
          </a:prstGeom>
          <a:solidFill>
            <a:srgbClr val="FF5A5F"/>
          </a:solidFill>
          <a:ln w="19050">
            <a:solidFill>
              <a:schemeClr val="tx1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48640" y="1097280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chemeClr val="bg1"/>
                </a:solidFill>
              </a:rPr>
              <a:t>REQUEST 08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2194560" y="1097280"/>
            <a:ext cx="8046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chemeClr val="tx2"/>
                </a:solidFill>
              </a:rPr>
              <a:t>Which fiscal quarter of 2020 had the highest total quantity sold?</a:t>
            </a:r>
            <a:endParaRPr lang="en-US" sz="1400" dirty="0"/>
          </a:p>
        </p:txBody>
      </p:sp>
      <p:sp>
        <p:nvSpPr>
          <p:cNvPr id="8" name="Chip"/>
          <p:cNvSpPr/>
          <p:nvPr/>
        </p:nvSpPr>
        <p:spPr>
          <a:xfrm>
            <a:off x="10424160" y="1097280"/>
            <a:ext cx="1234440" cy="347472"/>
          </a:xfrm>
          <a:prstGeom prst="roundRect">
            <a:avLst>
              <a:gd name="adj" fmla="val 50000"/>
            </a:avLst>
          </a:prstGeom>
          <a:solidFill>
            <a:srgbClr val="22C3B0"/>
          </a:solidFill>
          <a:ln w="19050">
            <a:solidFill>
              <a:schemeClr val="tx1"/>
            </a:solidFill>
            <a:prstDash val="solid"/>
          </a:ln>
        </p:spPr>
      </p:sp>
      <p:sp>
        <p:nvSpPr>
          <p:cNvPr id="9" name="Text 6">
            <a:hlinkClick r:id="rId4" action="ppaction://hlinksldjump" tooltip="Open SQL query and output"/>
          </p:cNvPr>
          <p:cNvSpPr txBox="1"/>
          <p:nvPr/>
        </p:nvSpPr>
        <p:spPr>
          <a:xfrm>
            <a:off x="10424160" y="1097280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u="sng" kern="0" spc="100" dirty="0">
                <a:solidFill>
                  <a:schemeClr val="tx1"/>
                </a:solidFill>
                <a:hlinkClick r:id="rId4" action="ppaction://hlinksldjump" tooltip="Open SQL query and output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SQL  p.34</a:t>
            </a:r>
            <a:endParaRPr lang="en-US" sz="1200" dirty="0"/>
          </a:p>
        </p:txBody>
      </p:sp>
      <p:sp>
        <p:nvSpPr>
          <p:cNvPr id="10" name="Chart card"/>
          <p:cNvSpPr/>
          <p:nvPr/>
        </p:nvSpPr>
        <p:spPr>
          <a:xfrm>
            <a:off x="548640" y="1645920"/>
            <a:ext cx="6949440" cy="4617720"/>
          </a:xfrm>
          <a:prstGeom prst="roundRect">
            <a:avLst>
              <a:gd name="adj" fmla="val 3168"/>
            </a:avLst>
          </a:prstGeom>
          <a:solidFill>
            <a:schemeClr val="bg1"/>
          </a:solidFill>
          <a:ln w="25400">
            <a:solidFill>
              <a:schemeClr val="tx1"/>
            </a:solidFill>
            <a:prstDash val="solid"/>
          </a:ln>
          <a:effectLst>
            <a:outerShdw blurRad="101600" dist="63500" dir="2700000" algn="bl" rotWithShape="0">
              <a:srgbClr val="111A3E">
                <a:alpha val="100000"/>
              </a:srgbClr>
            </a:outerShdw>
          </a:effectLst>
        </p:spPr>
      </p:sp>
      <p:graphicFrame>
        <p:nvGraphicFramePr>
          <p:cNvPr id="11" name="Chart 0"/>
          <p:cNvGraphicFramePr/>
          <p:nvPr/>
        </p:nvGraphicFramePr>
        <p:xfrm>
          <a:off x="731520" y="1783080"/>
          <a:ext cx="6583680" cy="4343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12" name="Insights card"/>
          <p:cNvSpPr/>
          <p:nvPr/>
        </p:nvSpPr>
        <p:spPr>
          <a:xfrm>
            <a:off x="7772400" y="1645920"/>
            <a:ext cx="3886200" cy="3108960"/>
          </a:xfrm>
          <a:prstGeom prst="roundRect">
            <a:avLst>
              <a:gd name="adj" fmla="val 4706"/>
            </a:avLst>
          </a:prstGeom>
          <a:solidFill>
            <a:schemeClr val="tx1"/>
          </a:solidFill>
          <a:ln w="25400">
            <a:solidFill>
              <a:schemeClr val="tx1"/>
            </a:solidFill>
            <a:prstDash val="solid"/>
          </a:ln>
          <a:effectLst>
            <a:outerShdw blurRad="101600" dist="63500" dir="2700000" algn="bl" rotWithShape="0">
              <a:srgbClr val="111A3E">
                <a:alpha val="100000"/>
              </a:srgbClr>
            </a:outerShdw>
          </a:effectLst>
        </p:spPr>
      </p:sp>
      <p:sp>
        <p:nvSpPr>
          <p:cNvPr id="13" name="Badge"/>
          <p:cNvSpPr/>
          <p:nvPr/>
        </p:nvSpPr>
        <p:spPr>
          <a:xfrm>
            <a:off x="8001000" y="1847088"/>
            <a:ext cx="384048" cy="384048"/>
          </a:xfrm>
          <a:prstGeom prst="ellipse">
            <a:avLst/>
          </a:prstGeom>
          <a:solidFill>
            <a:srgbClr val="FFC53D"/>
          </a:solidFill>
          <a:ln w="25400">
            <a:solidFill>
              <a:srgbClr val="FFC53D"/>
            </a:solidFill>
            <a:prstDash val="solid"/>
          </a:ln>
        </p:spPr>
      </p:sp>
      <p:pic>
        <p:nvPicPr>
          <p:cNvPr id="14" name="Image 1" descr="FaLightbulb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83296" y="1929384"/>
            <a:ext cx="219456" cy="219456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8522208" y="1847088"/>
            <a:ext cx="2971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chemeClr val="accent2"/>
                </a:solidFill>
              </a:rPr>
              <a:t>KEY INSIGHTS</a:t>
            </a:r>
            <a:endParaRPr lang="en-US" sz="1300" dirty="0"/>
          </a:p>
        </p:txBody>
      </p:sp>
      <p:sp>
        <p:nvSpPr>
          <p:cNvPr id="16" name="Text 11"/>
          <p:cNvSpPr txBox="1"/>
          <p:nvPr/>
        </p:nvSpPr>
        <p:spPr>
          <a:xfrm>
            <a:off x="8028432" y="2395728"/>
            <a:ext cx="342900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Q1 (Sep-Nov) led, at around 7 million units, a third of the year.</a:t>
            </a:r>
            <a:endParaRPr lang="en-US" sz="14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Q3 volume was 69% below Q2; Q4 then rebounded 142%.</a:t>
            </a:r>
            <a:endParaRPr lang="en-US" sz="1400" dirty="0"/>
          </a:p>
          <a:p>
            <a:pPr marL="177800" indent="-177800">
              <a:buSzPct val="100000"/>
              <a:buChar char="•"/>
            </a:pPr>
            <a:r>
              <a:rPr lang="en-US" sz="1400" b="1" dirty="0">
                <a:solidFill>
                  <a:schemeClr val="accent2"/>
                </a:solidFill>
              </a:rPr>
              <a:t>So what: </a:t>
            </a:r>
            <a:r>
              <a:rPr lang="en-US" sz="1400" dirty="0">
                <a:solidFill>
                  <a:schemeClr val="bg1"/>
                </a:solidFill>
              </a:rPr>
              <a:t>Plan stock and cash for sharp, shock-driven swings.</a:t>
            </a:r>
            <a:endParaRPr lang="en-US" sz="1400" dirty="0"/>
          </a:p>
        </p:txBody>
      </p:sp>
      <p:sp>
        <p:nvSpPr>
          <p:cNvPr id="17" name="Stat card"/>
          <p:cNvSpPr/>
          <p:nvPr/>
        </p:nvSpPr>
        <p:spPr>
          <a:xfrm>
            <a:off x="7772400" y="4937760"/>
            <a:ext cx="3886200" cy="1325880"/>
          </a:xfrm>
          <a:prstGeom prst="roundRect">
            <a:avLst>
              <a:gd name="adj" fmla="val 11034"/>
            </a:avLst>
          </a:prstGeom>
          <a:solidFill>
            <a:schemeClr val="accent2"/>
          </a:solidFill>
          <a:ln w="25400">
            <a:solidFill>
              <a:schemeClr val="tx1"/>
            </a:solidFill>
            <a:prstDash val="solid"/>
          </a:ln>
          <a:effectLst>
            <a:outerShdw blurRad="101600" dist="63500" dir="2700000" algn="bl" rotWithShape="0">
              <a:srgbClr val="111A3E">
                <a:alpha val="100000"/>
              </a:srgbClr>
            </a:outerShdw>
          </a:effectLst>
        </p:spPr>
      </p:sp>
      <p:sp>
        <p:nvSpPr>
          <p:cNvPr id="18" name="Text 13"/>
          <p:cNvSpPr txBox="1"/>
          <p:nvPr/>
        </p:nvSpPr>
        <p:spPr>
          <a:xfrm>
            <a:off x="8046720" y="5047488"/>
            <a:ext cx="3337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4000" b="1" dirty="0">
                <a:solidFill>
                  <a:schemeClr val="tx1"/>
                </a:solidFill>
              </a:rPr>
              <a:t>-69%</a:t>
            </a:r>
            <a:endParaRPr lang="en-US" sz="4000" dirty="0"/>
          </a:p>
        </p:txBody>
      </p:sp>
      <p:sp>
        <p:nvSpPr>
          <p:cNvPr id="19" name="Text 14"/>
          <p:cNvSpPr txBox="1"/>
          <p:nvPr/>
        </p:nvSpPr>
        <p:spPr>
          <a:xfrm>
            <a:off x="8046720" y="5742432"/>
            <a:ext cx="3337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chemeClr val="tx1"/>
                </a:solidFill>
              </a:rPr>
              <a:t>Q3 volume vs Q2, likely COVID-19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2B3A7A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27432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1"/>
                </a:solidFill>
              </a:rPr>
              <a:t>Retailers drive 73% of gross sales</a:t>
            </a:r>
            <a:endParaRPr lang="en-US" sz="3000" dirty="0"/>
          </a:p>
        </p:txBody>
      </p:sp>
      <p:sp>
        <p:nvSpPr>
          <p:cNvPr id="3" name="Mascot ring"/>
          <p:cNvSpPr/>
          <p:nvPr/>
        </p:nvSpPr>
        <p:spPr>
          <a:xfrm>
            <a:off x="10835640" y="228600"/>
            <a:ext cx="914400" cy="9144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  <a:prstDash val="solid"/>
          </a:ln>
          <a:effectLst>
            <a:outerShdw blurRad="101600" dist="63500" dir="2700000" algn="bl" rotWithShape="0">
              <a:srgbClr val="111A3E">
                <a:alpha val="100000"/>
              </a:srgbClr>
            </a:outerShdw>
          </a:effectLst>
        </p:spPr>
      </p:sp>
      <p:pic>
        <p:nvPicPr>
          <p:cNvPr id="4" name="Image 0" descr="Cartoon masco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45368" y="338328"/>
            <a:ext cx="694944" cy="694944"/>
          </a:xfrm>
          <a:prstGeom prst="rect">
            <a:avLst/>
          </a:prstGeom>
        </p:spPr>
      </p:pic>
      <p:sp>
        <p:nvSpPr>
          <p:cNvPr id="5" name="Chip"/>
          <p:cNvSpPr/>
          <p:nvPr/>
        </p:nvSpPr>
        <p:spPr>
          <a:xfrm>
            <a:off x="548640" y="1097280"/>
            <a:ext cx="1463040" cy="347472"/>
          </a:xfrm>
          <a:prstGeom prst="roundRect">
            <a:avLst>
              <a:gd name="adj" fmla="val 50000"/>
            </a:avLst>
          </a:prstGeom>
          <a:solidFill>
            <a:srgbClr val="FF5A5F"/>
          </a:solidFill>
          <a:ln w="19050">
            <a:solidFill>
              <a:schemeClr val="tx1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48640" y="1097280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chemeClr val="bg1"/>
                </a:solidFill>
              </a:rPr>
              <a:t>REQUEST 09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2194560" y="1097280"/>
            <a:ext cx="8046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chemeClr val="tx2"/>
                </a:solidFill>
              </a:rPr>
              <a:t>Which channel brought the most gross sales in FY2021, and its share?</a:t>
            </a:r>
            <a:endParaRPr lang="en-US" sz="1400" dirty="0"/>
          </a:p>
        </p:txBody>
      </p:sp>
      <p:sp>
        <p:nvSpPr>
          <p:cNvPr id="8" name="Chip"/>
          <p:cNvSpPr/>
          <p:nvPr/>
        </p:nvSpPr>
        <p:spPr>
          <a:xfrm>
            <a:off x="10424160" y="1097280"/>
            <a:ext cx="1234440" cy="347472"/>
          </a:xfrm>
          <a:prstGeom prst="roundRect">
            <a:avLst>
              <a:gd name="adj" fmla="val 50000"/>
            </a:avLst>
          </a:prstGeom>
          <a:solidFill>
            <a:srgbClr val="22C3B0"/>
          </a:solidFill>
          <a:ln w="19050">
            <a:solidFill>
              <a:schemeClr val="tx1"/>
            </a:solidFill>
            <a:prstDash val="solid"/>
          </a:ln>
        </p:spPr>
      </p:sp>
      <p:sp>
        <p:nvSpPr>
          <p:cNvPr id="9" name="Text 6">
            <a:hlinkClick r:id="rId4" action="ppaction://hlinksldjump" tooltip="Open SQL query and output"/>
          </p:cNvPr>
          <p:cNvSpPr txBox="1"/>
          <p:nvPr/>
        </p:nvSpPr>
        <p:spPr>
          <a:xfrm>
            <a:off x="10424160" y="1097280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u="sng" kern="0" spc="100" dirty="0">
                <a:solidFill>
                  <a:schemeClr val="tx1"/>
                </a:solidFill>
                <a:hlinkClick r:id="rId4" action="ppaction://hlinksldjump" tooltip="Open SQL query and output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SQL  p.35</a:t>
            </a:r>
            <a:endParaRPr lang="en-US" sz="1200" dirty="0"/>
          </a:p>
        </p:txBody>
      </p:sp>
      <p:sp>
        <p:nvSpPr>
          <p:cNvPr id="10" name="Chart card"/>
          <p:cNvSpPr/>
          <p:nvPr/>
        </p:nvSpPr>
        <p:spPr>
          <a:xfrm>
            <a:off x="548640" y="1645920"/>
            <a:ext cx="6949440" cy="4617720"/>
          </a:xfrm>
          <a:prstGeom prst="roundRect">
            <a:avLst>
              <a:gd name="adj" fmla="val 3168"/>
            </a:avLst>
          </a:prstGeom>
          <a:solidFill>
            <a:schemeClr val="bg1"/>
          </a:solidFill>
          <a:ln w="25400">
            <a:solidFill>
              <a:schemeClr val="tx1"/>
            </a:solidFill>
            <a:prstDash val="solid"/>
          </a:ln>
          <a:effectLst>
            <a:outerShdw blurRad="101600" dist="63500" dir="2700000" algn="bl" rotWithShape="0">
              <a:srgbClr val="111A3E">
                <a:alpha val="100000"/>
              </a:srgbClr>
            </a:outerShdw>
          </a:effectLst>
        </p:spPr>
      </p:sp>
      <p:graphicFrame>
        <p:nvGraphicFramePr>
          <p:cNvPr id="11" name="Chart 0"/>
          <p:cNvGraphicFramePr/>
          <p:nvPr/>
        </p:nvGraphicFramePr>
        <p:xfrm>
          <a:off x="731520" y="1783080"/>
          <a:ext cx="6583680" cy="4343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12" name="Insights card"/>
          <p:cNvSpPr/>
          <p:nvPr/>
        </p:nvSpPr>
        <p:spPr>
          <a:xfrm>
            <a:off x="7772400" y="1645920"/>
            <a:ext cx="3886200" cy="3108960"/>
          </a:xfrm>
          <a:prstGeom prst="roundRect">
            <a:avLst>
              <a:gd name="adj" fmla="val 4706"/>
            </a:avLst>
          </a:prstGeom>
          <a:solidFill>
            <a:schemeClr val="tx1"/>
          </a:solidFill>
          <a:ln w="25400">
            <a:solidFill>
              <a:schemeClr val="tx1"/>
            </a:solidFill>
            <a:prstDash val="solid"/>
          </a:ln>
          <a:effectLst>
            <a:outerShdw blurRad="101600" dist="63500" dir="2700000" algn="bl" rotWithShape="0">
              <a:srgbClr val="111A3E">
                <a:alpha val="100000"/>
              </a:srgbClr>
            </a:outerShdw>
          </a:effectLst>
        </p:spPr>
      </p:sp>
      <p:sp>
        <p:nvSpPr>
          <p:cNvPr id="13" name="Badge"/>
          <p:cNvSpPr/>
          <p:nvPr/>
        </p:nvSpPr>
        <p:spPr>
          <a:xfrm>
            <a:off x="8001000" y="1847088"/>
            <a:ext cx="384048" cy="384048"/>
          </a:xfrm>
          <a:prstGeom prst="ellipse">
            <a:avLst/>
          </a:prstGeom>
          <a:solidFill>
            <a:srgbClr val="FFC53D"/>
          </a:solidFill>
          <a:ln w="25400">
            <a:solidFill>
              <a:srgbClr val="FFC53D"/>
            </a:solidFill>
            <a:prstDash val="solid"/>
          </a:ln>
        </p:spPr>
      </p:sp>
      <p:pic>
        <p:nvPicPr>
          <p:cNvPr id="14" name="Image 1" descr="FaLightbulb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83296" y="1929384"/>
            <a:ext cx="219456" cy="219456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8522208" y="1847088"/>
            <a:ext cx="2971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chemeClr val="accent2"/>
                </a:solidFill>
              </a:rPr>
              <a:t>KEY INSIGHTS</a:t>
            </a:r>
            <a:endParaRPr lang="en-US" sz="1300" dirty="0"/>
          </a:p>
        </p:txBody>
      </p:sp>
      <p:sp>
        <p:nvSpPr>
          <p:cNvPr id="16" name="Text 11"/>
          <p:cNvSpPr txBox="1"/>
          <p:nvPr/>
        </p:nvSpPr>
        <p:spPr>
          <a:xfrm>
            <a:off x="8028432" y="2395728"/>
            <a:ext cx="342900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Retailers contribute 73.22% of total gross sales.</a:t>
            </a:r>
            <a:endParaRPr lang="en-US" sz="14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Direct and Distributor together add only 26.79%.</a:t>
            </a:r>
            <a:endParaRPr lang="en-US" sz="1400" dirty="0"/>
          </a:p>
          <a:p>
            <a:pPr marL="177800" indent="-177800">
              <a:buSzPct val="100000"/>
              <a:buChar char="•"/>
            </a:pPr>
            <a:r>
              <a:rPr lang="en-US" sz="1400" b="1" dirty="0">
                <a:solidFill>
                  <a:schemeClr val="accent2"/>
                </a:solidFill>
              </a:rPr>
              <a:t>So what: </a:t>
            </a:r>
            <a:r>
              <a:rPr lang="en-US" sz="1400" dirty="0">
                <a:solidFill>
                  <a:schemeClr val="bg1"/>
                </a:solidFill>
              </a:rPr>
              <a:t>Retailer sales are 4.7x Direct: grow the other channels to cut risk.</a:t>
            </a:r>
            <a:endParaRPr lang="en-US" sz="1400" dirty="0"/>
          </a:p>
        </p:txBody>
      </p:sp>
      <p:sp>
        <p:nvSpPr>
          <p:cNvPr id="17" name="Stat card"/>
          <p:cNvSpPr/>
          <p:nvPr/>
        </p:nvSpPr>
        <p:spPr>
          <a:xfrm>
            <a:off x="7772400" y="4937760"/>
            <a:ext cx="3886200" cy="1325880"/>
          </a:xfrm>
          <a:prstGeom prst="roundRect">
            <a:avLst>
              <a:gd name="adj" fmla="val 11034"/>
            </a:avLst>
          </a:prstGeom>
          <a:solidFill>
            <a:schemeClr val="accent2"/>
          </a:solidFill>
          <a:ln w="25400">
            <a:solidFill>
              <a:schemeClr val="tx1"/>
            </a:solidFill>
            <a:prstDash val="solid"/>
          </a:ln>
          <a:effectLst>
            <a:outerShdw blurRad="101600" dist="63500" dir="2700000" algn="bl" rotWithShape="0">
              <a:srgbClr val="111A3E">
                <a:alpha val="100000"/>
              </a:srgbClr>
            </a:outerShdw>
          </a:effectLst>
        </p:spPr>
      </p:sp>
      <p:sp>
        <p:nvSpPr>
          <p:cNvPr id="18" name="Text 13"/>
          <p:cNvSpPr txBox="1"/>
          <p:nvPr/>
        </p:nvSpPr>
        <p:spPr>
          <a:xfrm>
            <a:off x="8046720" y="5047488"/>
            <a:ext cx="3337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4000" b="1" dirty="0">
                <a:solidFill>
                  <a:schemeClr val="tx1"/>
                </a:solidFill>
              </a:rPr>
              <a:t>73.22%</a:t>
            </a:r>
            <a:endParaRPr lang="en-US" sz="4000" dirty="0"/>
          </a:p>
        </p:txBody>
      </p:sp>
      <p:sp>
        <p:nvSpPr>
          <p:cNvPr id="19" name="Text 14"/>
          <p:cNvSpPr txBox="1"/>
          <p:nvPr/>
        </p:nvSpPr>
        <p:spPr>
          <a:xfrm>
            <a:off x="8074152" y="5797296"/>
            <a:ext cx="3337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chemeClr val="tx1"/>
                </a:solidFill>
              </a:rPr>
              <a:t>of FY2021 gross sales come via Retailers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2B3A7A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27432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1"/>
                </a:solidFill>
              </a:rPr>
              <a:t>Each division has a clear bestseller type</a:t>
            </a:r>
            <a:endParaRPr lang="en-US" sz="3000" dirty="0"/>
          </a:p>
        </p:txBody>
      </p:sp>
      <p:sp>
        <p:nvSpPr>
          <p:cNvPr id="3" name="Mascot ring"/>
          <p:cNvSpPr/>
          <p:nvPr/>
        </p:nvSpPr>
        <p:spPr>
          <a:xfrm>
            <a:off x="10835640" y="228600"/>
            <a:ext cx="914400" cy="9144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  <a:prstDash val="solid"/>
          </a:ln>
          <a:effectLst>
            <a:outerShdw blurRad="101600" dist="63500" dir="2700000" algn="bl" rotWithShape="0">
              <a:srgbClr val="111A3E">
                <a:alpha val="100000"/>
              </a:srgbClr>
            </a:outerShdw>
          </a:effectLst>
        </p:spPr>
      </p:sp>
      <p:pic>
        <p:nvPicPr>
          <p:cNvPr id="4" name="Image 0" descr="Cartoon masco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45368" y="338328"/>
            <a:ext cx="694944" cy="694944"/>
          </a:xfrm>
          <a:prstGeom prst="rect">
            <a:avLst/>
          </a:prstGeom>
        </p:spPr>
      </p:pic>
      <p:sp>
        <p:nvSpPr>
          <p:cNvPr id="5" name="Chip"/>
          <p:cNvSpPr/>
          <p:nvPr/>
        </p:nvSpPr>
        <p:spPr>
          <a:xfrm>
            <a:off x="548640" y="1097280"/>
            <a:ext cx="1463040" cy="347472"/>
          </a:xfrm>
          <a:prstGeom prst="roundRect">
            <a:avLst>
              <a:gd name="adj" fmla="val 50000"/>
            </a:avLst>
          </a:prstGeom>
          <a:solidFill>
            <a:srgbClr val="FF5A5F"/>
          </a:solidFill>
          <a:ln w="19050">
            <a:solidFill>
              <a:schemeClr val="tx1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48640" y="1097280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chemeClr val="bg1"/>
                </a:solidFill>
              </a:rPr>
              <a:t>REQUEST 10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2194560" y="1097280"/>
            <a:ext cx="8046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chemeClr val="tx2"/>
                </a:solidFill>
              </a:rPr>
              <a:t>Top 3 products in each division by units sold, FY2021.</a:t>
            </a:r>
            <a:endParaRPr lang="en-US" sz="1400" dirty="0"/>
          </a:p>
        </p:txBody>
      </p:sp>
      <p:sp>
        <p:nvSpPr>
          <p:cNvPr id="8" name="Chip"/>
          <p:cNvSpPr/>
          <p:nvPr/>
        </p:nvSpPr>
        <p:spPr>
          <a:xfrm>
            <a:off x="10424160" y="1097280"/>
            <a:ext cx="1234440" cy="347472"/>
          </a:xfrm>
          <a:prstGeom prst="roundRect">
            <a:avLst>
              <a:gd name="adj" fmla="val 50000"/>
            </a:avLst>
          </a:prstGeom>
          <a:solidFill>
            <a:srgbClr val="22C3B0"/>
          </a:solidFill>
          <a:ln w="19050">
            <a:solidFill>
              <a:schemeClr val="tx1"/>
            </a:solidFill>
            <a:prstDash val="solid"/>
          </a:ln>
        </p:spPr>
      </p:sp>
      <p:sp>
        <p:nvSpPr>
          <p:cNvPr id="9" name="Text 6">
            <a:hlinkClick r:id="rId4" action="ppaction://hlinksldjump" tooltip="Open SQL query and output"/>
          </p:cNvPr>
          <p:cNvSpPr txBox="1"/>
          <p:nvPr/>
        </p:nvSpPr>
        <p:spPr>
          <a:xfrm>
            <a:off x="10424160" y="1097280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u="sng" kern="0" spc="100" dirty="0">
                <a:solidFill>
                  <a:schemeClr val="tx1"/>
                </a:solidFill>
                <a:hlinkClick r:id="rId4" action="ppaction://hlinksldjump" tooltip="Open SQL query and output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SQL  p.36</a:t>
            </a:r>
            <a:endParaRPr lang="en-US" sz="1200" dirty="0"/>
          </a:p>
        </p:txBody>
      </p:sp>
      <p:sp>
        <p:nvSpPr>
          <p:cNvPr id="10" name="Division card"/>
          <p:cNvSpPr/>
          <p:nvPr/>
        </p:nvSpPr>
        <p:spPr>
          <a:xfrm>
            <a:off x="548640" y="1645920"/>
            <a:ext cx="3611880" cy="3520440"/>
          </a:xfrm>
          <a:prstGeom prst="roundRect">
            <a:avLst>
              <a:gd name="adj" fmla="val 4156"/>
            </a:avLst>
          </a:prstGeom>
          <a:solidFill>
            <a:schemeClr val="bg1"/>
          </a:solidFill>
          <a:ln w="25400">
            <a:solidFill>
              <a:schemeClr val="tx1"/>
            </a:solidFill>
            <a:prstDash val="solid"/>
          </a:ln>
          <a:effectLst>
            <a:outerShdw blurRad="101600" dist="63500" dir="2700000" algn="bl" rotWithShape="0">
              <a:srgbClr val="111A3E">
                <a:alpha val="100000"/>
              </a:srgbClr>
            </a:outerShdw>
          </a:effectLst>
        </p:spPr>
      </p:sp>
      <p:sp>
        <p:nvSpPr>
          <p:cNvPr id="11" name="Badge"/>
          <p:cNvSpPr/>
          <p:nvPr/>
        </p:nvSpPr>
        <p:spPr>
          <a:xfrm>
            <a:off x="731520" y="1828800"/>
            <a:ext cx="566928" cy="566928"/>
          </a:xfrm>
          <a:prstGeom prst="ellipse">
            <a:avLst/>
          </a:prstGeom>
          <a:solidFill>
            <a:srgbClr val="22C3B0"/>
          </a:solidFill>
          <a:ln w="25400">
            <a:solidFill>
              <a:schemeClr val="tx1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731520" y="18288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tx1"/>
                </a:solidFill>
              </a:rPr>
              <a:t>N&amp;S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1417320" y="1828800"/>
            <a:ext cx="2606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Networking and Storage</a:t>
            </a:r>
            <a:endParaRPr lang="en-US" sz="1600" dirty="0"/>
          </a:p>
        </p:txBody>
      </p:sp>
      <p:sp>
        <p:nvSpPr>
          <p:cNvPr id="14" name="Badge"/>
          <p:cNvSpPr/>
          <p:nvPr/>
        </p:nvSpPr>
        <p:spPr>
          <a:xfrm>
            <a:off x="731520" y="2651760"/>
            <a:ext cx="365760" cy="365760"/>
          </a:xfrm>
          <a:prstGeom prst="ellipse">
            <a:avLst/>
          </a:prstGeom>
          <a:solidFill>
            <a:srgbClr val="FFC53D"/>
          </a:solidFill>
          <a:ln w="19050">
            <a:solidFill>
              <a:schemeClr val="tx1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731520" y="26517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tx1"/>
                </a:solidFill>
              </a:rPr>
              <a:t>1</a:t>
            </a:r>
            <a:endParaRPr lang="en-US" sz="1300" dirty="0"/>
          </a:p>
        </p:txBody>
      </p:sp>
      <p:sp>
        <p:nvSpPr>
          <p:cNvPr id="16" name="Text 13"/>
          <p:cNvSpPr txBox="1"/>
          <p:nvPr/>
        </p:nvSpPr>
        <p:spPr>
          <a:xfrm>
            <a:off x="1234440" y="2606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chemeClr val="tx1"/>
                </a:solidFill>
              </a:rPr>
              <a:t>AQ Pen Drive 2 IN 1 (Premium)</a:t>
            </a:r>
            <a:endParaRPr lang="en-US" sz="1300" dirty="0"/>
          </a:p>
        </p:txBody>
      </p:sp>
      <p:sp>
        <p:nvSpPr>
          <p:cNvPr id="17" name="Bar track"/>
          <p:cNvSpPr/>
          <p:nvPr/>
        </p:nvSpPr>
        <p:spPr>
          <a:xfrm>
            <a:off x="1234440" y="2971800"/>
            <a:ext cx="2011680" cy="182880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8" name="Bar"/>
          <p:cNvSpPr/>
          <p:nvPr/>
        </p:nvSpPr>
        <p:spPr>
          <a:xfrm>
            <a:off x="1234440" y="2971800"/>
            <a:ext cx="2011680" cy="182880"/>
          </a:xfrm>
          <a:prstGeom prst="roundRect">
            <a:avLst>
              <a:gd name="adj" fmla="val 50000"/>
            </a:avLst>
          </a:prstGeom>
          <a:solidFill>
            <a:srgbClr val="22C3B0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3291840" y="2907792"/>
            <a:ext cx="777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tx1"/>
                </a:solidFill>
              </a:rPr>
              <a:t>701,373</a:t>
            </a:r>
            <a:endParaRPr lang="en-US" sz="1200" dirty="0"/>
          </a:p>
        </p:txBody>
      </p:sp>
      <p:sp>
        <p:nvSpPr>
          <p:cNvPr id="20" name="Badge"/>
          <p:cNvSpPr/>
          <p:nvPr/>
        </p:nvSpPr>
        <p:spPr>
          <a:xfrm>
            <a:off x="731520" y="3502152"/>
            <a:ext cx="365760" cy="365760"/>
          </a:xfrm>
          <a:prstGeom prst="ellipse">
            <a:avLst/>
          </a:prstGeom>
          <a:solidFill>
            <a:srgbClr val="C3CBE0"/>
          </a:solidFill>
          <a:ln w="19050">
            <a:solidFill>
              <a:schemeClr val="tx1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731520" y="35021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tx1"/>
                </a:solidFill>
              </a:rPr>
              <a:t>2</a:t>
            </a:r>
            <a:endParaRPr lang="en-US" sz="1300" dirty="0"/>
          </a:p>
        </p:txBody>
      </p:sp>
      <p:sp>
        <p:nvSpPr>
          <p:cNvPr id="22" name="Text 19"/>
          <p:cNvSpPr txBox="1"/>
          <p:nvPr/>
        </p:nvSpPr>
        <p:spPr>
          <a:xfrm>
            <a:off x="1234440" y="345643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chemeClr val="tx1"/>
                </a:solidFill>
              </a:rPr>
              <a:t>AQ Pen Drive DRC (Plus)</a:t>
            </a:r>
            <a:endParaRPr lang="en-US" sz="1300" dirty="0"/>
          </a:p>
        </p:txBody>
      </p:sp>
      <p:sp>
        <p:nvSpPr>
          <p:cNvPr id="23" name="Bar track"/>
          <p:cNvSpPr/>
          <p:nvPr/>
        </p:nvSpPr>
        <p:spPr>
          <a:xfrm>
            <a:off x="1234440" y="3822192"/>
            <a:ext cx="2011680" cy="182880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24" name="Bar"/>
          <p:cNvSpPr/>
          <p:nvPr/>
        </p:nvSpPr>
        <p:spPr>
          <a:xfrm>
            <a:off x="1234440" y="3822192"/>
            <a:ext cx="1973332" cy="182880"/>
          </a:xfrm>
          <a:prstGeom prst="roundRect">
            <a:avLst>
              <a:gd name="adj" fmla="val 50000"/>
            </a:avLst>
          </a:prstGeom>
          <a:solidFill>
            <a:srgbClr val="22C3B0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3291840" y="3758184"/>
            <a:ext cx="777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tx1"/>
                </a:solidFill>
              </a:rPr>
              <a:t>688,003</a:t>
            </a:r>
            <a:endParaRPr lang="en-US" sz="1200" dirty="0"/>
          </a:p>
        </p:txBody>
      </p:sp>
      <p:sp>
        <p:nvSpPr>
          <p:cNvPr id="26" name="Badge"/>
          <p:cNvSpPr/>
          <p:nvPr/>
        </p:nvSpPr>
        <p:spPr>
          <a:xfrm>
            <a:off x="731520" y="4352544"/>
            <a:ext cx="365760" cy="365760"/>
          </a:xfrm>
          <a:prstGeom prst="ellipse">
            <a:avLst/>
          </a:prstGeom>
          <a:solidFill>
            <a:srgbClr val="FF8A3D"/>
          </a:solidFill>
          <a:ln w="19050">
            <a:solidFill>
              <a:schemeClr val="tx1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731520" y="435254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tx1"/>
                </a:solidFill>
              </a:rPr>
              <a:t>3</a:t>
            </a:r>
            <a:endParaRPr lang="en-US" sz="1300" dirty="0"/>
          </a:p>
        </p:txBody>
      </p:sp>
      <p:sp>
        <p:nvSpPr>
          <p:cNvPr id="28" name="Text 25"/>
          <p:cNvSpPr txBox="1"/>
          <p:nvPr/>
        </p:nvSpPr>
        <p:spPr>
          <a:xfrm>
            <a:off x="1234440" y="4306824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chemeClr val="tx1"/>
                </a:solidFill>
              </a:rPr>
              <a:t>AQ Pen Drive DRC (Premium)</a:t>
            </a:r>
            <a:endParaRPr lang="en-US" sz="1300" dirty="0"/>
          </a:p>
        </p:txBody>
      </p:sp>
      <p:sp>
        <p:nvSpPr>
          <p:cNvPr id="29" name="Bar track"/>
          <p:cNvSpPr/>
          <p:nvPr/>
        </p:nvSpPr>
        <p:spPr>
          <a:xfrm>
            <a:off x="1234440" y="4672584"/>
            <a:ext cx="2011680" cy="182880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30" name="Bar"/>
          <p:cNvSpPr/>
          <p:nvPr/>
        </p:nvSpPr>
        <p:spPr>
          <a:xfrm>
            <a:off x="1234440" y="4672584"/>
            <a:ext cx="1939608" cy="182880"/>
          </a:xfrm>
          <a:prstGeom prst="roundRect">
            <a:avLst>
              <a:gd name="adj" fmla="val 50000"/>
            </a:avLst>
          </a:prstGeom>
          <a:solidFill>
            <a:srgbClr val="22C3B0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3291840" y="4608576"/>
            <a:ext cx="777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tx1"/>
                </a:solidFill>
              </a:rPr>
              <a:t>676,245</a:t>
            </a:r>
            <a:endParaRPr lang="en-US" sz="1200" dirty="0"/>
          </a:p>
        </p:txBody>
      </p:sp>
      <p:sp>
        <p:nvSpPr>
          <p:cNvPr id="32" name="Division insight"/>
          <p:cNvSpPr/>
          <p:nvPr/>
        </p:nvSpPr>
        <p:spPr>
          <a:xfrm>
            <a:off x="548640" y="5349240"/>
            <a:ext cx="3611880" cy="914400"/>
          </a:xfrm>
          <a:prstGeom prst="roundRect">
            <a:avLst>
              <a:gd name="adj" fmla="val 16000"/>
            </a:avLst>
          </a:prstGeom>
          <a:solidFill>
            <a:schemeClr val="tx1"/>
          </a:solidFill>
          <a:ln w="25400">
            <a:solidFill>
              <a:schemeClr val="tx1"/>
            </a:solidFill>
            <a:prstDash val="solid"/>
          </a:ln>
          <a:effectLst>
            <a:outerShdw blurRad="101600" dist="63500" dir="2700000" algn="bl" rotWithShape="0">
              <a:srgbClr val="111A3E">
                <a:alpha val="100000"/>
              </a:srgbClr>
            </a:outerShdw>
          </a:effectLst>
        </p:spPr>
      </p:sp>
      <p:sp>
        <p:nvSpPr>
          <p:cNvPr id="33" name="Text 30"/>
          <p:cNvSpPr txBox="1"/>
          <p:nvPr/>
        </p:nvSpPr>
        <p:spPr>
          <a:xfrm>
            <a:off x="777240" y="5349240"/>
            <a:ext cx="3154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bg1"/>
                </a:solidFill>
              </a:rPr>
              <a:t>Pen drives take all three spots; #3 trails #1 by just 3.6%.</a:t>
            </a:r>
            <a:endParaRPr lang="en-US" sz="1400" dirty="0"/>
          </a:p>
        </p:txBody>
      </p:sp>
      <p:sp>
        <p:nvSpPr>
          <p:cNvPr id="34" name="Division card"/>
          <p:cNvSpPr/>
          <p:nvPr/>
        </p:nvSpPr>
        <p:spPr>
          <a:xfrm>
            <a:off x="4297680" y="1645920"/>
            <a:ext cx="3611880" cy="3520440"/>
          </a:xfrm>
          <a:prstGeom prst="roundRect">
            <a:avLst>
              <a:gd name="adj" fmla="val 4156"/>
            </a:avLst>
          </a:prstGeom>
          <a:solidFill>
            <a:schemeClr val="bg1"/>
          </a:solidFill>
          <a:ln w="25400">
            <a:solidFill>
              <a:schemeClr val="tx1"/>
            </a:solidFill>
            <a:prstDash val="solid"/>
          </a:ln>
          <a:effectLst>
            <a:outerShdw blurRad="101600" dist="63500" dir="2700000" algn="bl" rotWithShape="0">
              <a:srgbClr val="111A3E">
                <a:alpha val="100000"/>
              </a:srgbClr>
            </a:outerShdw>
          </a:effectLst>
        </p:spPr>
      </p:sp>
      <p:sp>
        <p:nvSpPr>
          <p:cNvPr id="35" name="Badge"/>
          <p:cNvSpPr/>
          <p:nvPr/>
        </p:nvSpPr>
        <p:spPr>
          <a:xfrm>
            <a:off x="4480560" y="1828800"/>
            <a:ext cx="566928" cy="566928"/>
          </a:xfrm>
          <a:prstGeom prst="ellipse">
            <a:avLst/>
          </a:prstGeom>
          <a:solidFill>
            <a:srgbClr val="FFC53D"/>
          </a:solidFill>
          <a:ln w="25400">
            <a:solidFill>
              <a:schemeClr val="tx1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4480560" y="18288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tx1"/>
                </a:solidFill>
              </a:rPr>
              <a:t>P&amp;A</a:t>
            </a:r>
            <a:endParaRPr lang="en-US" sz="1300" dirty="0"/>
          </a:p>
        </p:txBody>
      </p:sp>
      <p:sp>
        <p:nvSpPr>
          <p:cNvPr id="37" name="Text 34"/>
          <p:cNvSpPr txBox="1"/>
          <p:nvPr/>
        </p:nvSpPr>
        <p:spPr>
          <a:xfrm>
            <a:off x="5166360" y="1828800"/>
            <a:ext cx="2606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Peripherals and Accessories</a:t>
            </a:r>
            <a:endParaRPr lang="en-US" sz="1600" dirty="0"/>
          </a:p>
        </p:txBody>
      </p:sp>
      <p:sp>
        <p:nvSpPr>
          <p:cNvPr id="38" name="Badge"/>
          <p:cNvSpPr/>
          <p:nvPr/>
        </p:nvSpPr>
        <p:spPr>
          <a:xfrm>
            <a:off x="4480560" y="2651760"/>
            <a:ext cx="365760" cy="365760"/>
          </a:xfrm>
          <a:prstGeom prst="ellipse">
            <a:avLst/>
          </a:prstGeom>
          <a:solidFill>
            <a:srgbClr val="FFC53D"/>
          </a:solidFill>
          <a:ln w="19050">
            <a:solidFill>
              <a:schemeClr val="tx1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4480560" y="26517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tx1"/>
                </a:solidFill>
              </a:rPr>
              <a:t>1</a:t>
            </a:r>
            <a:endParaRPr lang="en-US" sz="1300" dirty="0"/>
          </a:p>
        </p:txBody>
      </p:sp>
      <p:sp>
        <p:nvSpPr>
          <p:cNvPr id="40" name="Text 37"/>
          <p:cNvSpPr txBox="1"/>
          <p:nvPr/>
        </p:nvSpPr>
        <p:spPr>
          <a:xfrm>
            <a:off x="4983480" y="2606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chemeClr val="tx1"/>
                </a:solidFill>
              </a:rPr>
              <a:t>AQ Gamers Ms (Standard 2)</a:t>
            </a:r>
            <a:endParaRPr lang="en-US" sz="1300" dirty="0"/>
          </a:p>
        </p:txBody>
      </p:sp>
      <p:sp>
        <p:nvSpPr>
          <p:cNvPr id="41" name="Bar track"/>
          <p:cNvSpPr/>
          <p:nvPr/>
        </p:nvSpPr>
        <p:spPr>
          <a:xfrm>
            <a:off x="4983480" y="2971800"/>
            <a:ext cx="2011680" cy="182880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42" name="Bar"/>
          <p:cNvSpPr/>
          <p:nvPr/>
        </p:nvSpPr>
        <p:spPr>
          <a:xfrm>
            <a:off x="4983480" y="2971800"/>
            <a:ext cx="2011680" cy="182880"/>
          </a:xfrm>
          <a:prstGeom prst="roundRect">
            <a:avLst>
              <a:gd name="adj" fmla="val 50000"/>
            </a:avLst>
          </a:prstGeom>
          <a:solidFill>
            <a:srgbClr val="FFC53D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43" name="Text 40"/>
          <p:cNvSpPr txBox="1"/>
          <p:nvPr/>
        </p:nvSpPr>
        <p:spPr>
          <a:xfrm>
            <a:off x="7040880" y="2907792"/>
            <a:ext cx="777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tx1"/>
                </a:solidFill>
              </a:rPr>
              <a:t>428,498</a:t>
            </a:r>
            <a:endParaRPr lang="en-US" sz="1200" dirty="0"/>
          </a:p>
        </p:txBody>
      </p:sp>
      <p:sp>
        <p:nvSpPr>
          <p:cNvPr id="44" name="Badge"/>
          <p:cNvSpPr/>
          <p:nvPr/>
        </p:nvSpPr>
        <p:spPr>
          <a:xfrm>
            <a:off x="4480560" y="3502152"/>
            <a:ext cx="365760" cy="365760"/>
          </a:xfrm>
          <a:prstGeom prst="ellipse">
            <a:avLst/>
          </a:prstGeom>
          <a:solidFill>
            <a:srgbClr val="C3CBE0"/>
          </a:solidFill>
          <a:ln w="19050">
            <a:solidFill>
              <a:schemeClr val="tx1"/>
            </a:solidFill>
            <a:prstDash val="solid"/>
          </a:ln>
        </p:spPr>
      </p:sp>
      <p:sp>
        <p:nvSpPr>
          <p:cNvPr id="45" name="Text 42"/>
          <p:cNvSpPr txBox="1"/>
          <p:nvPr/>
        </p:nvSpPr>
        <p:spPr>
          <a:xfrm>
            <a:off x="4480560" y="35021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tx1"/>
                </a:solidFill>
              </a:rPr>
              <a:t>2</a:t>
            </a:r>
            <a:endParaRPr lang="en-US" sz="1300" dirty="0"/>
          </a:p>
        </p:txBody>
      </p:sp>
      <p:sp>
        <p:nvSpPr>
          <p:cNvPr id="46" name="Text 43"/>
          <p:cNvSpPr txBox="1"/>
          <p:nvPr/>
        </p:nvSpPr>
        <p:spPr>
          <a:xfrm>
            <a:off x="4983480" y="345643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chemeClr val="tx1"/>
                </a:solidFill>
              </a:rPr>
              <a:t>AQ Maxima Ms (Standard 1)</a:t>
            </a:r>
            <a:endParaRPr lang="en-US" sz="1300" dirty="0"/>
          </a:p>
        </p:txBody>
      </p:sp>
      <p:sp>
        <p:nvSpPr>
          <p:cNvPr id="47" name="Bar track"/>
          <p:cNvSpPr/>
          <p:nvPr/>
        </p:nvSpPr>
        <p:spPr>
          <a:xfrm>
            <a:off x="4983480" y="3822192"/>
            <a:ext cx="2011680" cy="182880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48" name="Bar"/>
          <p:cNvSpPr/>
          <p:nvPr/>
        </p:nvSpPr>
        <p:spPr>
          <a:xfrm>
            <a:off x="4983480" y="3822192"/>
            <a:ext cx="1971150" cy="182880"/>
          </a:xfrm>
          <a:prstGeom prst="roundRect">
            <a:avLst>
              <a:gd name="adj" fmla="val 50000"/>
            </a:avLst>
          </a:prstGeom>
          <a:solidFill>
            <a:srgbClr val="FFC53D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49" name="Text 46"/>
          <p:cNvSpPr txBox="1"/>
          <p:nvPr/>
        </p:nvSpPr>
        <p:spPr>
          <a:xfrm>
            <a:off x="7040880" y="3758184"/>
            <a:ext cx="777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tx1"/>
                </a:solidFill>
              </a:rPr>
              <a:t>419,865</a:t>
            </a:r>
            <a:endParaRPr lang="en-US" sz="1200" dirty="0"/>
          </a:p>
        </p:txBody>
      </p:sp>
      <p:sp>
        <p:nvSpPr>
          <p:cNvPr id="50" name="Badge"/>
          <p:cNvSpPr/>
          <p:nvPr/>
        </p:nvSpPr>
        <p:spPr>
          <a:xfrm>
            <a:off x="4480560" y="4352544"/>
            <a:ext cx="365760" cy="365760"/>
          </a:xfrm>
          <a:prstGeom prst="ellipse">
            <a:avLst/>
          </a:prstGeom>
          <a:solidFill>
            <a:srgbClr val="FF8A3D"/>
          </a:solidFill>
          <a:ln w="19050">
            <a:solidFill>
              <a:schemeClr val="tx1"/>
            </a:solidFill>
            <a:prstDash val="solid"/>
          </a:ln>
        </p:spPr>
      </p:sp>
      <p:sp>
        <p:nvSpPr>
          <p:cNvPr id="51" name="Text 48"/>
          <p:cNvSpPr txBox="1"/>
          <p:nvPr/>
        </p:nvSpPr>
        <p:spPr>
          <a:xfrm>
            <a:off x="4480560" y="435254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tx1"/>
                </a:solidFill>
              </a:rPr>
              <a:t>3</a:t>
            </a:r>
            <a:endParaRPr lang="en-US" sz="1300" dirty="0"/>
          </a:p>
        </p:txBody>
      </p:sp>
      <p:sp>
        <p:nvSpPr>
          <p:cNvPr id="52" name="Text 49"/>
          <p:cNvSpPr txBox="1"/>
          <p:nvPr/>
        </p:nvSpPr>
        <p:spPr>
          <a:xfrm>
            <a:off x="4983480" y="4306824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chemeClr val="tx1"/>
                </a:solidFill>
              </a:rPr>
              <a:t>AQ Maxima Ms (Plus 2)</a:t>
            </a:r>
            <a:endParaRPr lang="en-US" sz="1300" dirty="0"/>
          </a:p>
        </p:txBody>
      </p:sp>
      <p:sp>
        <p:nvSpPr>
          <p:cNvPr id="53" name="Bar track"/>
          <p:cNvSpPr/>
          <p:nvPr/>
        </p:nvSpPr>
        <p:spPr>
          <a:xfrm>
            <a:off x="4983480" y="4672584"/>
            <a:ext cx="2011680" cy="182880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54" name="Bar"/>
          <p:cNvSpPr/>
          <p:nvPr/>
        </p:nvSpPr>
        <p:spPr>
          <a:xfrm>
            <a:off x="4983480" y="4672584"/>
            <a:ext cx="1969301" cy="182880"/>
          </a:xfrm>
          <a:prstGeom prst="roundRect">
            <a:avLst>
              <a:gd name="adj" fmla="val 50000"/>
            </a:avLst>
          </a:prstGeom>
          <a:solidFill>
            <a:srgbClr val="FFC53D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55" name="Text 52"/>
          <p:cNvSpPr txBox="1"/>
          <p:nvPr/>
        </p:nvSpPr>
        <p:spPr>
          <a:xfrm>
            <a:off x="7040880" y="4608576"/>
            <a:ext cx="777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tx1"/>
                </a:solidFill>
              </a:rPr>
              <a:t>419,471</a:t>
            </a:r>
            <a:endParaRPr lang="en-US" sz="1200" dirty="0"/>
          </a:p>
        </p:txBody>
      </p:sp>
      <p:sp>
        <p:nvSpPr>
          <p:cNvPr id="56" name="Division insight"/>
          <p:cNvSpPr/>
          <p:nvPr/>
        </p:nvSpPr>
        <p:spPr>
          <a:xfrm>
            <a:off x="4297680" y="5349240"/>
            <a:ext cx="3611880" cy="914400"/>
          </a:xfrm>
          <a:prstGeom prst="roundRect">
            <a:avLst>
              <a:gd name="adj" fmla="val 16000"/>
            </a:avLst>
          </a:prstGeom>
          <a:solidFill>
            <a:schemeClr val="tx1"/>
          </a:solidFill>
          <a:ln w="25400">
            <a:solidFill>
              <a:schemeClr val="tx1"/>
            </a:solidFill>
            <a:prstDash val="solid"/>
          </a:ln>
          <a:effectLst>
            <a:outerShdw blurRad="101600" dist="63500" dir="2700000" algn="bl" rotWithShape="0">
              <a:srgbClr val="111A3E">
                <a:alpha val="100000"/>
              </a:srgbClr>
            </a:outerShdw>
          </a:effectLst>
        </p:spPr>
      </p:sp>
      <p:sp>
        <p:nvSpPr>
          <p:cNvPr id="57" name="Text 54"/>
          <p:cNvSpPr txBox="1"/>
          <p:nvPr/>
        </p:nvSpPr>
        <p:spPr>
          <a:xfrm>
            <a:off x="4526280" y="5349240"/>
            <a:ext cx="3154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bg1"/>
                </a:solidFill>
              </a:rPr>
              <a:t>All three are mice, and #3 trails #1 by only 2.1%.</a:t>
            </a:r>
            <a:endParaRPr lang="en-US" sz="1400" dirty="0"/>
          </a:p>
        </p:txBody>
      </p:sp>
      <p:sp>
        <p:nvSpPr>
          <p:cNvPr id="58" name="Division card"/>
          <p:cNvSpPr/>
          <p:nvPr/>
        </p:nvSpPr>
        <p:spPr>
          <a:xfrm>
            <a:off x="8046720" y="1645920"/>
            <a:ext cx="3611880" cy="3520440"/>
          </a:xfrm>
          <a:prstGeom prst="roundRect">
            <a:avLst>
              <a:gd name="adj" fmla="val 4156"/>
            </a:avLst>
          </a:prstGeom>
          <a:solidFill>
            <a:schemeClr val="bg1"/>
          </a:solidFill>
          <a:ln w="25400">
            <a:solidFill>
              <a:schemeClr val="tx1"/>
            </a:solidFill>
            <a:prstDash val="solid"/>
          </a:ln>
          <a:effectLst>
            <a:outerShdw blurRad="101600" dist="63500" dir="2700000" algn="bl" rotWithShape="0">
              <a:srgbClr val="111A3E">
                <a:alpha val="100000"/>
              </a:srgbClr>
            </a:outerShdw>
          </a:effectLst>
        </p:spPr>
      </p:sp>
      <p:sp>
        <p:nvSpPr>
          <p:cNvPr id="59" name="Badge"/>
          <p:cNvSpPr/>
          <p:nvPr/>
        </p:nvSpPr>
        <p:spPr>
          <a:xfrm>
            <a:off x="8229600" y="1828800"/>
            <a:ext cx="566928" cy="566928"/>
          </a:xfrm>
          <a:prstGeom prst="ellipse">
            <a:avLst/>
          </a:prstGeom>
          <a:solidFill>
            <a:srgbClr val="FF5A5F"/>
          </a:solidFill>
          <a:ln w="25400">
            <a:solidFill>
              <a:schemeClr val="tx1"/>
            </a:solidFill>
            <a:prstDash val="solid"/>
          </a:ln>
        </p:spPr>
      </p:sp>
      <p:sp>
        <p:nvSpPr>
          <p:cNvPr id="60" name="Text 57"/>
          <p:cNvSpPr txBox="1"/>
          <p:nvPr/>
        </p:nvSpPr>
        <p:spPr>
          <a:xfrm>
            <a:off x="8229600" y="18288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tx1"/>
                </a:solidFill>
              </a:rPr>
              <a:t>PC</a:t>
            </a:r>
            <a:endParaRPr lang="en-US" sz="1300" dirty="0"/>
          </a:p>
        </p:txBody>
      </p:sp>
      <p:sp>
        <p:nvSpPr>
          <p:cNvPr id="61" name="Text 58"/>
          <p:cNvSpPr txBox="1"/>
          <p:nvPr/>
        </p:nvSpPr>
        <p:spPr>
          <a:xfrm>
            <a:off x="8915400" y="1828800"/>
            <a:ext cx="2606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Personal Computers</a:t>
            </a:r>
            <a:endParaRPr lang="en-US" sz="1600" dirty="0"/>
          </a:p>
        </p:txBody>
      </p:sp>
      <p:sp>
        <p:nvSpPr>
          <p:cNvPr id="62" name="Badge"/>
          <p:cNvSpPr/>
          <p:nvPr/>
        </p:nvSpPr>
        <p:spPr>
          <a:xfrm>
            <a:off x="8229600" y="2651760"/>
            <a:ext cx="365760" cy="365760"/>
          </a:xfrm>
          <a:prstGeom prst="ellipse">
            <a:avLst/>
          </a:prstGeom>
          <a:solidFill>
            <a:srgbClr val="FFC53D"/>
          </a:solidFill>
          <a:ln w="19050">
            <a:solidFill>
              <a:schemeClr val="tx1"/>
            </a:solidFill>
            <a:prstDash val="solid"/>
          </a:ln>
        </p:spPr>
      </p:sp>
      <p:sp>
        <p:nvSpPr>
          <p:cNvPr id="63" name="Text 60"/>
          <p:cNvSpPr txBox="1"/>
          <p:nvPr/>
        </p:nvSpPr>
        <p:spPr>
          <a:xfrm>
            <a:off x="8229600" y="26517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tx1"/>
                </a:solidFill>
              </a:rPr>
              <a:t>1</a:t>
            </a:r>
            <a:endParaRPr lang="en-US" sz="1300" dirty="0"/>
          </a:p>
        </p:txBody>
      </p:sp>
      <p:sp>
        <p:nvSpPr>
          <p:cNvPr id="64" name="Text 61"/>
          <p:cNvSpPr txBox="1"/>
          <p:nvPr/>
        </p:nvSpPr>
        <p:spPr>
          <a:xfrm>
            <a:off x="8732520" y="2606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chemeClr val="tx1"/>
                </a:solidFill>
              </a:rPr>
              <a:t>AQ Digit (Standard Blue)</a:t>
            </a:r>
            <a:endParaRPr lang="en-US" sz="1300" dirty="0"/>
          </a:p>
        </p:txBody>
      </p:sp>
      <p:sp>
        <p:nvSpPr>
          <p:cNvPr id="65" name="Bar track"/>
          <p:cNvSpPr/>
          <p:nvPr/>
        </p:nvSpPr>
        <p:spPr>
          <a:xfrm>
            <a:off x="8732520" y="2971800"/>
            <a:ext cx="2011680" cy="182880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66" name="Bar"/>
          <p:cNvSpPr/>
          <p:nvPr/>
        </p:nvSpPr>
        <p:spPr>
          <a:xfrm>
            <a:off x="8732520" y="2971800"/>
            <a:ext cx="2011680" cy="182880"/>
          </a:xfrm>
          <a:prstGeom prst="roundRect">
            <a:avLst>
              <a:gd name="adj" fmla="val 50000"/>
            </a:avLst>
          </a:prstGeom>
          <a:solidFill>
            <a:srgbClr val="FF5A5F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67" name="Text 64"/>
          <p:cNvSpPr txBox="1"/>
          <p:nvPr/>
        </p:nvSpPr>
        <p:spPr>
          <a:xfrm>
            <a:off x="10789920" y="2907792"/>
            <a:ext cx="777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tx1"/>
                </a:solidFill>
              </a:rPr>
              <a:t>17,434</a:t>
            </a:r>
            <a:endParaRPr lang="en-US" sz="1200" dirty="0"/>
          </a:p>
        </p:txBody>
      </p:sp>
      <p:sp>
        <p:nvSpPr>
          <p:cNvPr id="68" name="Badge"/>
          <p:cNvSpPr/>
          <p:nvPr/>
        </p:nvSpPr>
        <p:spPr>
          <a:xfrm>
            <a:off x="8229600" y="3502152"/>
            <a:ext cx="365760" cy="365760"/>
          </a:xfrm>
          <a:prstGeom prst="ellipse">
            <a:avLst/>
          </a:prstGeom>
          <a:solidFill>
            <a:srgbClr val="C3CBE0"/>
          </a:solidFill>
          <a:ln w="19050">
            <a:solidFill>
              <a:schemeClr val="tx1"/>
            </a:solidFill>
            <a:prstDash val="solid"/>
          </a:ln>
        </p:spPr>
      </p:sp>
      <p:sp>
        <p:nvSpPr>
          <p:cNvPr id="69" name="Text 66"/>
          <p:cNvSpPr txBox="1"/>
          <p:nvPr/>
        </p:nvSpPr>
        <p:spPr>
          <a:xfrm>
            <a:off x="8229600" y="35021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tx1"/>
                </a:solidFill>
              </a:rPr>
              <a:t>2</a:t>
            </a:r>
            <a:endParaRPr lang="en-US" sz="1300" dirty="0"/>
          </a:p>
        </p:txBody>
      </p:sp>
      <p:sp>
        <p:nvSpPr>
          <p:cNvPr id="70" name="Text 67"/>
          <p:cNvSpPr txBox="1"/>
          <p:nvPr/>
        </p:nvSpPr>
        <p:spPr>
          <a:xfrm>
            <a:off x="8732520" y="345643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chemeClr val="tx1"/>
                </a:solidFill>
              </a:rPr>
              <a:t>AQ Velocity (Plus Red)</a:t>
            </a:r>
            <a:endParaRPr lang="en-US" sz="1300" dirty="0"/>
          </a:p>
        </p:txBody>
      </p:sp>
      <p:sp>
        <p:nvSpPr>
          <p:cNvPr id="71" name="Bar track"/>
          <p:cNvSpPr/>
          <p:nvPr/>
        </p:nvSpPr>
        <p:spPr>
          <a:xfrm>
            <a:off x="8732520" y="3822192"/>
            <a:ext cx="2011680" cy="182880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72" name="Bar"/>
          <p:cNvSpPr/>
          <p:nvPr/>
        </p:nvSpPr>
        <p:spPr>
          <a:xfrm>
            <a:off x="8732520" y="3822192"/>
            <a:ext cx="1993910" cy="182880"/>
          </a:xfrm>
          <a:prstGeom prst="roundRect">
            <a:avLst>
              <a:gd name="adj" fmla="val 50000"/>
            </a:avLst>
          </a:prstGeom>
          <a:solidFill>
            <a:srgbClr val="FF5A5F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73" name="Text 70"/>
          <p:cNvSpPr txBox="1"/>
          <p:nvPr/>
        </p:nvSpPr>
        <p:spPr>
          <a:xfrm>
            <a:off x="10789920" y="3758184"/>
            <a:ext cx="777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tx1"/>
                </a:solidFill>
              </a:rPr>
              <a:t>17,280</a:t>
            </a:r>
            <a:endParaRPr lang="en-US" sz="1200" dirty="0"/>
          </a:p>
        </p:txBody>
      </p:sp>
      <p:sp>
        <p:nvSpPr>
          <p:cNvPr id="74" name="Badge"/>
          <p:cNvSpPr/>
          <p:nvPr/>
        </p:nvSpPr>
        <p:spPr>
          <a:xfrm>
            <a:off x="8229600" y="4352544"/>
            <a:ext cx="365760" cy="365760"/>
          </a:xfrm>
          <a:prstGeom prst="ellipse">
            <a:avLst/>
          </a:prstGeom>
          <a:solidFill>
            <a:srgbClr val="FF8A3D"/>
          </a:solidFill>
          <a:ln w="19050">
            <a:solidFill>
              <a:schemeClr val="tx1"/>
            </a:solidFill>
            <a:prstDash val="solid"/>
          </a:ln>
        </p:spPr>
      </p:sp>
      <p:sp>
        <p:nvSpPr>
          <p:cNvPr id="75" name="Text 72"/>
          <p:cNvSpPr txBox="1"/>
          <p:nvPr/>
        </p:nvSpPr>
        <p:spPr>
          <a:xfrm>
            <a:off x="8229600" y="435254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tx1"/>
                </a:solidFill>
              </a:rPr>
              <a:t>3</a:t>
            </a:r>
            <a:endParaRPr lang="en-US" sz="1300" dirty="0"/>
          </a:p>
        </p:txBody>
      </p:sp>
      <p:sp>
        <p:nvSpPr>
          <p:cNvPr id="76" name="Text 73"/>
          <p:cNvSpPr txBox="1"/>
          <p:nvPr/>
        </p:nvSpPr>
        <p:spPr>
          <a:xfrm>
            <a:off x="8732520" y="4306824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chemeClr val="tx1"/>
                </a:solidFill>
              </a:rPr>
              <a:t>AQ Digit (Premium Misty Green)</a:t>
            </a:r>
            <a:endParaRPr lang="en-US" sz="1300" dirty="0"/>
          </a:p>
        </p:txBody>
      </p:sp>
      <p:sp>
        <p:nvSpPr>
          <p:cNvPr id="77" name="Bar track"/>
          <p:cNvSpPr/>
          <p:nvPr/>
        </p:nvSpPr>
        <p:spPr>
          <a:xfrm>
            <a:off x="8732520" y="4672584"/>
            <a:ext cx="2011680" cy="182880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78" name="Bar"/>
          <p:cNvSpPr/>
          <p:nvPr/>
        </p:nvSpPr>
        <p:spPr>
          <a:xfrm>
            <a:off x="8732520" y="4672584"/>
            <a:ext cx="1993333" cy="182880"/>
          </a:xfrm>
          <a:prstGeom prst="roundRect">
            <a:avLst>
              <a:gd name="adj" fmla="val 50000"/>
            </a:avLst>
          </a:prstGeom>
          <a:solidFill>
            <a:srgbClr val="FF5A5F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79" name="Text 76"/>
          <p:cNvSpPr txBox="1"/>
          <p:nvPr/>
        </p:nvSpPr>
        <p:spPr>
          <a:xfrm>
            <a:off x="10789920" y="4608576"/>
            <a:ext cx="777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tx1"/>
                </a:solidFill>
              </a:rPr>
              <a:t>17,275</a:t>
            </a:r>
            <a:endParaRPr lang="en-US" sz="1200" dirty="0"/>
          </a:p>
        </p:txBody>
      </p:sp>
      <p:sp>
        <p:nvSpPr>
          <p:cNvPr id="80" name="Division insight"/>
          <p:cNvSpPr/>
          <p:nvPr/>
        </p:nvSpPr>
        <p:spPr>
          <a:xfrm>
            <a:off x="8046720" y="5349240"/>
            <a:ext cx="3611880" cy="914400"/>
          </a:xfrm>
          <a:prstGeom prst="roundRect">
            <a:avLst>
              <a:gd name="adj" fmla="val 16000"/>
            </a:avLst>
          </a:prstGeom>
          <a:solidFill>
            <a:schemeClr val="tx1"/>
          </a:solidFill>
          <a:ln w="25400">
            <a:solidFill>
              <a:schemeClr val="tx1"/>
            </a:solidFill>
            <a:prstDash val="solid"/>
          </a:ln>
          <a:effectLst>
            <a:outerShdw blurRad="101600" dist="63500" dir="2700000" algn="bl" rotWithShape="0">
              <a:srgbClr val="111A3E">
                <a:alpha val="100000"/>
              </a:srgbClr>
            </a:outerShdw>
          </a:effectLst>
        </p:spPr>
      </p:sp>
      <p:sp>
        <p:nvSpPr>
          <p:cNvPr id="81" name="Text 78"/>
          <p:cNvSpPr txBox="1"/>
          <p:nvPr/>
        </p:nvSpPr>
        <p:spPr>
          <a:xfrm>
            <a:off x="8275320" y="5349240"/>
            <a:ext cx="3154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bg1"/>
                </a:solidFill>
              </a:rPr>
              <a:t>All personal laptops, separated by just 0.9% at the top.</a:t>
            </a:r>
            <a:endParaRPr lang="en-US" sz="1400" dirty="0"/>
          </a:p>
        </p:txBody>
      </p:sp>
      <p:sp>
        <p:nvSpPr>
          <p:cNvPr id="82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2B3A7A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27432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1"/>
                </a:solidFill>
              </a:rPr>
              <a:t>Amazon leads FY2021 net sales</a:t>
            </a:r>
            <a:endParaRPr lang="en-US" sz="3000" dirty="0"/>
          </a:p>
        </p:txBody>
      </p:sp>
      <p:sp>
        <p:nvSpPr>
          <p:cNvPr id="3" name="Mascot ring"/>
          <p:cNvSpPr/>
          <p:nvPr/>
        </p:nvSpPr>
        <p:spPr>
          <a:xfrm>
            <a:off x="10835640" y="228600"/>
            <a:ext cx="914400" cy="9144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  <a:prstDash val="solid"/>
          </a:ln>
          <a:effectLst>
            <a:outerShdw blurRad="101600" dist="63500" dir="2700000" algn="bl" rotWithShape="0">
              <a:srgbClr val="111A3E">
                <a:alpha val="100000"/>
              </a:srgbClr>
            </a:outerShdw>
          </a:effectLst>
        </p:spPr>
      </p:sp>
      <p:pic>
        <p:nvPicPr>
          <p:cNvPr id="4" name="Image 0" descr="Cartoon masco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45368" y="338328"/>
            <a:ext cx="694944" cy="694944"/>
          </a:xfrm>
          <a:prstGeom prst="rect">
            <a:avLst/>
          </a:prstGeom>
        </p:spPr>
      </p:pic>
      <p:sp>
        <p:nvSpPr>
          <p:cNvPr id="5" name="Chip"/>
          <p:cNvSpPr/>
          <p:nvPr/>
        </p:nvSpPr>
        <p:spPr>
          <a:xfrm>
            <a:off x="548640" y="1097280"/>
            <a:ext cx="1463040" cy="347472"/>
          </a:xfrm>
          <a:prstGeom prst="roundRect">
            <a:avLst>
              <a:gd name="adj" fmla="val 50000"/>
            </a:avLst>
          </a:prstGeom>
          <a:solidFill>
            <a:srgbClr val="FF5A5F"/>
          </a:solidFill>
          <a:ln w="19050">
            <a:solidFill>
              <a:schemeClr val="tx1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48640" y="1097280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chemeClr val="bg1"/>
                </a:solidFill>
              </a:rPr>
              <a:t>REQUEST 11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2194560" y="1097280"/>
            <a:ext cx="8046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chemeClr val="tx2"/>
                </a:solidFill>
              </a:rPr>
              <a:t>Top 3 customers by net sales in FY2021 (stored procedure top_customer).</a:t>
            </a:r>
            <a:endParaRPr lang="en-US" sz="1400" dirty="0"/>
          </a:p>
        </p:txBody>
      </p:sp>
      <p:sp>
        <p:nvSpPr>
          <p:cNvPr id="8" name="Chip"/>
          <p:cNvSpPr/>
          <p:nvPr/>
        </p:nvSpPr>
        <p:spPr>
          <a:xfrm>
            <a:off x="10424160" y="1097280"/>
            <a:ext cx="1234440" cy="347472"/>
          </a:xfrm>
          <a:prstGeom prst="roundRect">
            <a:avLst>
              <a:gd name="adj" fmla="val 50000"/>
            </a:avLst>
          </a:prstGeom>
          <a:solidFill>
            <a:srgbClr val="22C3B0"/>
          </a:solidFill>
          <a:ln w="19050">
            <a:solidFill>
              <a:schemeClr val="tx1"/>
            </a:solidFill>
            <a:prstDash val="solid"/>
          </a:ln>
        </p:spPr>
      </p:sp>
      <p:sp>
        <p:nvSpPr>
          <p:cNvPr id="9" name="Text 6">
            <a:hlinkClick r:id="rId4" action="ppaction://hlinksldjump" tooltip="Open SQL query and output"/>
          </p:cNvPr>
          <p:cNvSpPr txBox="1"/>
          <p:nvPr/>
        </p:nvSpPr>
        <p:spPr>
          <a:xfrm>
            <a:off x="10424160" y="1097280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u="sng" kern="0" spc="100" dirty="0">
                <a:solidFill>
                  <a:schemeClr val="tx1"/>
                </a:solidFill>
                <a:hlinkClick r:id="rId4" action="ppaction://hlinksldjump" tooltip="Open SQL query and output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SQL  p.37</a:t>
            </a:r>
            <a:endParaRPr lang="en-US" sz="1200" dirty="0"/>
          </a:p>
        </p:txBody>
      </p:sp>
      <p:sp>
        <p:nvSpPr>
          <p:cNvPr id="10" name="Chart card"/>
          <p:cNvSpPr/>
          <p:nvPr/>
        </p:nvSpPr>
        <p:spPr>
          <a:xfrm>
            <a:off x="548640" y="1645920"/>
            <a:ext cx="6949440" cy="4617720"/>
          </a:xfrm>
          <a:prstGeom prst="roundRect">
            <a:avLst>
              <a:gd name="adj" fmla="val 3168"/>
            </a:avLst>
          </a:prstGeom>
          <a:solidFill>
            <a:schemeClr val="bg1"/>
          </a:solidFill>
          <a:ln w="25400">
            <a:solidFill>
              <a:schemeClr val="tx1"/>
            </a:solidFill>
            <a:prstDash val="solid"/>
          </a:ln>
          <a:effectLst>
            <a:outerShdw blurRad="101600" dist="63500" dir="2700000" algn="bl" rotWithShape="0">
              <a:srgbClr val="111A3E">
                <a:alpha val="100000"/>
              </a:srgbClr>
            </a:outerShdw>
          </a:effectLst>
        </p:spPr>
      </p:sp>
      <p:graphicFrame>
        <p:nvGraphicFramePr>
          <p:cNvPr id="11" name="Chart 0"/>
          <p:cNvGraphicFramePr/>
          <p:nvPr/>
        </p:nvGraphicFramePr>
        <p:xfrm>
          <a:off x="731520" y="1783080"/>
          <a:ext cx="6583680" cy="4343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12" name="Insights card"/>
          <p:cNvSpPr/>
          <p:nvPr/>
        </p:nvSpPr>
        <p:spPr>
          <a:xfrm>
            <a:off x="7772400" y="1645920"/>
            <a:ext cx="3886200" cy="3108960"/>
          </a:xfrm>
          <a:prstGeom prst="roundRect">
            <a:avLst>
              <a:gd name="adj" fmla="val 4706"/>
            </a:avLst>
          </a:prstGeom>
          <a:solidFill>
            <a:schemeClr val="tx1"/>
          </a:solidFill>
          <a:ln w="25400">
            <a:solidFill>
              <a:schemeClr val="tx1"/>
            </a:solidFill>
            <a:prstDash val="solid"/>
          </a:ln>
          <a:effectLst>
            <a:outerShdw blurRad="101600" dist="63500" dir="2700000" algn="bl" rotWithShape="0">
              <a:srgbClr val="111A3E">
                <a:alpha val="100000"/>
              </a:srgbClr>
            </a:outerShdw>
          </a:effectLst>
        </p:spPr>
      </p:sp>
      <p:sp>
        <p:nvSpPr>
          <p:cNvPr id="13" name="Badge"/>
          <p:cNvSpPr/>
          <p:nvPr/>
        </p:nvSpPr>
        <p:spPr>
          <a:xfrm>
            <a:off x="8001000" y="1847088"/>
            <a:ext cx="384048" cy="384048"/>
          </a:xfrm>
          <a:prstGeom prst="ellipse">
            <a:avLst/>
          </a:prstGeom>
          <a:solidFill>
            <a:srgbClr val="FFC53D"/>
          </a:solidFill>
          <a:ln w="25400">
            <a:solidFill>
              <a:srgbClr val="FFC53D"/>
            </a:solidFill>
            <a:prstDash val="solid"/>
          </a:ln>
        </p:spPr>
      </p:sp>
      <p:pic>
        <p:nvPicPr>
          <p:cNvPr id="14" name="Image 1" descr="FaLightbulb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83296" y="1929384"/>
            <a:ext cx="219456" cy="219456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8522208" y="1847088"/>
            <a:ext cx="2971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chemeClr val="accent2"/>
                </a:solidFill>
              </a:rPr>
              <a:t>KEY INSIGHTS</a:t>
            </a:r>
            <a:endParaRPr lang="en-US" sz="1300" dirty="0"/>
          </a:p>
        </p:txBody>
      </p:sp>
      <p:sp>
        <p:nvSpPr>
          <p:cNvPr id="16" name="Text 11"/>
          <p:cNvSpPr txBox="1"/>
          <p:nvPr/>
        </p:nvSpPr>
        <p:spPr>
          <a:xfrm>
            <a:off x="8028432" y="2395728"/>
            <a:ext cx="342900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Amazon leads with 109.03M in net sales.</a:t>
            </a:r>
            <a:endParaRPr lang="en-US" sz="14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The two AtliQ stores add up to 150.23M, 38% more than Amazon alone.</a:t>
            </a:r>
            <a:endParaRPr lang="en-US" sz="1400" dirty="0"/>
          </a:p>
          <a:p>
            <a:pPr marL="177800" indent="-177800">
              <a:buSzPct val="100000"/>
              <a:buChar char="•"/>
            </a:pPr>
            <a:r>
              <a:rPr lang="en-US" sz="1400" b="1" dirty="0">
                <a:solidFill>
                  <a:schemeClr val="accent2"/>
                </a:solidFill>
              </a:rPr>
              <a:t>So what: </a:t>
            </a:r>
            <a:r>
              <a:rPr lang="en-US" sz="1400" dirty="0">
                <a:solidFill>
                  <a:schemeClr val="bg1"/>
                </a:solidFill>
              </a:rPr>
              <a:t>AtliQ's own stores are a major revenue engine: grow both.</a:t>
            </a:r>
            <a:endParaRPr lang="en-US" sz="1400" dirty="0"/>
          </a:p>
        </p:txBody>
      </p:sp>
      <p:sp>
        <p:nvSpPr>
          <p:cNvPr id="17" name="Stat card"/>
          <p:cNvSpPr/>
          <p:nvPr/>
        </p:nvSpPr>
        <p:spPr>
          <a:xfrm>
            <a:off x="7772400" y="4937760"/>
            <a:ext cx="3886200" cy="1325880"/>
          </a:xfrm>
          <a:prstGeom prst="roundRect">
            <a:avLst>
              <a:gd name="adj" fmla="val 11034"/>
            </a:avLst>
          </a:prstGeom>
          <a:solidFill>
            <a:schemeClr val="accent2"/>
          </a:solidFill>
          <a:ln w="25400">
            <a:solidFill>
              <a:schemeClr val="tx1"/>
            </a:solidFill>
            <a:prstDash val="solid"/>
          </a:ln>
          <a:effectLst>
            <a:outerShdw blurRad="101600" dist="63500" dir="2700000" algn="bl" rotWithShape="0">
              <a:srgbClr val="111A3E">
                <a:alpha val="100000"/>
              </a:srgbClr>
            </a:outerShdw>
          </a:effectLst>
        </p:spPr>
      </p:sp>
      <p:sp>
        <p:nvSpPr>
          <p:cNvPr id="18" name="Text 13"/>
          <p:cNvSpPr txBox="1"/>
          <p:nvPr/>
        </p:nvSpPr>
        <p:spPr>
          <a:xfrm>
            <a:off x="8046720" y="5047488"/>
            <a:ext cx="3337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4000" b="1" dirty="0">
                <a:solidFill>
                  <a:schemeClr val="tx1"/>
                </a:solidFill>
              </a:rPr>
              <a:t>+38%</a:t>
            </a:r>
            <a:endParaRPr lang="en-US" sz="4000" dirty="0"/>
          </a:p>
        </p:txBody>
      </p:sp>
      <p:sp>
        <p:nvSpPr>
          <p:cNvPr id="19" name="Text 14"/>
          <p:cNvSpPr txBox="1"/>
          <p:nvPr/>
        </p:nvSpPr>
        <p:spPr>
          <a:xfrm>
            <a:off x="8046720" y="5742432"/>
            <a:ext cx="3337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chemeClr val="tx1"/>
                </a:solidFill>
              </a:rPr>
              <a:t>two AtliQ stores combined vs Amazon alone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2B3A7A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27432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1"/>
                </a:solidFill>
              </a:rPr>
              <a:t>Amazon holds 13% of APAC net sales</a:t>
            </a:r>
            <a:endParaRPr lang="en-US" sz="3000" dirty="0"/>
          </a:p>
        </p:txBody>
      </p:sp>
      <p:sp>
        <p:nvSpPr>
          <p:cNvPr id="3" name="Mascot ring"/>
          <p:cNvSpPr/>
          <p:nvPr/>
        </p:nvSpPr>
        <p:spPr>
          <a:xfrm>
            <a:off x="10835640" y="228600"/>
            <a:ext cx="914400" cy="9144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  <a:prstDash val="solid"/>
          </a:ln>
          <a:effectLst>
            <a:outerShdw blurRad="101600" dist="63500" dir="2700000" algn="bl" rotWithShape="0">
              <a:srgbClr val="111A3E">
                <a:alpha val="100000"/>
              </a:srgbClr>
            </a:outerShdw>
          </a:effectLst>
        </p:spPr>
      </p:sp>
      <p:pic>
        <p:nvPicPr>
          <p:cNvPr id="4" name="Image 0" descr="Cartoon masco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45368" y="338328"/>
            <a:ext cx="694944" cy="694944"/>
          </a:xfrm>
          <a:prstGeom prst="rect">
            <a:avLst/>
          </a:prstGeom>
        </p:spPr>
      </p:pic>
      <p:sp>
        <p:nvSpPr>
          <p:cNvPr id="5" name="Chip"/>
          <p:cNvSpPr/>
          <p:nvPr/>
        </p:nvSpPr>
        <p:spPr>
          <a:xfrm>
            <a:off x="548640" y="1097280"/>
            <a:ext cx="1463040" cy="347472"/>
          </a:xfrm>
          <a:prstGeom prst="roundRect">
            <a:avLst>
              <a:gd name="adj" fmla="val 50000"/>
            </a:avLst>
          </a:prstGeom>
          <a:solidFill>
            <a:srgbClr val="FF5A5F"/>
          </a:solidFill>
          <a:ln w="19050">
            <a:solidFill>
              <a:schemeClr val="tx1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48640" y="1097280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chemeClr val="bg1"/>
                </a:solidFill>
              </a:rPr>
              <a:t>REQUEST 12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2194560" y="1097280"/>
            <a:ext cx="8046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chemeClr val="tx2"/>
                </a:solidFill>
              </a:rPr>
              <a:t>Share of APAC net sales by customer, FY2021.</a:t>
            </a:r>
            <a:endParaRPr lang="en-US" sz="1400" dirty="0"/>
          </a:p>
        </p:txBody>
      </p:sp>
      <p:sp>
        <p:nvSpPr>
          <p:cNvPr id="8" name="Chip"/>
          <p:cNvSpPr/>
          <p:nvPr/>
        </p:nvSpPr>
        <p:spPr>
          <a:xfrm>
            <a:off x="10424160" y="1097280"/>
            <a:ext cx="1234440" cy="347472"/>
          </a:xfrm>
          <a:prstGeom prst="roundRect">
            <a:avLst>
              <a:gd name="adj" fmla="val 50000"/>
            </a:avLst>
          </a:prstGeom>
          <a:solidFill>
            <a:srgbClr val="22C3B0"/>
          </a:solidFill>
          <a:ln w="19050">
            <a:solidFill>
              <a:schemeClr val="tx1"/>
            </a:solidFill>
            <a:prstDash val="solid"/>
          </a:ln>
        </p:spPr>
      </p:sp>
      <p:sp>
        <p:nvSpPr>
          <p:cNvPr id="9" name="Text 6">
            <a:hlinkClick r:id="rId4" action="ppaction://hlinksldjump" tooltip="Open SQL query and output"/>
          </p:cNvPr>
          <p:cNvSpPr txBox="1"/>
          <p:nvPr/>
        </p:nvSpPr>
        <p:spPr>
          <a:xfrm>
            <a:off x="10424160" y="1097280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u="sng" kern="0" spc="100" dirty="0">
                <a:solidFill>
                  <a:schemeClr val="tx1"/>
                </a:solidFill>
                <a:hlinkClick r:id="rId4" action="ppaction://hlinksldjump" tooltip="Open SQL query and output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SQL  p.37</a:t>
            </a:r>
            <a:endParaRPr lang="en-US" sz="1200" dirty="0"/>
          </a:p>
        </p:txBody>
      </p:sp>
      <p:sp>
        <p:nvSpPr>
          <p:cNvPr id="10" name="Chart card"/>
          <p:cNvSpPr/>
          <p:nvPr/>
        </p:nvSpPr>
        <p:spPr>
          <a:xfrm>
            <a:off x="548640" y="1645920"/>
            <a:ext cx="6949440" cy="4617720"/>
          </a:xfrm>
          <a:prstGeom prst="roundRect">
            <a:avLst>
              <a:gd name="adj" fmla="val 3168"/>
            </a:avLst>
          </a:prstGeom>
          <a:solidFill>
            <a:schemeClr val="bg1"/>
          </a:solidFill>
          <a:ln w="25400">
            <a:solidFill>
              <a:schemeClr val="tx1"/>
            </a:solidFill>
            <a:prstDash val="solid"/>
          </a:ln>
          <a:effectLst>
            <a:outerShdw blurRad="101600" dist="63500" dir="2700000" algn="bl" rotWithShape="0">
              <a:srgbClr val="111A3E">
                <a:alpha val="100000"/>
              </a:srgbClr>
            </a:outerShdw>
          </a:effectLst>
        </p:spPr>
      </p:sp>
      <p:graphicFrame>
        <p:nvGraphicFramePr>
          <p:cNvPr id="11" name="Chart 0"/>
          <p:cNvGraphicFramePr/>
          <p:nvPr/>
        </p:nvGraphicFramePr>
        <p:xfrm>
          <a:off x="731520" y="1783080"/>
          <a:ext cx="6583680" cy="4343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12" name="Insights card"/>
          <p:cNvSpPr/>
          <p:nvPr/>
        </p:nvSpPr>
        <p:spPr>
          <a:xfrm>
            <a:off x="7772400" y="1645920"/>
            <a:ext cx="3886200" cy="3108960"/>
          </a:xfrm>
          <a:prstGeom prst="roundRect">
            <a:avLst>
              <a:gd name="adj" fmla="val 4706"/>
            </a:avLst>
          </a:prstGeom>
          <a:solidFill>
            <a:schemeClr val="tx1"/>
          </a:solidFill>
          <a:ln w="25400">
            <a:solidFill>
              <a:schemeClr val="tx1"/>
            </a:solidFill>
            <a:prstDash val="solid"/>
          </a:ln>
          <a:effectLst>
            <a:outerShdw blurRad="101600" dist="63500" dir="2700000" algn="bl" rotWithShape="0">
              <a:srgbClr val="111A3E">
                <a:alpha val="100000"/>
              </a:srgbClr>
            </a:outerShdw>
          </a:effectLst>
        </p:spPr>
      </p:sp>
      <p:sp>
        <p:nvSpPr>
          <p:cNvPr id="13" name="Badge"/>
          <p:cNvSpPr/>
          <p:nvPr/>
        </p:nvSpPr>
        <p:spPr>
          <a:xfrm>
            <a:off x="8001000" y="1847088"/>
            <a:ext cx="384048" cy="384048"/>
          </a:xfrm>
          <a:prstGeom prst="ellipse">
            <a:avLst/>
          </a:prstGeom>
          <a:solidFill>
            <a:srgbClr val="FFC53D"/>
          </a:solidFill>
          <a:ln w="25400">
            <a:solidFill>
              <a:srgbClr val="FFC53D"/>
            </a:solidFill>
            <a:prstDash val="solid"/>
          </a:ln>
        </p:spPr>
      </p:sp>
      <p:pic>
        <p:nvPicPr>
          <p:cNvPr id="14" name="Image 1" descr="FaLightbulb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83296" y="1929384"/>
            <a:ext cx="219456" cy="219456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8522208" y="1847088"/>
            <a:ext cx="2971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chemeClr val="accent2"/>
                </a:solidFill>
              </a:rPr>
              <a:t>KEY INSIGHTS</a:t>
            </a:r>
            <a:endParaRPr lang="en-US" sz="1300" dirty="0"/>
          </a:p>
        </p:txBody>
      </p:sp>
      <p:sp>
        <p:nvSpPr>
          <p:cNvPr id="16" name="Text 11"/>
          <p:cNvSpPr txBox="1"/>
          <p:nvPr/>
        </p:nvSpPr>
        <p:spPr>
          <a:xfrm>
            <a:off x="8028432" y="2395728"/>
            <a:ext cx="342900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Amazon (12.99%), AtliQ Exclusive (11.67%) and AtliQ e Store (8.36%) hold 33.02%.</a:t>
            </a:r>
            <a:endParaRPr lang="en-US" sz="14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The next five customers each hold 3% to 6%.</a:t>
            </a:r>
            <a:endParaRPr lang="en-US" sz="1400" dirty="0"/>
          </a:p>
          <a:p>
            <a:pPr marL="177800" indent="-177800">
              <a:buSzPct val="100000"/>
              <a:buChar char="•"/>
            </a:pPr>
            <a:r>
              <a:rPr lang="en-US" sz="1400" b="1" dirty="0">
                <a:solidFill>
                  <a:schemeClr val="accent2"/>
                </a:solidFill>
              </a:rPr>
              <a:t>So what: </a:t>
            </a:r>
            <a:r>
              <a:rPr lang="en-US" sz="1400" dirty="0">
                <a:solidFill>
                  <a:schemeClr val="bg1"/>
                </a:solidFill>
              </a:rPr>
              <a:t>The top 8 hold 55.37%; a long tail of 1%-or-less customers holds the rest.</a:t>
            </a:r>
            <a:endParaRPr lang="en-US" sz="1400" dirty="0"/>
          </a:p>
        </p:txBody>
      </p:sp>
      <p:sp>
        <p:nvSpPr>
          <p:cNvPr id="17" name="Stat card"/>
          <p:cNvSpPr/>
          <p:nvPr/>
        </p:nvSpPr>
        <p:spPr>
          <a:xfrm>
            <a:off x="7772400" y="4937760"/>
            <a:ext cx="3886200" cy="1325880"/>
          </a:xfrm>
          <a:prstGeom prst="roundRect">
            <a:avLst>
              <a:gd name="adj" fmla="val 11034"/>
            </a:avLst>
          </a:prstGeom>
          <a:solidFill>
            <a:schemeClr val="accent2"/>
          </a:solidFill>
          <a:ln w="25400">
            <a:solidFill>
              <a:schemeClr val="tx1"/>
            </a:solidFill>
            <a:prstDash val="solid"/>
          </a:ln>
          <a:effectLst>
            <a:outerShdw blurRad="101600" dist="63500" dir="2700000" algn="bl" rotWithShape="0">
              <a:srgbClr val="111A3E">
                <a:alpha val="100000"/>
              </a:srgbClr>
            </a:outerShdw>
          </a:effectLst>
        </p:spPr>
      </p:sp>
      <p:sp>
        <p:nvSpPr>
          <p:cNvPr id="18" name="Text 13"/>
          <p:cNvSpPr txBox="1"/>
          <p:nvPr/>
        </p:nvSpPr>
        <p:spPr>
          <a:xfrm>
            <a:off x="8046720" y="5047488"/>
            <a:ext cx="3337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4000" b="1" dirty="0">
                <a:solidFill>
                  <a:schemeClr val="tx1"/>
                </a:solidFill>
              </a:rPr>
              <a:t>33.02%</a:t>
            </a:r>
            <a:endParaRPr lang="en-US" sz="4000" dirty="0"/>
          </a:p>
        </p:txBody>
      </p:sp>
      <p:sp>
        <p:nvSpPr>
          <p:cNvPr id="19" name="Text 14"/>
          <p:cNvSpPr txBox="1"/>
          <p:nvPr/>
        </p:nvSpPr>
        <p:spPr>
          <a:xfrm>
            <a:off x="8046720" y="5742432"/>
            <a:ext cx="3337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chemeClr val="tx1"/>
                </a:solidFill>
              </a:rPr>
              <a:t>of APAC net sales held by the top 3 customers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2B3A7A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27432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1"/>
                </a:solidFill>
              </a:rPr>
              <a:t>Pen drives and mice sell in the millions</a:t>
            </a:r>
            <a:endParaRPr lang="en-US" sz="3000" dirty="0"/>
          </a:p>
        </p:txBody>
      </p:sp>
      <p:sp>
        <p:nvSpPr>
          <p:cNvPr id="3" name="Mascot ring"/>
          <p:cNvSpPr/>
          <p:nvPr/>
        </p:nvSpPr>
        <p:spPr>
          <a:xfrm>
            <a:off x="10835640" y="228600"/>
            <a:ext cx="914400" cy="9144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  <a:prstDash val="solid"/>
          </a:ln>
          <a:effectLst>
            <a:outerShdw blurRad="101600" dist="63500" dir="2700000" algn="bl" rotWithShape="0">
              <a:srgbClr val="111A3E">
                <a:alpha val="100000"/>
              </a:srgbClr>
            </a:outerShdw>
          </a:effectLst>
        </p:spPr>
      </p:sp>
      <p:pic>
        <p:nvPicPr>
          <p:cNvPr id="4" name="Image 0" descr="Cartoon masco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45368" y="338328"/>
            <a:ext cx="694944" cy="694944"/>
          </a:xfrm>
          <a:prstGeom prst="rect">
            <a:avLst/>
          </a:prstGeom>
        </p:spPr>
      </p:pic>
      <p:sp>
        <p:nvSpPr>
          <p:cNvPr id="5" name="Chip"/>
          <p:cNvSpPr/>
          <p:nvPr/>
        </p:nvSpPr>
        <p:spPr>
          <a:xfrm>
            <a:off x="548640" y="1097280"/>
            <a:ext cx="1463040" cy="347472"/>
          </a:xfrm>
          <a:prstGeom prst="roundRect">
            <a:avLst>
              <a:gd name="adj" fmla="val 50000"/>
            </a:avLst>
          </a:prstGeom>
          <a:solidFill>
            <a:srgbClr val="FF5A5F"/>
          </a:solidFill>
          <a:ln w="19050">
            <a:solidFill>
              <a:schemeClr val="tx1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48640" y="1097280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chemeClr val="bg1"/>
                </a:solidFill>
              </a:rPr>
              <a:t>REQUEST 13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2194560" y="1097280"/>
            <a:ext cx="8046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chemeClr val="tx2"/>
                </a:solidFill>
              </a:rPr>
              <a:t>Top 3 product families in each division by units sold, FY2021.</a:t>
            </a:r>
            <a:endParaRPr lang="en-US" sz="1400" dirty="0"/>
          </a:p>
        </p:txBody>
      </p:sp>
      <p:sp>
        <p:nvSpPr>
          <p:cNvPr id="8" name="Chip"/>
          <p:cNvSpPr/>
          <p:nvPr/>
        </p:nvSpPr>
        <p:spPr>
          <a:xfrm>
            <a:off x="10424160" y="1097280"/>
            <a:ext cx="1234440" cy="347472"/>
          </a:xfrm>
          <a:prstGeom prst="roundRect">
            <a:avLst>
              <a:gd name="adj" fmla="val 50000"/>
            </a:avLst>
          </a:prstGeom>
          <a:solidFill>
            <a:srgbClr val="22C3B0"/>
          </a:solidFill>
          <a:ln w="19050">
            <a:solidFill>
              <a:schemeClr val="tx1"/>
            </a:solidFill>
            <a:prstDash val="solid"/>
          </a:ln>
        </p:spPr>
      </p:sp>
      <p:sp>
        <p:nvSpPr>
          <p:cNvPr id="9" name="Text 6">
            <a:hlinkClick r:id="rId4" action="ppaction://hlinksldjump" tooltip="Open SQL query and output"/>
          </p:cNvPr>
          <p:cNvSpPr txBox="1"/>
          <p:nvPr/>
        </p:nvSpPr>
        <p:spPr>
          <a:xfrm>
            <a:off x="10424160" y="1097280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u="sng" kern="0" spc="100" dirty="0">
                <a:solidFill>
                  <a:schemeClr val="tx1"/>
                </a:solidFill>
                <a:hlinkClick r:id="rId4" action="ppaction://hlinksldjump" tooltip="Open SQL query and output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SQL  p.38</a:t>
            </a:r>
            <a:endParaRPr lang="en-US" sz="1200" dirty="0"/>
          </a:p>
        </p:txBody>
      </p:sp>
      <p:sp>
        <p:nvSpPr>
          <p:cNvPr id="10" name="Division card"/>
          <p:cNvSpPr/>
          <p:nvPr/>
        </p:nvSpPr>
        <p:spPr>
          <a:xfrm>
            <a:off x="548640" y="1645920"/>
            <a:ext cx="3611880" cy="3520440"/>
          </a:xfrm>
          <a:prstGeom prst="roundRect">
            <a:avLst>
              <a:gd name="adj" fmla="val 4156"/>
            </a:avLst>
          </a:prstGeom>
          <a:solidFill>
            <a:schemeClr val="bg1"/>
          </a:solidFill>
          <a:ln w="25400">
            <a:solidFill>
              <a:schemeClr val="tx1"/>
            </a:solidFill>
            <a:prstDash val="solid"/>
          </a:ln>
          <a:effectLst>
            <a:outerShdw blurRad="101600" dist="63500" dir="2700000" algn="bl" rotWithShape="0">
              <a:srgbClr val="111A3E">
                <a:alpha val="100000"/>
              </a:srgbClr>
            </a:outerShdw>
          </a:effectLst>
        </p:spPr>
      </p:sp>
      <p:sp>
        <p:nvSpPr>
          <p:cNvPr id="11" name="Badge"/>
          <p:cNvSpPr/>
          <p:nvPr/>
        </p:nvSpPr>
        <p:spPr>
          <a:xfrm>
            <a:off x="731520" y="1828800"/>
            <a:ext cx="566928" cy="566928"/>
          </a:xfrm>
          <a:prstGeom prst="ellipse">
            <a:avLst/>
          </a:prstGeom>
          <a:solidFill>
            <a:srgbClr val="22C3B0"/>
          </a:solidFill>
          <a:ln w="25400">
            <a:solidFill>
              <a:schemeClr val="tx1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731520" y="18288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tx1"/>
                </a:solidFill>
              </a:rPr>
              <a:t>N&amp;S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1417320" y="1828800"/>
            <a:ext cx="2606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Networking and Storage</a:t>
            </a:r>
            <a:endParaRPr lang="en-US" sz="1600" dirty="0"/>
          </a:p>
        </p:txBody>
      </p:sp>
      <p:graphicFrame>
        <p:nvGraphicFramePr>
          <p:cNvPr id="14" name="Chart 0"/>
          <p:cNvGraphicFramePr/>
          <p:nvPr/>
        </p:nvGraphicFramePr>
        <p:xfrm>
          <a:off x="640080" y="2514600"/>
          <a:ext cx="3429000" cy="25603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15" name="Division insight"/>
          <p:cNvSpPr/>
          <p:nvPr/>
        </p:nvSpPr>
        <p:spPr>
          <a:xfrm>
            <a:off x="548640" y="5349240"/>
            <a:ext cx="3611880" cy="914400"/>
          </a:xfrm>
          <a:prstGeom prst="roundRect">
            <a:avLst>
              <a:gd name="adj" fmla="val 16000"/>
            </a:avLst>
          </a:prstGeom>
          <a:solidFill>
            <a:schemeClr val="tx1"/>
          </a:solidFill>
          <a:ln w="25400">
            <a:solidFill>
              <a:schemeClr val="tx1"/>
            </a:solidFill>
            <a:prstDash val="solid"/>
          </a:ln>
          <a:effectLst>
            <a:outerShdw blurRad="101600" dist="63500" dir="2700000" algn="bl" rotWithShape="0">
              <a:srgbClr val="111A3E">
                <a:alpha val="100000"/>
              </a:srgbClr>
            </a:outerShdw>
          </a:effectLst>
        </p:spPr>
      </p:sp>
      <p:sp>
        <p:nvSpPr>
          <p:cNvPr id="16" name="Text 12"/>
          <p:cNvSpPr txBox="1"/>
          <p:nvPr/>
        </p:nvSpPr>
        <p:spPr>
          <a:xfrm>
            <a:off x="777240" y="5349240"/>
            <a:ext cx="3154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bg1"/>
                </a:solidFill>
              </a:rPr>
              <a:t>Pen Drive DRC leads with 2.03M units, 1.6x the runners-up.</a:t>
            </a:r>
            <a:endParaRPr lang="en-US" sz="1400" dirty="0"/>
          </a:p>
        </p:txBody>
      </p:sp>
      <p:sp>
        <p:nvSpPr>
          <p:cNvPr id="17" name="Division card"/>
          <p:cNvSpPr/>
          <p:nvPr/>
        </p:nvSpPr>
        <p:spPr>
          <a:xfrm>
            <a:off x="4297680" y="1645920"/>
            <a:ext cx="3611880" cy="3520440"/>
          </a:xfrm>
          <a:prstGeom prst="roundRect">
            <a:avLst>
              <a:gd name="adj" fmla="val 4156"/>
            </a:avLst>
          </a:prstGeom>
          <a:solidFill>
            <a:schemeClr val="bg1"/>
          </a:solidFill>
          <a:ln w="25400">
            <a:solidFill>
              <a:schemeClr val="tx1"/>
            </a:solidFill>
            <a:prstDash val="solid"/>
          </a:ln>
          <a:effectLst>
            <a:outerShdw blurRad="101600" dist="63500" dir="2700000" algn="bl" rotWithShape="0">
              <a:srgbClr val="111A3E">
                <a:alpha val="100000"/>
              </a:srgbClr>
            </a:outerShdw>
          </a:effectLst>
        </p:spPr>
      </p:sp>
      <p:sp>
        <p:nvSpPr>
          <p:cNvPr id="18" name="Badge"/>
          <p:cNvSpPr/>
          <p:nvPr/>
        </p:nvSpPr>
        <p:spPr>
          <a:xfrm>
            <a:off x="4480560" y="1828800"/>
            <a:ext cx="566928" cy="566928"/>
          </a:xfrm>
          <a:prstGeom prst="ellipse">
            <a:avLst/>
          </a:prstGeom>
          <a:solidFill>
            <a:srgbClr val="FFC53D"/>
          </a:solidFill>
          <a:ln w="25400">
            <a:solidFill>
              <a:schemeClr val="tx1"/>
            </a:solidFill>
            <a:prstDash val="solid"/>
          </a:ln>
        </p:spPr>
      </p:sp>
      <p:sp>
        <p:nvSpPr>
          <p:cNvPr id="19" name="Text 15"/>
          <p:cNvSpPr txBox="1"/>
          <p:nvPr/>
        </p:nvSpPr>
        <p:spPr>
          <a:xfrm>
            <a:off x="4480560" y="18288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tx1"/>
                </a:solidFill>
              </a:rPr>
              <a:t>P&amp;A</a:t>
            </a:r>
            <a:endParaRPr lang="en-US" sz="1300" dirty="0"/>
          </a:p>
        </p:txBody>
      </p:sp>
      <p:sp>
        <p:nvSpPr>
          <p:cNvPr id="20" name="Text 16"/>
          <p:cNvSpPr txBox="1"/>
          <p:nvPr/>
        </p:nvSpPr>
        <p:spPr>
          <a:xfrm>
            <a:off x="5166360" y="1828800"/>
            <a:ext cx="2606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Peripherals and Accessories</a:t>
            </a:r>
            <a:endParaRPr lang="en-US" sz="1600" dirty="0"/>
          </a:p>
        </p:txBody>
      </p:sp>
      <p:graphicFrame>
        <p:nvGraphicFramePr>
          <p:cNvPr id="21" name="Chart 1"/>
          <p:cNvGraphicFramePr/>
          <p:nvPr/>
        </p:nvGraphicFramePr>
        <p:xfrm>
          <a:off x="4389120" y="2514600"/>
          <a:ext cx="3429000" cy="25603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sp>
        <p:nvSpPr>
          <p:cNvPr id="22" name="Division insight"/>
          <p:cNvSpPr/>
          <p:nvPr/>
        </p:nvSpPr>
        <p:spPr>
          <a:xfrm>
            <a:off x="4297680" y="5349240"/>
            <a:ext cx="3611880" cy="914400"/>
          </a:xfrm>
          <a:prstGeom prst="roundRect">
            <a:avLst>
              <a:gd name="adj" fmla="val 16000"/>
            </a:avLst>
          </a:prstGeom>
          <a:solidFill>
            <a:schemeClr val="tx1"/>
          </a:solidFill>
          <a:ln w="25400">
            <a:solidFill>
              <a:schemeClr val="tx1"/>
            </a:solidFill>
            <a:prstDash val="solid"/>
          </a:ln>
          <a:effectLst>
            <a:outerShdw blurRad="101600" dist="63500" dir="2700000" algn="bl" rotWithShape="0">
              <a:srgbClr val="111A3E">
                <a:alpha val="100000"/>
              </a:srgbClr>
            </a:outerShdw>
          </a:effectLst>
        </p:spPr>
      </p:sp>
      <p:sp>
        <p:nvSpPr>
          <p:cNvPr id="23" name="Text 18"/>
          <p:cNvSpPr txBox="1"/>
          <p:nvPr/>
        </p:nvSpPr>
        <p:spPr>
          <a:xfrm>
            <a:off x="4526280" y="5349240"/>
            <a:ext cx="3154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bg1"/>
                </a:solidFill>
              </a:rPr>
              <a:t>Three mice sit within 30K units of each other.</a:t>
            </a:r>
            <a:endParaRPr lang="en-US" sz="1400" dirty="0"/>
          </a:p>
        </p:txBody>
      </p:sp>
      <p:sp>
        <p:nvSpPr>
          <p:cNvPr id="24" name="Division card"/>
          <p:cNvSpPr/>
          <p:nvPr/>
        </p:nvSpPr>
        <p:spPr>
          <a:xfrm>
            <a:off x="8046720" y="1645920"/>
            <a:ext cx="3611880" cy="3520440"/>
          </a:xfrm>
          <a:prstGeom prst="roundRect">
            <a:avLst>
              <a:gd name="adj" fmla="val 4156"/>
            </a:avLst>
          </a:prstGeom>
          <a:solidFill>
            <a:schemeClr val="bg1"/>
          </a:solidFill>
          <a:ln w="25400">
            <a:solidFill>
              <a:schemeClr val="tx1"/>
            </a:solidFill>
            <a:prstDash val="solid"/>
          </a:ln>
          <a:effectLst>
            <a:outerShdw blurRad="101600" dist="63500" dir="2700000" algn="bl" rotWithShape="0">
              <a:srgbClr val="111A3E">
                <a:alpha val="100000"/>
              </a:srgbClr>
            </a:outerShdw>
          </a:effectLst>
        </p:spPr>
      </p:sp>
      <p:sp>
        <p:nvSpPr>
          <p:cNvPr id="25" name="Badge"/>
          <p:cNvSpPr/>
          <p:nvPr/>
        </p:nvSpPr>
        <p:spPr>
          <a:xfrm>
            <a:off x="8229600" y="1828800"/>
            <a:ext cx="566928" cy="566928"/>
          </a:xfrm>
          <a:prstGeom prst="ellipse">
            <a:avLst/>
          </a:prstGeom>
          <a:solidFill>
            <a:srgbClr val="FF5A5F"/>
          </a:solidFill>
          <a:ln w="25400">
            <a:solidFill>
              <a:schemeClr val="tx1"/>
            </a:solidFill>
            <a:prstDash val="solid"/>
          </a:ln>
        </p:spPr>
      </p:sp>
      <p:sp>
        <p:nvSpPr>
          <p:cNvPr id="26" name="Text 21"/>
          <p:cNvSpPr txBox="1"/>
          <p:nvPr/>
        </p:nvSpPr>
        <p:spPr>
          <a:xfrm>
            <a:off x="8229600" y="18288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tx1"/>
                </a:solidFill>
              </a:rPr>
              <a:t>PC</a:t>
            </a:r>
            <a:endParaRPr lang="en-US" sz="1300" dirty="0"/>
          </a:p>
        </p:txBody>
      </p:sp>
      <p:sp>
        <p:nvSpPr>
          <p:cNvPr id="27" name="Text 22"/>
          <p:cNvSpPr txBox="1"/>
          <p:nvPr/>
        </p:nvSpPr>
        <p:spPr>
          <a:xfrm>
            <a:off x="8915400" y="1828800"/>
            <a:ext cx="2606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Personal Computers</a:t>
            </a:r>
            <a:endParaRPr lang="en-US" sz="1600" dirty="0"/>
          </a:p>
        </p:txBody>
      </p:sp>
      <p:graphicFrame>
        <p:nvGraphicFramePr>
          <p:cNvPr id="28" name="Chart 2"/>
          <p:cNvGraphicFramePr/>
          <p:nvPr/>
        </p:nvGraphicFramePr>
        <p:xfrm>
          <a:off x="8138160" y="2514600"/>
          <a:ext cx="3429000" cy="25603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sp>
        <p:nvSpPr>
          <p:cNvPr id="29" name="Division insight"/>
          <p:cNvSpPr/>
          <p:nvPr/>
        </p:nvSpPr>
        <p:spPr>
          <a:xfrm>
            <a:off x="8046720" y="5349240"/>
            <a:ext cx="3611880" cy="914400"/>
          </a:xfrm>
          <a:prstGeom prst="roundRect">
            <a:avLst>
              <a:gd name="adj" fmla="val 16000"/>
            </a:avLst>
          </a:prstGeom>
          <a:solidFill>
            <a:schemeClr val="tx1"/>
          </a:solidFill>
          <a:ln w="25400">
            <a:solidFill>
              <a:schemeClr val="tx1"/>
            </a:solidFill>
            <a:prstDash val="solid"/>
          </a:ln>
          <a:effectLst>
            <a:outerShdw blurRad="101600" dist="63500" dir="2700000" algn="bl" rotWithShape="0">
              <a:srgbClr val="111A3E">
                <a:alpha val="100000"/>
              </a:srgbClr>
            </a:outerShdw>
          </a:effectLst>
        </p:spPr>
      </p:sp>
      <p:sp>
        <p:nvSpPr>
          <p:cNvPr id="30" name="Text 24"/>
          <p:cNvSpPr txBox="1"/>
          <p:nvPr/>
        </p:nvSpPr>
        <p:spPr>
          <a:xfrm>
            <a:off x="8275320" y="5349240"/>
            <a:ext cx="3154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bg1"/>
                </a:solidFill>
              </a:rPr>
              <a:t>Digit, Gen Y and Elite are neck and neck, 0.5% apart.</a:t>
            </a:r>
            <a:endParaRPr lang="en-US" sz="1400" dirty="0"/>
          </a:p>
        </p:txBody>
      </p:sp>
      <p:sp>
        <p:nvSpPr>
          <p:cNvPr id="31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2B3A7A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27432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1"/>
                </a:solidFill>
              </a:rPr>
              <a:t>Croma sales exploded 110x since 2017</a:t>
            </a:r>
            <a:endParaRPr lang="en-US" sz="3000" dirty="0"/>
          </a:p>
        </p:txBody>
      </p:sp>
      <p:sp>
        <p:nvSpPr>
          <p:cNvPr id="3" name="Mascot ring"/>
          <p:cNvSpPr/>
          <p:nvPr/>
        </p:nvSpPr>
        <p:spPr>
          <a:xfrm>
            <a:off x="10835640" y="228600"/>
            <a:ext cx="914400" cy="9144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  <a:prstDash val="solid"/>
          </a:ln>
          <a:effectLst>
            <a:outerShdw blurRad="101600" dist="63500" dir="2700000" algn="bl" rotWithShape="0">
              <a:srgbClr val="111A3E">
                <a:alpha val="100000"/>
              </a:srgbClr>
            </a:outerShdw>
          </a:effectLst>
        </p:spPr>
      </p:sp>
      <p:pic>
        <p:nvPicPr>
          <p:cNvPr id="4" name="Image 0" descr="Cartoon masco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45368" y="338328"/>
            <a:ext cx="694944" cy="694944"/>
          </a:xfrm>
          <a:prstGeom prst="rect">
            <a:avLst/>
          </a:prstGeom>
        </p:spPr>
      </p:pic>
      <p:sp>
        <p:nvSpPr>
          <p:cNvPr id="5" name="Chip"/>
          <p:cNvSpPr/>
          <p:nvPr/>
        </p:nvSpPr>
        <p:spPr>
          <a:xfrm>
            <a:off x="548640" y="1097280"/>
            <a:ext cx="1463040" cy="347472"/>
          </a:xfrm>
          <a:prstGeom prst="roundRect">
            <a:avLst>
              <a:gd name="adj" fmla="val 50000"/>
            </a:avLst>
          </a:prstGeom>
          <a:solidFill>
            <a:srgbClr val="FF5A5F"/>
          </a:solidFill>
          <a:ln w="19050">
            <a:solidFill>
              <a:schemeClr val="tx1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48640" y="1097280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chemeClr val="bg1"/>
                </a:solidFill>
              </a:rPr>
              <a:t>REQUEST 14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2194560" y="1097280"/>
            <a:ext cx="8046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chemeClr val="tx2"/>
                </a:solidFill>
              </a:rPr>
              <a:t>Yearly gross sales of Croma India, FY2017 to FY2021.</a:t>
            </a:r>
            <a:endParaRPr lang="en-US" sz="1400" dirty="0"/>
          </a:p>
        </p:txBody>
      </p:sp>
      <p:sp>
        <p:nvSpPr>
          <p:cNvPr id="8" name="Chip"/>
          <p:cNvSpPr/>
          <p:nvPr/>
        </p:nvSpPr>
        <p:spPr>
          <a:xfrm>
            <a:off x="10424160" y="1097280"/>
            <a:ext cx="1234440" cy="347472"/>
          </a:xfrm>
          <a:prstGeom prst="roundRect">
            <a:avLst>
              <a:gd name="adj" fmla="val 50000"/>
            </a:avLst>
          </a:prstGeom>
          <a:solidFill>
            <a:srgbClr val="22C3B0"/>
          </a:solidFill>
          <a:ln w="19050">
            <a:solidFill>
              <a:schemeClr val="tx1"/>
            </a:solidFill>
            <a:prstDash val="solid"/>
          </a:ln>
        </p:spPr>
      </p:sp>
      <p:sp>
        <p:nvSpPr>
          <p:cNvPr id="9" name="Text 6">
            <a:hlinkClick r:id="rId4" action="ppaction://hlinksldjump" tooltip="Open SQL query and output"/>
          </p:cNvPr>
          <p:cNvSpPr txBox="1"/>
          <p:nvPr/>
        </p:nvSpPr>
        <p:spPr>
          <a:xfrm>
            <a:off x="10424160" y="1097280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u="sng" kern="0" spc="100" dirty="0">
                <a:solidFill>
                  <a:schemeClr val="tx1"/>
                </a:solidFill>
                <a:hlinkClick r:id="rId4" action="ppaction://hlinksldjump" tooltip="Open SQL query and output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SQL  p.38</a:t>
            </a:r>
            <a:endParaRPr lang="en-US" sz="1200" dirty="0"/>
          </a:p>
        </p:txBody>
      </p:sp>
      <p:sp>
        <p:nvSpPr>
          <p:cNvPr id="10" name="Chart card"/>
          <p:cNvSpPr/>
          <p:nvPr/>
        </p:nvSpPr>
        <p:spPr>
          <a:xfrm>
            <a:off x="548640" y="1645920"/>
            <a:ext cx="6949440" cy="4617720"/>
          </a:xfrm>
          <a:prstGeom prst="roundRect">
            <a:avLst>
              <a:gd name="adj" fmla="val 3168"/>
            </a:avLst>
          </a:prstGeom>
          <a:solidFill>
            <a:schemeClr val="bg1"/>
          </a:solidFill>
          <a:ln w="25400">
            <a:solidFill>
              <a:schemeClr val="tx1"/>
            </a:solidFill>
            <a:prstDash val="solid"/>
          </a:ln>
          <a:effectLst>
            <a:outerShdw blurRad="101600" dist="63500" dir="2700000" algn="bl" rotWithShape="0">
              <a:srgbClr val="111A3E">
                <a:alpha val="100000"/>
              </a:srgbClr>
            </a:outerShdw>
          </a:effectLst>
        </p:spPr>
      </p:sp>
      <p:graphicFrame>
        <p:nvGraphicFramePr>
          <p:cNvPr id="11" name="Chart 0"/>
          <p:cNvGraphicFramePr/>
          <p:nvPr/>
        </p:nvGraphicFramePr>
        <p:xfrm>
          <a:off x="731520" y="1783080"/>
          <a:ext cx="6583680" cy="3886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12" name="Text 8"/>
          <p:cNvSpPr txBox="1"/>
          <p:nvPr/>
        </p:nvSpPr>
        <p:spPr>
          <a:xfrm>
            <a:off x="822960" y="576072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tx2"/>
                </a:solidFill>
              </a:rPr>
              <a:t>Year-on-year multiple:   2018: 4.2x   |   2019: 2.5x   |   2020: 2.3x   |   2021: 4.6x</a:t>
            </a:r>
            <a:endParaRPr lang="en-US" sz="1300" dirty="0"/>
          </a:p>
        </p:txBody>
      </p:sp>
      <p:sp>
        <p:nvSpPr>
          <p:cNvPr id="13" name="Insights card"/>
          <p:cNvSpPr/>
          <p:nvPr/>
        </p:nvSpPr>
        <p:spPr>
          <a:xfrm>
            <a:off x="7772400" y="1645920"/>
            <a:ext cx="3886200" cy="3108960"/>
          </a:xfrm>
          <a:prstGeom prst="roundRect">
            <a:avLst>
              <a:gd name="adj" fmla="val 4706"/>
            </a:avLst>
          </a:prstGeom>
          <a:solidFill>
            <a:schemeClr val="tx1"/>
          </a:solidFill>
          <a:ln w="25400">
            <a:solidFill>
              <a:schemeClr val="tx1"/>
            </a:solidFill>
            <a:prstDash val="solid"/>
          </a:ln>
          <a:effectLst>
            <a:outerShdw blurRad="101600" dist="63500" dir="2700000" algn="bl" rotWithShape="0">
              <a:srgbClr val="111A3E">
                <a:alpha val="100000"/>
              </a:srgbClr>
            </a:outerShdw>
          </a:effectLst>
        </p:spPr>
      </p:sp>
      <p:sp>
        <p:nvSpPr>
          <p:cNvPr id="14" name="Badge"/>
          <p:cNvSpPr/>
          <p:nvPr/>
        </p:nvSpPr>
        <p:spPr>
          <a:xfrm>
            <a:off x="8001000" y="1847088"/>
            <a:ext cx="384048" cy="384048"/>
          </a:xfrm>
          <a:prstGeom prst="ellipse">
            <a:avLst/>
          </a:prstGeom>
          <a:solidFill>
            <a:srgbClr val="FFC53D"/>
          </a:solidFill>
          <a:ln w="25400">
            <a:solidFill>
              <a:srgbClr val="FFC53D"/>
            </a:solidFill>
            <a:prstDash val="solid"/>
          </a:ln>
        </p:spPr>
      </p:sp>
      <p:pic>
        <p:nvPicPr>
          <p:cNvPr id="15" name="Image 1" descr="FaLightbulb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83296" y="1929384"/>
            <a:ext cx="219456" cy="219456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8522208" y="1847088"/>
            <a:ext cx="2971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chemeClr val="accent2"/>
                </a:solidFill>
              </a:rPr>
              <a:t>KEY INSIGHTS</a:t>
            </a:r>
            <a:endParaRPr lang="en-US" sz="1300" dirty="0"/>
          </a:p>
        </p:txBody>
      </p:sp>
      <p:sp>
        <p:nvSpPr>
          <p:cNvPr id="17" name="Text 12"/>
          <p:cNvSpPr txBox="1"/>
          <p:nvPr/>
        </p:nvSpPr>
        <p:spPr>
          <a:xfrm>
            <a:off x="8028432" y="2395728"/>
            <a:ext cx="342900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Gross sales rose from 0.53M in 2017 to 58.37M in 2021.</a:t>
            </a:r>
            <a:endParaRPr lang="en-US" sz="14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2021 alone grew about 363% over 2020 (12.60M).</a:t>
            </a:r>
            <a:endParaRPr lang="en-US" sz="1400" dirty="0"/>
          </a:p>
          <a:p>
            <a:pPr marL="177800" indent="-177800">
              <a:buSzPct val="100000"/>
              <a:buChar char="•"/>
            </a:pPr>
            <a:r>
              <a:rPr lang="en-US" sz="1400" b="1" dirty="0">
                <a:solidFill>
                  <a:schemeClr val="accent2"/>
                </a:solidFill>
              </a:rPr>
              <a:t>So what: </a:t>
            </a:r>
            <a:r>
              <a:rPr lang="en-US" sz="1400" dirty="0">
                <a:solidFill>
                  <a:schemeClr val="bg1"/>
                </a:solidFill>
              </a:rPr>
              <a:t>Every year more than doubled: about 3.2x growth a year.</a:t>
            </a:r>
            <a:endParaRPr lang="en-US" sz="1400" dirty="0"/>
          </a:p>
        </p:txBody>
      </p:sp>
      <p:sp>
        <p:nvSpPr>
          <p:cNvPr id="18" name="Stat card"/>
          <p:cNvSpPr/>
          <p:nvPr/>
        </p:nvSpPr>
        <p:spPr>
          <a:xfrm>
            <a:off x="7772400" y="4937760"/>
            <a:ext cx="3886200" cy="1325880"/>
          </a:xfrm>
          <a:prstGeom prst="roundRect">
            <a:avLst>
              <a:gd name="adj" fmla="val 11034"/>
            </a:avLst>
          </a:prstGeom>
          <a:solidFill>
            <a:schemeClr val="accent2"/>
          </a:solidFill>
          <a:ln w="25400">
            <a:solidFill>
              <a:schemeClr val="tx1"/>
            </a:solidFill>
            <a:prstDash val="solid"/>
          </a:ln>
          <a:effectLst>
            <a:outerShdw blurRad="101600" dist="63500" dir="2700000" algn="bl" rotWithShape="0">
              <a:srgbClr val="111A3E">
                <a:alpha val="100000"/>
              </a:srgbClr>
            </a:outerShdw>
          </a:effectLst>
        </p:spPr>
      </p:sp>
      <p:sp>
        <p:nvSpPr>
          <p:cNvPr id="19" name="Text 14"/>
          <p:cNvSpPr txBox="1"/>
          <p:nvPr/>
        </p:nvSpPr>
        <p:spPr>
          <a:xfrm>
            <a:off x="8046720" y="5047488"/>
            <a:ext cx="3337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4000" b="1" dirty="0">
                <a:solidFill>
                  <a:schemeClr val="tx1"/>
                </a:solidFill>
              </a:rPr>
              <a:t>110x</a:t>
            </a:r>
            <a:endParaRPr lang="en-US" sz="4000" dirty="0"/>
          </a:p>
        </p:txBody>
      </p:sp>
      <p:sp>
        <p:nvSpPr>
          <p:cNvPr id="20" name="Text 15"/>
          <p:cNvSpPr txBox="1"/>
          <p:nvPr/>
        </p:nvSpPr>
        <p:spPr>
          <a:xfrm>
            <a:off x="8046720" y="5742432"/>
            <a:ext cx="3337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chemeClr val="tx1"/>
                </a:solidFill>
              </a:rPr>
              <a:t>Croma growth, FY2017 to FY2021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2B3A7A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27432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1"/>
                </a:solidFill>
              </a:rPr>
              <a:t>India and USA earn the Gold badge</a:t>
            </a:r>
            <a:endParaRPr lang="en-US" sz="3000" dirty="0"/>
          </a:p>
        </p:txBody>
      </p:sp>
      <p:sp>
        <p:nvSpPr>
          <p:cNvPr id="3" name="Mascot ring"/>
          <p:cNvSpPr/>
          <p:nvPr/>
        </p:nvSpPr>
        <p:spPr>
          <a:xfrm>
            <a:off x="10835640" y="228600"/>
            <a:ext cx="914400" cy="9144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  <a:prstDash val="solid"/>
          </a:ln>
          <a:effectLst>
            <a:outerShdw blurRad="101600" dist="63500" dir="2700000" algn="bl" rotWithShape="0">
              <a:srgbClr val="111A3E">
                <a:alpha val="100000"/>
              </a:srgbClr>
            </a:outerShdw>
          </a:effectLst>
        </p:spPr>
      </p:sp>
      <p:pic>
        <p:nvPicPr>
          <p:cNvPr id="4" name="Image 0" descr="Cartoon masco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45368" y="338328"/>
            <a:ext cx="694944" cy="694944"/>
          </a:xfrm>
          <a:prstGeom prst="rect">
            <a:avLst/>
          </a:prstGeom>
        </p:spPr>
      </p:pic>
      <p:sp>
        <p:nvSpPr>
          <p:cNvPr id="5" name="Chip"/>
          <p:cNvSpPr/>
          <p:nvPr/>
        </p:nvSpPr>
        <p:spPr>
          <a:xfrm>
            <a:off x="548640" y="1097280"/>
            <a:ext cx="1463040" cy="347472"/>
          </a:xfrm>
          <a:prstGeom prst="roundRect">
            <a:avLst>
              <a:gd name="adj" fmla="val 50000"/>
            </a:avLst>
          </a:prstGeom>
          <a:solidFill>
            <a:srgbClr val="FF5A5F"/>
          </a:solidFill>
          <a:ln w="19050">
            <a:solidFill>
              <a:schemeClr val="tx1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48640" y="1097280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chemeClr val="bg1"/>
                </a:solidFill>
              </a:rPr>
              <a:t>REQUEST 15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2194560" y="1097280"/>
            <a:ext cx="8046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chemeClr val="tx2"/>
                </a:solidFill>
              </a:rPr>
              <a:t>Markets tagged Gold (over 5M units) or Silver, FY2021 units sold.</a:t>
            </a:r>
            <a:endParaRPr lang="en-US" sz="1400" dirty="0"/>
          </a:p>
        </p:txBody>
      </p:sp>
      <p:sp>
        <p:nvSpPr>
          <p:cNvPr id="8" name="Chip"/>
          <p:cNvSpPr/>
          <p:nvPr/>
        </p:nvSpPr>
        <p:spPr>
          <a:xfrm>
            <a:off x="10424160" y="1097280"/>
            <a:ext cx="1234440" cy="347472"/>
          </a:xfrm>
          <a:prstGeom prst="roundRect">
            <a:avLst>
              <a:gd name="adj" fmla="val 50000"/>
            </a:avLst>
          </a:prstGeom>
          <a:solidFill>
            <a:srgbClr val="22C3B0"/>
          </a:solidFill>
          <a:ln w="19050">
            <a:solidFill>
              <a:schemeClr val="tx1"/>
            </a:solidFill>
            <a:prstDash val="solid"/>
          </a:ln>
        </p:spPr>
      </p:sp>
      <p:sp>
        <p:nvSpPr>
          <p:cNvPr id="9" name="Text 6">
            <a:hlinkClick r:id="rId4" action="ppaction://hlinksldjump" tooltip="Open SQL query and output"/>
          </p:cNvPr>
          <p:cNvSpPr txBox="1"/>
          <p:nvPr/>
        </p:nvSpPr>
        <p:spPr>
          <a:xfrm>
            <a:off x="10424160" y="1097280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u="sng" kern="0" spc="100" dirty="0">
                <a:solidFill>
                  <a:schemeClr val="tx1"/>
                </a:solidFill>
                <a:hlinkClick r:id="rId4" action="ppaction://hlinksldjump" tooltip="Open SQL query and output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SQL  p.39</a:t>
            </a:r>
            <a:endParaRPr lang="en-US" sz="1200" dirty="0"/>
          </a:p>
        </p:txBody>
      </p:sp>
      <p:sp>
        <p:nvSpPr>
          <p:cNvPr id="10" name="Chart card"/>
          <p:cNvSpPr/>
          <p:nvPr/>
        </p:nvSpPr>
        <p:spPr>
          <a:xfrm>
            <a:off x="548640" y="1645920"/>
            <a:ext cx="6949440" cy="4617720"/>
          </a:xfrm>
          <a:prstGeom prst="roundRect">
            <a:avLst>
              <a:gd name="adj" fmla="val 3168"/>
            </a:avLst>
          </a:prstGeom>
          <a:solidFill>
            <a:schemeClr val="bg1"/>
          </a:solidFill>
          <a:ln w="25400">
            <a:solidFill>
              <a:schemeClr val="tx1"/>
            </a:solidFill>
            <a:prstDash val="solid"/>
          </a:ln>
          <a:effectLst>
            <a:outerShdw blurRad="101600" dist="63500" dir="2700000" algn="bl" rotWithShape="0">
              <a:srgbClr val="111A3E">
                <a:alpha val="100000"/>
              </a:srgbClr>
            </a:outerShdw>
          </a:effectLst>
        </p:spPr>
      </p:sp>
      <p:graphicFrame>
        <p:nvGraphicFramePr>
          <p:cNvPr id="11" name="Chart 0"/>
          <p:cNvGraphicFramePr/>
          <p:nvPr/>
        </p:nvGraphicFramePr>
        <p:xfrm>
          <a:off x="731520" y="1783080"/>
          <a:ext cx="6583680" cy="39319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12" name="Chip"/>
          <p:cNvSpPr/>
          <p:nvPr/>
        </p:nvSpPr>
        <p:spPr>
          <a:xfrm>
            <a:off x="1645920" y="5806440"/>
            <a:ext cx="2286000" cy="329184"/>
          </a:xfrm>
          <a:prstGeom prst="roundRect">
            <a:avLst>
              <a:gd name="adj" fmla="val 50000"/>
            </a:avLst>
          </a:prstGeom>
          <a:solidFill>
            <a:srgbClr val="FFC53D"/>
          </a:solidFill>
          <a:ln w="19050">
            <a:solidFill>
              <a:schemeClr val="tx1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1645920" y="5806440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chemeClr val="tx1"/>
                </a:solidFill>
              </a:rPr>
              <a:t>GOLD: over 5M units</a:t>
            </a:r>
            <a:endParaRPr lang="en-US" sz="1100" dirty="0"/>
          </a:p>
        </p:txBody>
      </p:sp>
      <p:sp>
        <p:nvSpPr>
          <p:cNvPr id="14" name="Chip"/>
          <p:cNvSpPr/>
          <p:nvPr/>
        </p:nvSpPr>
        <p:spPr>
          <a:xfrm>
            <a:off x="4114800" y="5806440"/>
            <a:ext cx="2651760" cy="329184"/>
          </a:xfrm>
          <a:prstGeom prst="roundRect">
            <a:avLst>
              <a:gd name="adj" fmla="val 50000"/>
            </a:avLst>
          </a:prstGeom>
          <a:solidFill>
            <a:srgbClr val="C3CBE0"/>
          </a:solidFill>
          <a:ln w="19050">
            <a:solidFill>
              <a:schemeClr val="tx1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4114800" y="5806440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chemeClr val="tx1"/>
                </a:solidFill>
              </a:rPr>
              <a:t>SILVER: all other markets</a:t>
            </a:r>
            <a:endParaRPr lang="en-US" sz="1100" dirty="0"/>
          </a:p>
        </p:txBody>
      </p:sp>
      <p:sp>
        <p:nvSpPr>
          <p:cNvPr id="16" name="Insights card"/>
          <p:cNvSpPr/>
          <p:nvPr/>
        </p:nvSpPr>
        <p:spPr>
          <a:xfrm>
            <a:off x="7772400" y="1645920"/>
            <a:ext cx="3886200" cy="3108960"/>
          </a:xfrm>
          <a:prstGeom prst="roundRect">
            <a:avLst>
              <a:gd name="adj" fmla="val 4706"/>
            </a:avLst>
          </a:prstGeom>
          <a:solidFill>
            <a:schemeClr val="tx1"/>
          </a:solidFill>
          <a:ln w="25400">
            <a:solidFill>
              <a:schemeClr val="tx1"/>
            </a:solidFill>
            <a:prstDash val="solid"/>
          </a:ln>
          <a:effectLst>
            <a:outerShdw blurRad="101600" dist="63500" dir="2700000" algn="bl" rotWithShape="0">
              <a:srgbClr val="111A3E">
                <a:alpha val="100000"/>
              </a:srgbClr>
            </a:outerShdw>
          </a:effectLst>
        </p:spPr>
      </p:sp>
      <p:sp>
        <p:nvSpPr>
          <p:cNvPr id="17" name="Badge"/>
          <p:cNvSpPr/>
          <p:nvPr/>
        </p:nvSpPr>
        <p:spPr>
          <a:xfrm>
            <a:off x="8001000" y="1847088"/>
            <a:ext cx="384048" cy="384048"/>
          </a:xfrm>
          <a:prstGeom prst="ellipse">
            <a:avLst/>
          </a:prstGeom>
          <a:solidFill>
            <a:srgbClr val="FFC53D"/>
          </a:solidFill>
          <a:ln w="25400">
            <a:solidFill>
              <a:srgbClr val="FFC53D"/>
            </a:solidFill>
            <a:prstDash val="solid"/>
          </a:ln>
        </p:spPr>
      </p:sp>
      <p:pic>
        <p:nvPicPr>
          <p:cNvPr id="18" name="Image 1" descr="FaLightbulb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83296" y="1929384"/>
            <a:ext cx="219456" cy="219456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8522208" y="1847088"/>
            <a:ext cx="2971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chemeClr val="accent2"/>
                </a:solidFill>
              </a:rPr>
              <a:t>KEY INSIGHTS</a:t>
            </a:r>
            <a:endParaRPr lang="en-US" sz="1300" dirty="0"/>
          </a:p>
        </p:txBody>
      </p:sp>
      <p:sp>
        <p:nvSpPr>
          <p:cNvPr id="20" name="Text 15"/>
          <p:cNvSpPr txBox="1"/>
          <p:nvPr/>
        </p:nvSpPr>
        <p:spPr>
          <a:xfrm>
            <a:off x="8028432" y="2395728"/>
            <a:ext cx="342900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Only India (13.75M units) and the USA (7.95M) cross the 5M Gold line.</a:t>
            </a:r>
            <a:endParaRPr lang="en-US" sz="14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India outsells the USA and South Korea combined (13.75M vs 11.90M).</a:t>
            </a:r>
            <a:endParaRPr lang="en-US" sz="1400" dirty="0"/>
          </a:p>
          <a:p>
            <a:pPr marL="177800" indent="-177800">
              <a:buSzPct val="100000"/>
              <a:buChar char="•"/>
            </a:pPr>
            <a:r>
              <a:rPr lang="en-US" sz="1400" b="1" dirty="0">
                <a:solidFill>
                  <a:schemeClr val="accent2"/>
                </a:solidFill>
              </a:rPr>
              <a:t>So what: </a:t>
            </a:r>
            <a:r>
              <a:rPr lang="en-US" sz="1400" dirty="0">
                <a:solidFill>
                  <a:schemeClr val="bg1"/>
                </a:solidFill>
              </a:rPr>
              <a:t>South Korea (3.95M) and Canada (2.70M) lead the 25 Silver markets.</a:t>
            </a:r>
            <a:endParaRPr lang="en-US" sz="1400" dirty="0"/>
          </a:p>
        </p:txBody>
      </p:sp>
      <p:sp>
        <p:nvSpPr>
          <p:cNvPr id="21" name="Stat card"/>
          <p:cNvSpPr/>
          <p:nvPr/>
        </p:nvSpPr>
        <p:spPr>
          <a:xfrm>
            <a:off x="7772400" y="4937760"/>
            <a:ext cx="3886200" cy="1325880"/>
          </a:xfrm>
          <a:prstGeom prst="roundRect">
            <a:avLst>
              <a:gd name="adj" fmla="val 11034"/>
            </a:avLst>
          </a:prstGeom>
          <a:solidFill>
            <a:schemeClr val="accent2"/>
          </a:solidFill>
          <a:ln w="25400">
            <a:solidFill>
              <a:schemeClr val="tx1"/>
            </a:solidFill>
            <a:prstDash val="solid"/>
          </a:ln>
          <a:effectLst>
            <a:outerShdw blurRad="101600" dist="63500" dir="2700000" algn="bl" rotWithShape="0">
              <a:srgbClr val="111A3E">
                <a:alpha val="100000"/>
              </a:srgbClr>
            </a:outerShdw>
          </a:effectLst>
        </p:spPr>
      </p:sp>
      <p:sp>
        <p:nvSpPr>
          <p:cNvPr id="22" name="Text 17"/>
          <p:cNvSpPr txBox="1"/>
          <p:nvPr/>
        </p:nvSpPr>
        <p:spPr>
          <a:xfrm>
            <a:off x="8046720" y="5047488"/>
            <a:ext cx="3337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4000" b="1" dirty="0">
                <a:solidFill>
                  <a:schemeClr val="tx1"/>
                </a:solidFill>
              </a:rPr>
              <a:t>2 Gold</a:t>
            </a:r>
            <a:endParaRPr lang="en-US" sz="4000" dirty="0"/>
          </a:p>
        </p:txBody>
      </p:sp>
      <p:sp>
        <p:nvSpPr>
          <p:cNvPr id="23" name="Text 18"/>
          <p:cNvSpPr txBox="1"/>
          <p:nvPr/>
        </p:nvSpPr>
        <p:spPr>
          <a:xfrm>
            <a:off x="8046720" y="5742432"/>
            <a:ext cx="3337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chemeClr val="tx1"/>
                </a:solidFill>
              </a:rPr>
              <a:t>markets above 5M units: India and USA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2B3A7A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27432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1"/>
                </a:solidFill>
              </a:rPr>
              <a:t>Forecast accuracy fell across markets</a:t>
            </a:r>
            <a:endParaRPr lang="en-US" sz="3000" dirty="0"/>
          </a:p>
        </p:txBody>
      </p:sp>
      <p:sp>
        <p:nvSpPr>
          <p:cNvPr id="3" name="Mascot ring"/>
          <p:cNvSpPr/>
          <p:nvPr/>
        </p:nvSpPr>
        <p:spPr>
          <a:xfrm>
            <a:off x="10835640" y="228600"/>
            <a:ext cx="914400" cy="9144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  <a:prstDash val="solid"/>
          </a:ln>
          <a:effectLst>
            <a:outerShdw blurRad="101600" dist="63500" dir="2700000" algn="bl" rotWithShape="0">
              <a:srgbClr val="111A3E">
                <a:alpha val="100000"/>
              </a:srgbClr>
            </a:outerShdw>
          </a:effectLst>
        </p:spPr>
      </p:sp>
      <p:pic>
        <p:nvPicPr>
          <p:cNvPr id="4" name="Image 0" descr="Cartoon masco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45368" y="338328"/>
            <a:ext cx="694944" cy="694944"/>
          </a:xfrm>
          <a:prstGeom prst="rect">
            <a:avLst/>
          </a:prstGeom>
        </p:spPr>
      </p:pic>
      <p:sp>
        <p:nvSpPr>
          <p:cNvPr id="5" name="Chip"/>
          <p:cNvSpPr/>
          <p:nvPr/>
        </p:nvSpPr>
        <p:spPr>
          <a:xfrm>
            <a:off x="548640" y="1097280"/>
            <a:ext cx="1463040" cy="347472"/>
          </a:xfrm>
          <a:prstGeom prst="roundRect">
            <a:avLst>
              <a:gd name="adj" fmla="val 50000"/>
            </a:avLst>
          </a:prstGeom>
          <a:solidFill>
            <a:srgbClr val="FF5A5F"/>
          </a:solidFill>
          <a:ln w="19050">
            <a:solidFill>
              <a:schemeClr val="tx1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48640" y="1097280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chemeClr val="bg1"/>
                </a:solidFill>
              </a:rPr>
              <a:t>REQUEST 16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2194560" y="1097280"/>
            <a:ext cx="8046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chemeClr val="tx2"/>
                </a:solidFill>
              </a:rPr>
              <a:t>Customers whose forecast accuracy dropped from FY2020 to FY2021 (%).</a:t>
            </a:r>
            <a:endParaRPr lang="en-US" sz="1400" dirty="0"/>
          </a:p>
        </p:txBody>
      </p:sp>
      <p:sp>
        <p:nvSpPr>
          <p:cNvPr id="8" name="Chip"/>
          <p:cNvSpPr/>
          <p:nvPr/>
        </p:nvSpPr>
        <p:spPr>
          <a:xfrm>
            <a:off x="10424160" y="1097280"/>
            <a:ext cx="1234440" cy="347472"/>
          </a:xfrm>
          <a:prstGeom prst="roundRect">
            <a:avLst>
              <a:gd name="adj" fmla="val 50000"/>
            </a:avLst>
          </a:prstGeom>
          <a:solidFill>
            <a:srgbClr val="22C3B0"/>
          </a:solidFill>
          <a:ln w="19050">
            <a:solidFill>
              <a:schemeClr val="tx1"/>
            </a:solidFill>
            <a:prstDash val="solid"/>
          </a:ln>
        </p:spPr>
      </p:sp>
      <p:sp>
        <p:nvSpPr>
          <p:cNvPr id="9" name="Text 6">
            <a:hlinkClick r:id="rId4" action="ppaction://hlinksldjump" tooltip="Open SQL query and output"/>
          </p:cNvPr>
          <p:cNvSpPr txBox="1"/>
          <p:nvPr/>
        </p:nvSpPr>
        <p:spPr>
          <a:xfrm>
            <a:off x="10424160" y="1097280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u="sng" kern="0" spc="100" dirty="0">
                <a:solidFill>
                  <a:schemeClr val="tx1"/>
                </a:solidFill>
                <a:hlinkClick r:id="rId4" action="ppaction://hlinksldjump" tooltip="Open SQL query and output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SQL  p.40</a:t>
            </a:r>
            <a:endParaRPr lang="en-US" sz="1200" dirty="0"/>
          </a:p>
        </p:txBody>
      </p:sp>
      <p:sp>
        <p:nvSpPr>
          <p:cNvPr id="10" name="Chart card"/>
          <p:cNvSpPr/>
          <p:nvPr/>
        </p:nvSpPr>
        <p:spPr>
          <a:xfrm>
            <a:off x="548640" y="1645920"/>
            <a:ext cx="6949440" cy="4617720"/>
          </a:xfrm>
          <a:prstGeom prst="roundRect">
            <a:avLst>
              <a:gd name="adj" fmla="val 3168"/>
            </a:avLst>
          </a:prstGeom>
          <a:solidFill>
            <a:schemeClr val="bg1"/>
          </a:solidFill>
          <a:ln w="25400">
            <a:solidFill>
              <a:schemeClr val="tx1"/>
            </a:solidFill>
            <a:prstDash val="solid"/>
          </a:ln>
          <a:effectLst>
            <a:outerShdw blurRad="101600" dist="63500" dir="2700000" algn="bl" rotWithShape="0">
              <a:srgbClr val="111A3E">
                <a:alpha val="100000"/>
              </a:srgbClr>
            </a:outerShdw>
          </a:effectLst>
        </p:spPr>
      </p:sp>
      <p:graphicFrame>
        <p:nvGraphicFramePr>
          <p:cNvPr id="11" name="Chart 0"/>
          <p:cNvGraphicFramePr/>
          <p:nvPr/>
        </p:nvGraphicFramePr>
        <p:xfrm>
          <a:off x="731520" y="1783080"/>
          <a:ext cx="6583680" cy="4343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12" name="Insights card"/>
          <p:cNvSpPr/>
          <p:nvPr/>
        </p:nvSpPr>
        <p:spPr>
          <a:xfrm>
            <a:off x="7772400" y="1645920"/>
            <a:ext cx="3886200" cy="3108960"/>
          </a:xfrm>
          <a:prstGeom prst="roundRect">
            <a:avLst>
              <a:gd name="adj" fmla="val 4706"/>
            </a:avLst>
          </a:prstGeom>
          <a:solidFill>
            <a:schemeClr val="tx1"/>
          </a:solidFill>
          <a:ln w="25400">
            <a:solidFill>
              <a:schemeClr val="tx1"/>
            </a:solidFill>
            <a:prstDash val="solid"/>
          </a:ln>
          <a:effectLst>
            <a:outerShdw blurRad="101600" dist="63500" dir="2700000" algn="bl" rotWithShape="0">
              <a:srgbClr val="111A3E">
                <a:alpha val="100000"/>
              </a:srgbClr>
            </a:outerShdw>
          </a:effectLst>
        </p:spPr>
      </p:sp>
      <p:sp>
        <p:nvSpPr>
          <p:cNvPr id="13" name="Badge"/>
          <p:cNvSpPr/>
          <p:nvPr/>
        </p:nvSpPr>
        <p:spPr>
          <a:xfrm>
            <a:off x="8001000" y="1847088"/>
            <a:ext cx="384048" cy="384048"/>
          </a:xfrm>
          <a:prstGeom prst="ellipse">
            <a:avLst/>
          </a:prstGeom>
          <a:solidFill>
            <a:srgbClr val="FFC53D"/>
          </a:solidFill>
          <a:ln w="25400">
            <a:solidFill>
              <a:srgbClr val="FFC53D"/>
            </a:solidFill>
            <a:prstDash val="solid"/>
          </a:ln>
        </p:spPr>
      </p:sp>
      <p:pic>
        <p:nvPicPr>
          <p:cNvPr id="14" name="Image 1" descr="FaLightbulb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83296" y="1929384"/>
            <a:ext cx="219456" cy="219456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8522208" y="1847088"/>
            <a:ext cx="2971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chemeClr val="accent2"/>
                </a:solidFill>
              </a:rPr>
              <a:t>KEY INSIGHTS</a:t>
            </a:r>
            <a:endParaRPr lang="en-US" sz="1300" dirty="0"/>
          </a:p>
        </p:txBody>
      </p:sp>
      <p:sp>
        <p:nvSpPr>
          <p:cNvPr id="16" name="Text 11"/>
          <p:cNvSpPr txBox="1"/>
          <p:nvPr/>
        </p:nvSpPr>
        <p:spPr>
          <a:xfrm>
            <a:off x="8028432" y="2395728"/>
            <a:ext cx="342900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All nine Netherlands customers fell from about 35-39% accuracy to 0%.</a:t>
            </a:r>
            <a:endParaRPr lang="en-US" sz="14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Sweden, Philippines and South Korea lost roughly 10 to 19 points.</a:t>
            </a:r>
            <a:endParaRPr lang="en-US" sz="1400" dirty="0"/>
          </a:p>
          <a:p>
            <a:pPr marL="177800" indent="-177800">
              <a:buSzPct val="100000"/>
              <a:buChar char="•"/>
            </a:pPr>
            <a:r>
              <a:rPr lang="en-US" sz="1400" b="1" dirty="0">
                <a:solidFill>
                  <a:schemeClr val="accent2"/>
                </a:solidFill>
              </a:rPr>
              <a:t>So what: </a:t>
            </a:r>
            <a:r>
              <a:rPr lang="en-US" sz="1400" dirty="0">
                <a:solidFill>
                  <a:schemeClr val="bg1"/>
                </a:solidFill>
              </a:rPr>
              <a:t>Fix the Netherlands first: 0% likely signals a data or process break.</a:t>
            </a:r>
            <a:endParaRPr lang="en-US" sz="1400" dirty="0"/>
          </a:p>
        </p:txBody>
      </p:sp>
      <p:sp>
        <p:nvSpPr>
          <p:cNvPr id="17" name="Stat card"/>
          <p:cNvSpPr/>
          <p:nvPr/>
        </p:nvSpPr>
        <p:spPr>
          <a:xfrm>
            <a:off x="7772400" y="4937760"/>
            <a:ext cx="3886200" cy="1325880"/>
          </a:xfrm>
          <a:prstGeom prst="roundRect">
            <a:avLst>
              <a:gd name="adj" fmla="val 11034"/>
            </a:avLst>
          </a:prstGeom>
          <a:solidFill>
            <a:schemeClr val="accent2"/>
          </a:solidFill>
          <a:ln w="25400">
            <a:solidFill>
              <a:schemeClr val="tx1"/>
            </a:solidFill>
            <a:prstDash val="solid"/>
          </a:ln>
          <a:effectLst>
            <a:outerShdw blurRad="101600" dist="63500" dir="2700000" algn="bl" rotWithShape="0">
              <a:srgbClr val="111A3E">
                <a:alpha val="100000"/>
              </a:srgbClr>
            </a:outerShdw>
          </a:effectLst>
        </p:spPr>
      </p:sp>
      <p:sp>
        <p:nvSpPr>
          <p:cNvPr id="18" name="Text 13"/>
          <p:cNvSpPr txBox="1"/>
          <p:nvPr/>
        </p:nvSpPr>
        <p:spPr>
          <a:xfrm>
            <a:off x="8046720" y="5047488"/>
            <a:ext cx="3337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4000" b="1" dirty="0">
                <a:solidFill>
                  <a:schemeClr val="tx1"/>
                </a:solidFill>
              </a:rPr>
              <a:t>-38.5 pts</a:t>
            </a:r>
            <a:endParaRPr lang="en-US" sz="4000" dirty="0"/>
          </a:p>
        </p:txBody>
      </p:sp>
      <p:sp>
        <p:nvSpPr>
          <p:cNvPr id="19" name="Text 14"/>
          <p:cNvSpPr txBox="1"/>
          <p:nvPr/>
        </p:nvSpPr>
        <p:spPr>
          <a:xfrm>
            <a:off x="8046720" y="5742432"/>
            <a:ext cx="3337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chemeClr val="tx1"/>
                </a:solidFill>
              </a:rPr>
              <a:t>steepest fall: Radio Popular (NL), 38.53 to 0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2B3A7A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27432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1"/>
                </a:solidFill>
              </a:rPr>
              <a:t>AQ BZ Allin1 tops product net sales</a:t>
            </a:r>
            <a:endParaRPr lang="en-US" sz="3000" dirty="0"/>
          </a:p>
        </p:txBody>
      </p:sp>
      <p:sp>
        <p:nvSpPr>
          <p:cNvPr id="3" name="Mascot ring"/>
          <p:cNvSpPr/>
          <p:nvPr/>
        </p:nvSpPr>
        <p:spPr>
          <a:xfrm>
            <a:off x="10835640" y="228600"/>
            <a:ext cx="914400" cy="9144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  <a:prstDash val="solid"/>
          </a:ln>
          <a:effectLst>
            <a:outerShdw blurRad="101600" dist="63500" dir="2700000" algn="bl" rotWithShape="0">
              <a:srgbClr val="111A3E">
                <a:alpha val="100000"/>
              </a:srgbClr>
            </a:outerShdw>
          </a:effectLst>
        </p:spPr>
      </p:sp>
      <p:pic>
        <p:nvPicPr>
          <p:cNvPr id="4" name="Image 0" descr="Cartoon masco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45368" y="338328"/>
            <a:ext cx="694944" cy="694944"/>
          </a:xfrm>
          <a:prstGeom prst="rect">
            <a:avLst/>
          </a:prstGeom>
        </p:spPr>
      </p:pic>
      <p:sp>
        <p:nvSpPr>
          <p:cNvPr id="5" name="Chip"/>
          <p:cNvSpPr/>
          <p:nvPr/>
        </p:nvSpPr>
        <p:spPr>
          <a:xfrm>
            <a:off x="548640" y="1097280"/>
            <a:ext cx="1463040" cy="347472"/>
          </a:xfrm>
          <a:prstGeom prst="roundRect">
            <a:avLst>
              <a:gd name="adj" fmla="val 50000"/>
            </a:avLst>
          </a:prstGeom>
          <a:solidFill>
            <a:srgbClr val="FF5A5F"/>
          </a:solidFill>
          <a:ln w="19050">
            <a:solidFill>
              <a:schemeClr val="tx1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48640" y="1097280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chemeClr val="bg1"/>
                </a:solidFill>
              </a:rPr>
              <a:t>REQUEST 17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2194560" y="1097280"/>
            <a:ext cx="8046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chemeClr val="tx2"/>
                </a:solidFill>
              </a:rPr>
              <a:t>Top 5 products by net sales in FY2021 (stored procedure top_product).</a:t>
            </a:r>
            <a:endParaRPr lang="en-US" sz="1400" dirty="0"/>
          </a:p>
        </p:txBody>
      </p:sp>
      <p:sp>
        <p:nvSpPr>
          <p:cNvPr id="8" name="Chip"/>
          <p:cNvSpPr/>
          <p:nvPr/>
        </p:nvSpPr>
        <p:spPr>
          <a:xfrm>
            <a:off x="10424160" y="1097280"/>
            <a:ext cx="1234440" cy="347472"/>
          </a:xfrm>
          <a:prstGeom prst="roundRect">
            <a:avLst>
              <a:gd name="adj" fmla="val 50000"/>
            </a:avLst>
          </a:prstGeom>
          <a:solidFill>
            <a:srgbClr val="22C3B0"/>
          </a:solidFill>
          <a:ln w="19050">
            <a:solidFill>
              <a:schemeClr val="tx1"/>
            </a:solidFill>
            <a:prstDash val="solid"/>
          </a:ln>
        </p:spPr>
      </p:sp>
      <p:sp>
        <p:nvSpPr>
          <p:cNvPr id="9" name="Text 6">
            <a:hlinkClick r:id="rId4" action="ppaction://hlinksldjump" tooltip="Open SQL query and output"/>
          </p:cNvPr>
          <p:cNvSpPr txBox="1"/>
          <p:nvPr/>
        </p:nvSpPr>
        <p:spPr>
          <a:xfrm>
            <a:off x="10424160" y="1097280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u="sng" kern="0" spc="100" dirty="0">
                <a:solidFill>
                  <a:schemeClr val="tx1"/>
                </a:solidFill>
                <a:hlinkClick r:id="rId4" action="ppaction://hlinksldjump" tooltip="Open SQL query and output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SQL  p.41</a:t>
            </a:r>
            <a:endParaRPr lang="en-US" sz="1200" dirty="0"/>
          </a:p>
        </p:txBody>
      </p:sp>
      <p:sp>
        <p:nvSpPr>
          <p:cNvPr id="10" name="Chart card"/>
          <p:cNvSpPr/>
          <p:nvPr/>
        </p:nvSpPr>
        <p:spPr>
          <a:xfrm>
            <a:off x="548640" y="1645920"/>
            <a:ext cx="6949440" cy="4617720"/>
          </a:xfrm>
          <a:prstGeom prst="roundRect">
            <a:avLst>
              <a:gd name="adj" fmla="val 3168"/>
            </a:avLst>
          </a:prstGeom>
          <a:solidFill>
            <a:schemeClr val="bg1"/>
          </a:solidFill>
          <a:ln w="25400">
            <a:solidFill>
              <a:schemeClr val="tx1"/>
            </a:solidFill>
            <a:prstDash val="solid"/>
          </a:ln>
          <a:effectLst>
            <a:outerShdw blurRad="101600" dist="63500" dir="2700000" algn="bl" rotWithShape="0">
              <a:srgbClr val="111A3E">
                <a:alpha val="100000"/>
              </a:srgbClr>
            </a:outerShdw>
          </a:effectLst>
        </p:spPr>
      </p:sp>
      <p:graphicFrame>
        <p:nvGraphicFramePr>
          <p:cNvPr id="11" name="Chart 0"/>
          <p:cNvGraphicFramePr/>
          <p:nvPr/>
        </p:nvGraphicFramePr>
        <p:xfrm>
          <a:off x="731520" y="1783080"/>
          <a:ext cx="6583680" cy="4343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12" name="Insights card"/>
          <p:cNvSpPr/>
          <p:nvPr/>
        </p:nvSpPr>
        <p:spPr>
          <a:xfrm>
            <a:off x="7772400" y="1645920"/>
            <a:ext cx="3886200" cy="3108960"/>
          </a:xfrm>
          <a:prstGeom prst="roundRect">
            <a:avLst>
              <a:gd name="adj" fmla="val 4706"/>
            </a:avLst>
          </a:prstGeom>
          <a:solidFill>
            <a:schemeClr val="tx1"/>
          </a:solidFill>
          <a:ln w="25400">
            <a:solidFill>
              <a:schemeClr val="tx1"/>
            </a:solidFill>
            <a:prstDash val="solid"/>
          </a:ln>
          <a:effectLst>
            <a:outerShdw blurRad="101600" dist="63500" dir="2700000" algn="bl" rotWithShape="0">
              <a:srgbClr val="111A3E">
                <a:alpha val="100000"/>
              </a:srgbClr>
            </a:outerShdw>
          </a:effectLst>
        </p:spPr>
      </p:sp>
      <p:sp>
        <p:nvSpPr>
          <p:cNvPr id="13" name="Badge"/>
          <p:cNvSpPr/>
          <p:nvPr/>
        </p:nvSpPr>
        <p:spPr>
          <a:xfrm>
            <a:off x="8001000" y="1847088"/>
            <a:ext cx="384048" cy="384048"/>
          </a:xfrm>
          <a:prstGeom prst="ellipse">
            <a:avLst/>
          </a:prstGeom>
          <a:solidFill>
            <a:srgbClr val="FFC53D"/>
          </a:solidFill>
          <a:ln w="25400">
            <a:solidFill>
              <a:srgbClr val="FFC53D"/>
            </a:solidFill>
            <a:prstDash val="solid"/>
          </a:ln>
        </p:spPr>
      </p:sp>
      <p:pic>
        <p:nvPicPr>
          <p:cNvPr id="14" name="Image 1" descr="FaLightbulb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83296" y="1929384"/>
            <a:ext cx="219456" cy="219456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8522208" y="1847088"/>
            <a:ext cx="2971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chemeClr val="accent2"/>
                </a:solidFill>
              </a:rPr>
              <a:t>KEY INSIGHTS</a:t>
            </a:r>
            <a:endParaRPr lang="en-US" sz="1300" dirty="0"/>
          </a:p>
        </p:txBody>
      </p:sp>
      <p:sp>
        <p:nvSpPr>
          <p:cNvPr id="16" name="Text 11"/>
          <p:cNvSpPr txBox="1"/>
          <p:nvPr/>
        </p:nvSpPr>
        <p:spPr>
          <a:xfrm>
            <a:off x="8028432" y="2395728"/>
            <a:ext cx="342900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AQ BZ Allin1 leads with 33.75M in net sales.</a:t>
            </a:r>
            <a:endParaRPr lang="en-US" sz="14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It sits 21% ahead of the runner-up, AQ Qwerty (27.84M).</a:t>
            </a:r>
            <a:endParaRPr lang="en-US" sz="1400" dirty="0"/>
          </a:p>
          <a:p>
            <a:pPr marL="177800" indent="-177800">
              <a:buSzPct val="100000"/>
              <a:buChar char="•"/>
            </a:pPr>
            <a:r>
              <a:rPr lang="en-US" sz="1400" b="1" dirty="0">
                <a:solidFill>
                  <a:schemeClr val="accent2"/>
                </a:solidFill>
              </a:rPr>
              <a:t>So what: </a:t>
            </a:r>
            <a:r>
              <a:rPr lang="en-US" sz="1400" dirty="0">
                <a:solidFill>
                  <a:schemeClr val="bg1"/>
                </a:solidFill>
              </a:rPr>
              <a:t>The top five bring in 134.44M: protect supply of the hero product.</a:t>
            </a:r>
            <a:endParaRPr lang="en-US" sz="1400" dirty="0"/>
          </a:p>
        </p:txBody>
      </p:sp>
      <p:sp>
        <p:nvSpPr>
          <p:cNvPr id="17" name="Stat card"/>
          <p:cNvSpPr/>
          <p:nvPr/>
        </p:nvSpPr>
        <p:spPr>
          <a:xfrm>
            <a:off x="7772400" y="4937760"/>
            <a:ext cx="3886200" cy="1325880"/>
          </a:xfrm>
          <a:prstGeom prst="roundRect">
            <a:avLst>
              <a:gd name="adj" fmla="val 11034"/>
            </a:avLst>
          </a:prstGeom>
          <a:solidFill>
            <a:schemeClr val="accent2"/>
          </a:solidFill>
          <a:ln w="25400">
            <a:solidFill>
              <a:schemeClr val="tx1"/>
            </a:solidFill>
            <a:prstDash val="solid"/>
          </a:ln>
          <a:effectLst>
            <a:outerShdw blurRad="101600" dist="63500" dir="2700000" algn="bl" rotWithShape="0">
              <a:srgbClr val="111A3E">
                <a:alpha val="100000"/>
              </a:srgbClr>
            </a:outerShdw>
          </a:effectLst>
        </p:spPr>
      </p:sp>
      <p:sp>
        <p:nvSpPr>
          <p:cNvPr id="18" name="Text 13"/>
          <p:cNvSpPr txBox="1"/>
          <p:nvPr/>
        </p:nvSpPr>
        <p:spPr>
          <a:xfrm>
            <a:off x="8046720" y="5047488"/>
            <a:ext cx="3337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4000" b="1" dirty="0">
                <a:solidFill>
                  <a:schemeClr val="tx1"/>
                </a:solidFill>
              </a:rPr>
              <a:t>33.75M</a:t>
            </a:r>
            <a:endParaRPr lang="en-US" sz="4000" dirty="0"/>
          </a:p>
        </p:txBody>
      </p:sp>
      <p:sp>
        <p:nvSpPr>
          <p:cNvPr id="19" name="Text 14"/>
          <p:cNvSpPr txBox="1"/>
          <p:nvPr/>
        </p:nvSpPr>
        <p:spPr>
          <a:xfrm>
            <a:off x="8046720" y="5742432"/>
            <a:ext cx="3337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chemeClr val="tx1"/>
                </a:solidFill>
              </a:rPr>
              <a:t>FY2021 net sales of AQ BZ Allin1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2B3A7A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27432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1"/>
                </a:solidFill>
              </a:rPr>
              <a:t>India is the top net-sales market</a:t>
            </a:r>
            <a:endParaRPr lang="en-US" sz="3000" dirty="0"/>
          </a:p>
        </p:txBody>
      </p:sp>
      <p:sp>
        <p:nvSpPr>
          <p:cNvPr id="3" name="Mascot ring"/>
          <p:cNvSpPr/>
          <p:nvPr/>
        </p:nvSpPr>
        <p:spPr>
          <a:xfrm>
            <a:off x="10835640" y="228600"/>
            <a:ext cx="914400" cy="9144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  <a:prstDash val="solid"/>
          </a:ln>
          <a:effectLst>
            <a:outerShdw blurRad="101600" dist="63500" dir="2700000" algn="bl" rotWithShape="0">
              <a:srgbClr val="111A3E">
                <a:alpha val="100000"/>
              </a:srgbClr>
            </a:outerShdw>
          </a:effectLst>
        </p:spPr>
      </p:sp>
      <p:pic>
        <p:nvPicPr>
          <p:cNvPr id="4" name="Image 0" descr="Cartoon masco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45368" y="338328"/>
            <a:ext cx="694944" cy="694944"/>
          </a:xfrm>
          <a:prstGeom prst="rect">
            <a:avLst/>
          </a:prstGeom>
        </p:spPr>
      </p:pic>
      <p:sp>
        <p:nvSpPr>
          <p:cNvPr id="5" name="Chip"/>
          <p:cNvSpPr/>
          <p:nvPr/>
        </p:nvSpPr>
        <p:spPr>
          <a:xfrm>
            <a:off x="548640" y="1097280"/>
            <a:ext cx="1463040" cy="347472"/>
          </a:xfrm>
          <a:prstGeom prst="roundRect">
            <a:avLst>
              <a:gd name="adj" fmla="val 50000"/>
            </a:avLst>
          </a:prstGeom>
          <a:solidFill>
            <a:srgbClr val="FF5A5F"/>
          </a:solidFill>
          <a:ln w="19050">
            <a:solidFill>
              <a:schemeClr val="tx1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48640" y="1097280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chemeClr val="bg1"/>
                </a:solidFill>
              </a:rPr>
              <a:t>REQUEST 18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2194560" y="1097280"/>
            <a:ext cx="8046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chemeClr val="tx2"/>
                </a:solidFill>
              </a:rPr>
              <a:t>Top 4 markets by net sales in FY2021 (stored procedure Top_Market).</a:t>
            </a:r>
            <a:endParaRPr lang="en-US" sz="1400" dirty="0"/>
          </a:p>
        </p:txBody>
      </p:sp>
      <p:sp>
        <p:nvSpPr>
          <p:cNvPr id="8" name="Chip"/>
          <p:cNvSpPr/>
          <p:nvPr/>
        </p:nvSpPr>
        <p:spPr>
          <a:xfrm>
            <a:off x="10424160" y="1097280"/>
            <a:ext cx="1234440" cy="347472"/>
          </a:xfrm>
          <a:prstGeom prst="roundRect">
            <a:avLst>
              <a:gd name="adj" fmla="val 50000"/>
            </a:avLst>
          </a:prstGeom>
          <a:solidFill>
            <a:srgbClr val="22C3B0"/>
          </a:solidFill>
          <a:ln w="19050">
            <a:solidFill>
              <a:schemeClr val="tx1"/>
            </a:solidFill>
            <a:prstDash val="solid"/>
          </a:ln>
        </p:spPr>
      </p:sp>
      <p:sp>
        <p:nvSpPr>
          <p:cNvPr id="9" name="Text 6">
            <a:hlinkClick r:id="rId4" action="ppaction://hlinksldjump" tooltip="Open SQL query and output"/>
          </p:cNvPr>
          <p:cNvSpPr txBox="1"/>
          <p:nvPr/>
        </p:nvSpPr>
        <p:spPr>
          <a:xfrm>
            <a:off x="10424160" y="1097280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u="sng" kern="0" spc="100" dirty="0">
                <a:solidFill>
                  <a:schemeClr val="tx1"/>
                </a:solidFill>
                <a:hlinkClick r:id="rId4" action="ppaction://hlinksldjump" tooltip="Open SQL query and output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SQL  p.41</a:t>
            </a:r>
            <a:endParaRPr lang="en-US" sz="1200" dirty="0"/>
          </a:p>
        </p:txBody>
      </p:sp>
      <p:sp>
        <p:nvSpPr>
          <p:cNvPr id="10" name="Chart card"/>
          <p:cNvSpPr/>
          <p:nvPr/>
        </p:nvSpPr>
        <p:spPr>
          <a:xfrm>
            <a:off x="548640" y="1645920"/>
            <a:ext cx="6949440" cy="4617720"/>
          </a:xfrm>
          <a:prstGeom prst="roundRect">
            <a:avLst>
              <a:gd name="adj" fmla="val 3168"/>
            </a:avLst>
          </a:prstGeom>
          <a:solidFill>
            <a:schemeClr val="bg1"/>
          </a:solidFill>
          <a:ln w="25400">
            <a:solidFill>
              <a:schemeClr val="tx1"/>
            </a:solidFill>
            <a:prstDash val="solid"/>
          </a:ln>
          <a:effectLst>
            <a:outerShdw blurRad="101600" dist="63500" dir="2700000" algn="bl" rotWithShape="0">
              <a:srgbClr val="111A3E">
                <a:alpha val="100000"/>
              </a:srgbClr>
            </a:outerShdw>
          </a:effectLst>
        </p:spPr>
      </p:sp>
      <p:graphicFrame>
        <p:nvGraphicFramePr>
          <p:cNvPr id="11" name="Chart 0"/>
          <p:cNvGraphicFramePr/>
          <p:nvPr/>
        </p:nvGraphicFramePr>
        <p:xfrm>
          <a:off x="731520" y="1783080"/>
          <a:ext cx="6583680" cy="4343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12" name="Insights card"/>
          <p:cNvSpPr/>
          <p:nvPr/>
        </p:nvSpPr>
        <p:spPr>
          <a:xfrm>
            <a:off x="7772400" y="1645920"/>
            <a:ext cx="3886200" cy="3108960"/>
          </a:xfrm>
          <a:prstGeom prst="roundRect">
            <a:avLst>
              <a:gd name="adj" fmla="val 4706"/>
            </a:avLst>
          </a:prstGeom>
          <a:solidFill>
            <a:schemeClr val="tx1"/>
          </a:solidFill>
          <a:ln w="25400">
            <a:solidFill>
              <a:schemeClr val="tx1"/>
            </a:solidFill>
            <a:prstDash val="solid"/>
          </a:ln>
          <a:effectLst>
            <a:outerShdw blurRad="101600" dist="63500" dir="2700000" algn="bl" rotWithShape="0">
              <a:srgbClr val="111A3E">
                <a:alpha val="100000"/>
              </a:srgbClr>
            </a:outerShdw>
          </a:effectLst>
        </p:spPr>
      </p:sp>
      <p:sp>
        <p:nvSpPr>
          <p:cNvPr id="13" name="Badge"/>
          <p:cNvSpPr/>
          <p:nvPr/>
        </p:nvSpPr>
        <p:spPr>
          <a:xfrm>
            <a:off x="8001000" y="1847088"/>
            <a:ext cx="384048" cy="384048"/>
          </a:xfrm>
          <a:prstGeom prst="ellipse">
            <a:avLst/>
          </a:prstGeom>
          <a:solidFill>
            <a:srgbClr val="FFC53D"/>
          </a:solidFill>
          <a:ln w="25400">
            <a:solidFill>
              <a:srgbClr val="FFC53D"/>
            </a:solidFill>
            <a:prstDash val="solid"/>
          </a:ln>
        </p:spPr>
      </p:sp>
      <p:pic>
        <p:nvPicPr>
          <p:cNvPr id="14" name="Image 1" descr="FaLightbulb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83296" y="1929384"/>
            <a:ext cx="219456" cy="219456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8522208" y="1847088"/>
            <a:ext cx="2971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chemeClr val="accent2"/>
                </a:solidFill>
              </a:rPr>
              <a:t>KEY INSIGHTS</a:t>
            </a:r>
            <a:endParaRPr lang="en-US" sz="1300" dirty="0"/>
          </a:p>
        </p:txBody>
      </p:sp>
      <p:sp>
        <p:nvSpPr>
          <p:cNvPr id="16" name="Text 11"/>
          <p:cNvSpPr txBox="1"/>
          <p:nvPr/>
        </p:nvSpPr>
        <p:spPr>
          <a:xfrm>
            <a:off x="8028432" y="2395728"/>
            <a:ext cx="342900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India leads with 210.67M, about 1.6x the USA (132.05M).</a:t>
            </a:r>
            <a:endParaRPr lang="en-US" sz="14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South Korea (64.01M) and Canada (45.89M) complete the top four.</a:t>
            </a:r>
            <a:endParaRPr lang="en-US" sz="1400" dirty="0"/>
          </a:p>
          <a:p>
            <a:pPr marL="177800" indent="-177800">
              <a:buSzPct val="100000"/>
              <a:buChar char="•"/>
            </a:pPr>
            <a:r>
              <a:rPr lang="en-US" sz="1400" b="1" dirty="0">
                <a:solidFill>
                  <a:schemeClr val="accent2"/>
                </a:solidFill>
              </a:rPr>
              <a:t>So what: </a:t>
            </a:r>
            <a:r>
              <a:rPr lang="en-US" sz="1400" dirty="0">
                <a:solidFill>
                  <a:schemeClr val="bg1"/>
                </a:solidFill>
              </a:rPr>
              <a:t>Double down on India and the USA; nurture South Korea and Canada.</a:t>
            </a:r>
            <a:endParaRPr lang="en-US" sz="1400" dirty="0"/>
          </a:p>
        </p:txBody>
      </p:sp>
      <p:sp>
        <p:nvSpPr>
          <p:cNvPr id="17" name="Stat card"/>
          <p:cNvSpPr/>
          <p:nvPr/>
        </p:nvSpPr>
        <p:spPr>
          <a:xfrm>
            <a:off x="7772400" y="4937760"/>
            <a:ext cx="3886200" cy="1325880"/>
          </a:xfrm>
          <a:prstGeom prst="roundRect">
            <a:avLst>
              <a:gd name="adj" fmla="val 11034"/>
            </a:avLst>
          </a:prstGeom>
          <a:solidFill>
            <a:schemeClr val="accent2"/>
          </a:solidFill>
          <a:ln w="25400">
            <a:solidFill>
              <a:schemeClr val="tx1"/>
            </a:solidFill>
            <a:prstDash val="solid"/>
          </a:ln>
          <a:effectLst>
            <a:outerShdw blurRad="101600" dist="63500" dir="2700000" algn="bl" rotWithShape="0">
              <a:srgbClr val="111A3E">
                <a:alpha val="100000"/>
              </a:srgbClr>
            </a:outerShdw>
          </a:effectLst>
        </p:spPr>
      </p:sp>
      <p:sp>
        <p:nvSpPr>
          <p:cNvPr id="18" name="Text 13"/>
          <p:cNvSpPr txBox="1"/>
          <p:nvPr/>
        </p:nvSpPr>
        <p:spPr>
          <a:xfrm>
            <a:off x="8046720" y="5047488"/>
            <a:ext cx="3337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4000" b="1" dirty="0">
                <a:solidFill>
                  <a:schemeClr val="tx1"/>
                </a:solidFill>
              </a:rPr>
              <a:t>47%</a:t>
            </a:r>
            <a:endParaRPr lang="en-US" sz="4000" dirty="0"/>
          </a:p>
        </p:txBody>
      </p:sp>
      <p:sp>
        <p:nvSpPr>
          <p:cNvPr id="19" name="Text 14"/>
          <p:cNvSpPr txBox="1"/>
          <p:nvPr/>
        </p:nvSpPr>
        <p:spPr>
          <a:xfrm>
            <a:off x="8046720" y="5742432"/>
            <a:ext cx="3337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chemeClr val="tx1"/>
                </a:solidFill>
              </a:rPr>
              <a:t>India's share of the top-four net sales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2B3A7A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27432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bg1"/>
                </a:solidFill>
              </a:rPr>
              <a:t>Recommendations</a:t>
            </a:r>
            <a:endParaRPr lang="en-US" sz="3000" dirty="0"/>
          </a:p>
        </p:txBody>
      </p:sp>
      <p:sp>
        <p:nvSpPr>
          <p:cNvPr id="3" name="Mascot ring"/>
          <p:cNvSpPr/>
          <p:nvPr/>
        </p:nvSpPr>
        <p:spPr>
          <a:xfrm>
            <a:off x="10835640" y="228600"/>
            <a:ext cx="914400" cy="9144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  <a:prstDash val="solid"/>
          </a:ln>
          <a:effectLst>
            <a:outerShdw blurRad="101600" dist="63500" dir="2700000" algn="bl" rotWithShape="0">
              <a:srgbClr val="111A3E">
                <a:alpha val="100000"/>
              </a:srgbClr>
            </a:outerShdw>
          </a:effectLst>
        </p:spPr>
      </p:sp>
      <p:pic>
        <p:nvPicPr>
          <p:cNvPr id="4" name="Image 0" descr="Cartoon masco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45368" y="338328"/>
            <a:ext cx="694944" cy="694944"/>
          </a:xfrm>
          <a:prstGeom prst="rect">
            <a:avLst/>
          </a:prstGeom>
        </p:spPr>
      </p:pic>
      <p:sp>
        <p:nvSpPr>
          <p:cNvPr id="5" name="Recommendation card"/>
          <p:cNvSpPr/>
          <p:nvPr/>
        </p:nvSpPr>
        <p:spPr>
          <a:xfrm>
            <a:off x="548640" y="1417320"/>
            <a:ext cx="2697480" cy="2331720"/>
          </a:xfrm>
          <a:prstGeom prst="roundRect">
            <a:avLst>
              <a:gd name="adj" fmla="val 6275"/>
            </a:avLst>
          </a:prstGeom>
          <a:solidFill>
            <a:schemeClr val="bg1"/>
          </a:solidFill>
          <a:ln w="25400">
            <a:solidFill>
              <a:schemeClr val="tx1"/>
            </a:solidFill>
            <a:prstDash val="solid"/>
          </a:ln>
          <a:effectLst>
            <a:outerShdw blurRad="101600" dist="63500" dir="2700000" algn="bl" rotWithShape="0">
              <a:srgbClr val="070D26">
                <a:alpha val="100000"/>
              </a:srgbClr>
            </a:outerShdw>
          </a:effectLst>
        </p:spPr>
      </p:sp>
      <p:sp>
        <p:nvSpPr>
          <p:cNvPr id="6" name="Badge"/>
          <p:cNvSpPr/>
          <p:nvPr/>
        </p:nvSpPr>
        <p:spPr>
          <a:xfrm>
            <a:off x="731520" y="1581912"/>
            <a:ext cx="457200" cy="457200"/>
          </a:xfrm>
          <a:prstGeom prst="ellipse">
            <a:avLst/>
          </a:prstGeom>
          <a:solidFill>
            <a:srgbClr val="FF5A5F"/>
          </a:solidFill>
          <a:ln w="19050">
            <a:solidFill>
              <a:schemeClr val="tx1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31520" y="15819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731520" y="2148840"/>
            <a:ext cx="2331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Focus on the Desktop, Storage and Networking segments</a:t>
            </a:r>
            <a:endParaRPr lang="en-US" sz="1400" dirty="0"/>
          </a:p>
        </p:txBody>
      </p:sp>
      <p:sp>
        <p:nvSpPr>
          <p:cNvPr id="9" name="Evidence pill"/>
          <p:cNvSpPr/>
          <p:nvPr/>
        </p:nvSpPr>
        <p:spPr>
          <a:xfrm>
            <a:off x="685800" y="3044952"/>
            <a:ext cx="2423160" cy="585216"/>
          </a:xfrm>
          <a:prstGeom prst="roundRect">
            <a:avLst>
              <a:gd name="adj" fmla="val 15625"/>
            </a:avLst>
          </a:prstGeom>
          <a:solidFill>
            <a:srgbClr val="FFF3CC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77240" y="3044952"/>
            <a:ext cx="22402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chemeClr val="tx1"/>
                </a:solidFill>
              </a:rPr>
              <a:t>Only 17% of the range; Desktop grew 214% (R3, R4)</a:t>
            </a:r>
            <a:endParaRPr lang="en-US" sz="1100" dirty="0"/>
          </a:p>
        </p:txBody>
      </p:sp>
      <p:sp>
        <p:nvSpPr>
          <p:cNvPr id="11" name="Recommendation card"/>
          <p:cNvSpPr/>
          <p:nvPr/>
        </p:nvSpPr>
        <p:spPr>
          <a:xfrm>
            <a:off x="3355848" y="1417320"/>
            <a:ext cx="2697480" cy="2331720"/>
          </a:xfrm>
          <a:prstGeom prst="roundRect">
            <a:avLst>
              <a:gd name="adj" fmla="val 6275"/>
            </a:avLst>
          </a:prstGeom>
          <a:solidFill>
            <a:schemeClr val="bg1"/>
          </a:solidFill>
          <a:ln w="25400">
            <a:solidFill>
              <a:schemeClr val="tx1"/>
            </a:solidFill>
            <a:prstDash val="solid"/>
          </a:ln>
          <a:effectLst>
            <a:outerShdw blurRad="101600" dist="63500" dir="2700000" algn="bl" rotWithShape="0">
              <a:srgbClr val="070D26">
                <a:alpha val="100000"/>
              </a:srgbClr>
            </a:outerShdw>
          </a:effectLst>
        </p:spPr>
      </p:sp>
      <p:sp>
        <p:nvSpPr>
          <p:cNvPr id="12" name="Badge"/>
          <p:cNvSpPr/>
          <p:nvPr/>
        </p:nvSpPr>
        <p:spPr>
          <a:xfrm>
            <a:off x="3538728" y="1581912"/>
            <a:ext cx="457200" cy="457200"/>
          </a:xfrm>
          <a:prstGeom prst="ellipse">
            <a:avLst/>
          </a:prstGeom>
          <a:solidFill>
            <a:srgbClr val="FFC53D"/>
          </a:solidFill>
          <a:ln w="19050">
            <a:solidFill>
              <a:schemeClr val="tx1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3538728" y="15819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1"/>
                </a:solidFill>
              </a:rPr>
              <a:t>2</a:t>
            </a:r>
            <a:endParaRPr lang="en-US" sz="1600" dirty="0"/>
          </a:p>
        </p:txBody>
      </p:sp>
      <p:sp>
        <p:nvSpPr>
          <p:cNvPr id="14" name="Text 11"/>
          <p:cNvSpPr txBox="1"/>
          <p:nvPr/>
        </p:nvSpPr>
        <p:spPr>
          <a:xfrm>
            <a:off x="3538728" y="2148840"/>
            <a:ext cx="2331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Emphasize multi-channel marketing beyond retailers</a:t>
            </a:r>
            <a:endParaRPr lang="en-US" sz="1400" dirty="0"/>
          </a:p>
        </p:txBody>
      </p:sp>
      <p:sp>
        <p:nvSpPr>
          <p:cNvPr id="15" name="Evidence pill"/>
          <p:cNvSpPr/>
          <p:nvPr/>
        </p:nvSpPr>
        <p:spPr>
          <a:xfrm>
            <a:off x="3493008" y="3044952"/>
            <a:ext cx="2423160" cy="585216"/>
          </a:xfrm>
          <a:prstGeom prst="roundRect">
            <a:avLst>
              <a:gd name="adj" fmla="val 15625"/>
            </a:avLst>
          </a:prstGeom>
          <a:solidFill>
            <a:srgbClr val="FFF3CC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3584448" y="3044952"/>
            <a:ext cx="22402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chemeClr val="tx1"/>
                </a:solidFill>
              </a:rPr>
              <a:t>Retailers bring 73% of gross sales (R9)</a:t>
            </a:r>
            <a:endParaRPr lang="en-US" sz="1100" dirty="0"/>
          </a:p>
        </p:txBody>
      </p:sp>
      <p:sp>
        <p:nvSpPr>
          <p:cNvPr id="17" name="Recommendation card"/>
          <p:cNvSpPr/>
          <p:nvPr/>
        </p:nvSpPr>
        <p:spPr>
          <a:xfrm>
            <a:off x="6163056" y="1417320"/>
            <a:ext cx="2697480" cy="2331720"/>
          </a:xfrm>
          <a:prstGeom prst="roundRect">
            <a:avLst>
              <a:gd name="adj" fmla="val 6275"/>
            </a:avLst>
          </a:prstGeom>
          <a:solidFill>
            <a:schemeClr val="bg1"/>
          </a:solidFill>
          <a:ln w="25400">
            <a:solidFill>
              <a:schemeClr val="tx1"/>
            </a:solidFill>
            <a:prstDash val="solid"/>
          </a:ln>
          <a:effectLst>
            <a:outerShdw blurRad="101600" dist="63500" dir="2700000" algn="bl" rotWithShape="0">
              <a:srgbClr val="070D26">
                <a:alpha val="100000"/>
              </a:srgbClr>
            </a:outerShdw>
          </a:effectLst>
        </p:spPr>
      </p:sp>
      <p:sp>
        <p:nvSpPr>
          <p:cNvPr id="18" name="Badge"/>
          <p:cNvSpPr/>
          <p:nvPr/>
        </p:nvSpPr>
        <p:spPr>
          <a:xfrm>
            <a:off x="6345936" y="1581912"/>
            <a:ext cx="457200" cy="457200"/>
          </a:xfrm>
          <a:prstGeom prst="ellipse">
            <a:avLst/>
          </a:prstGeom>
          <a:solidFill>
            <a:srgbClr val="22C3B0"/>
          </a:solidFill>
          <a:ln w="19050">
            <a:solidFill>
              <a:schemeClr val="tx1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6345936" y="15819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1"/>
                </a:solidFill>
              </a:rPr>
              <a:t>3</a:t>
            </a:r>
            <a:endParaRPr lang="en-US" sz="1600" dirty="0"/>
          </a:p>
        </p:txBody>
      </p:sp>
      <p:sp>
        <p:nvSpPr>
          <p:cNvPr id="20" name="Text 17"/>
          <p:cNvSpPr txBox="1"/>
          <p:nvPr/>
        </p:nvSpPr>
        <p:spPr>
          <a:xfrm>
            <a:off x="6345936" y="2148840"/>
            <a:ext cx="2331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Combine pricing strategies with attractive promotions</a:t>
            </a:r>
            <a:endParaRPr lang="en-US" sz="1400" dirty="0"/>
          </a:p>
        </p:txBody>
      </p:sp>
      <p:sp>
        <p:nvSpPr>
          <p:cNvPr id="21" name="Evidence pill"/>
          <p:cNvSpPr/>
          <p:nvPr/>
        </p:nvSpPr>
        <p:spPr>
          <a:xfrm>
            <a:off x="6300216" y="3044952"/>
            <a:ext cx="2423160" cy="585216"/>
          </a:xfrm>
          <a:prstGeom prst="roundRect">
            <a:avLst>
              <a:gd name="adj" fmla="val 15625"/>
            </a:avLst>
          </a:prstGeom>
          <a:solidFill>
            <a:srgbClr val="FFF3CC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6391656" y="3044952"/>
            <a:ext cx="22402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chemeClr val="tx1"/>
                </a:solidFill>
              </a:rPr>
              <a:t>Top discounts sit within 1.5 pts (R6)</a:t>
            </a:r>
            <a:endParaRPr lang="en-US" sz="1100" dirty="0"/>
          </a:p>
        </p:txBody>
      </p:sp>
      <p:sp>
        <p:nvSpPr>
          <p:cNvPr id="23" name="Recommendation card"/>
          <p:cNvSpPr/>
          <p:nvPr/>
        </p:nvSpPr>
        <p:spPr>
          <a:xfrm>
            <a:off x="8970264" y="1417320"/>
            <a:ext cx="2697480" cy="2331720"/>
          </a:xfrm>
          <a:prstGeom prst="roundRect">
            <a:avLst>
              <a:gd name="adj" fmla="val 6275"/>
            </a:avLst>
          </a:prstGeom>
          <a:solidFill>
            <a:schemeClr val="bg1"/>
          </a:solidFill>
          <a:ln w="25400">
            <a:solidFill>
              <a:schemeClr val="tx1"/>
            </a:solidFill>
            <a:prstDash val="solid"/>
          </a:ln>
          <a:effectLst>
            <a:outerShdw blurRad="101600" dist="63500" dir="2700000" algn="bl" rotWithShape="0">
              <a:srgbClr val="070D26">
                <a:alpha val="100000"/>
              </a:srgbClr>
            </a:outerShdw>
          </a:effectLst>
        </p:spPr>
      </p:sp>
      <p:sp>
        <p:nvSpPr>
          <p:cNvPr id="24" name="Badge"/>
          <p:cNvSpPr/>
          <p:nvPr/>
        </p:nvSpPr>
        <p:spPr>
          <a:xfrm>
            <a:off x="9153144" y="1581912"/>
            <a:ext cx="457200" cy="457200"/>
          </a:xfrm>
          <a:prstGeom prst="ellipse">
            <a:avLst/>
          </a:prstGeom>
          <a:solidFill>
            <a:srgbClr val="7B61FF"/>
          </a:solidFill>
          <a:ln w="19050">
            <a:solidFill>
              <a:schemeClr val="tx1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9153144" y="15819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26" name="Text 23"/>
          <p:cNvSpPr txBox="1"/>
          <p:nvPr/>
        </p:nvSpPr>
        <p:spPr>
          <a:xfrm>
            <a:off x="9153144" y="2148840"/>
            <a:ext cx="2331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Grow key accounts such as Amazon, Flipkart and Croma</a:t>
            </a:r>
            <a:endParaRPr lang="en-US" sz="1400" dirty="0"/>
          </a:p>
        </p:txBody>
      </p:sp>
      <p:sp>
        <p:nvSpPr>
          <p:cNvPr id="27" name="Evidence pill"/>
          <p:cNvSpPr/>
          <p:nvPr/>
        </p:nvSpPr>
        <p:spPr>
          <a:xfrm>
            <a:off x="9107424" y="3044952"/>
            <a:ext cx="2423160" cy="585216"/>
          </a:xfrm>
          <a:prstGeom prst="roundRect">
            <a:avLst>
              <a:gd name="adj" fmla="val 15625"/>
            </a:avLst>
          </a:prstGeom>
          <a:solidFill>
            <a:srgbClr val="FFF3CC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9198864" y="3044952"/>
            <a:ext cx="22402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chemeClr val="tx1"/>
                </a:solidFill>
              </a:rPr>
              <a:t>Amazon leads net sales; Croma grew 110x (R11, R14)</a:t>
            </a:r>
            <a:endParaRPr lang="en-US" sz="1100" dirty="0"/>
          </a:p>
        </p:txBody>
      </p:sp>
      <p:sp>
        <p:nvSpPr>
          <p:cNvPr id="29" name="Recommendation card"/>
          <p:cNvSpPr/>
          <p:nvPr/>
        </p:nvSpPr>
        <p:spPr>
          <a:xfrm>
            <a:off x="548640" y="3931920"/>
            <a:ext cx="2697480" cy="2331720"/>
          </a:xfrm>
          <a:prstGeom prst="roundRect">
            <a:avLst>
              <a:gd name="adj" fmla="val 6275"/>
            </a:avLst>
          </a:prstGeom>
          <a:solidFill>
            <a:schemeClr val="bg1"/>
          </a:solidFill>
          <a:ln w="25400">
            <a:solidFill>
              <a:schemeClr val="tx1"/>
            </a:solidFill>
            <a:prstDash val="solid"/>
          </a:ln>
          <a:effectLst>
            <a:outerShdw blurRad="101600" dist="63500" dir="2700000" algn="bl" rotWithShape="0">
              <a:srgbClr val="070D26">
                <a:alpha val="100000"/>
              </a:srgbClr>
            </a:outerShdw>
          </a:effectLst>
        </p:spPr>
      </p:sp>
      <p:sp>
        <p:nvSpPr>
          <p:cNvPr id="30" name="Badge"/>
          <p:cNvSpPr/>
          <p:nvPr/>
        </p:nvSpPr>
        <p:spPr>
          <a:xfrm>
            <a:off x="731520" y="4096512"/>
            <a:ext cx="457200" cy="457200"/>
          </a:xfrm>
          <a:prstGeom prst="ellipse">
            <a:avLst/>
          </a:prstGeom>
          <a:solidFill>
            <a:srgbClr val="3D8BFF"/>
          </a:solidFill>
          <a:ln w="19050">
            <a:solidFill>
              <a:schemeClr val="tx1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731520" y="40965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5</a:t>
            </a:r>
            <a:endParaRPr lang="en-US" sz="1600" dirty="0"/>
          </a:p>
        </p:txBody>
      </p:sp>
      <p:sp>
        <p:nvSpPr>
          <p:cNvPr id="32" name="Text 29"/>
          <p:cNvSpPr txBox="1"/>
          <p:nvPr/>
        </p:nvSpPr>
        <p:spPr>
          <a:xfrm>
            <a:off x="731520" y="4663440"/>
            <a:ext cx="2331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Double down on India and USA; nurture South Korea and Canada</a:t>
            </a:r>
            <a:endParaRPr lang="en-US" sz="1400" dirty="0"/>
          </a:p>
        </p:txBody>
      </p:sp>
      <p:sp>
        <p:nvSpPr>
          <p:cNvPr id="33" name="Evidence pill"/>
          <p:cNvSpPr/>
          <p:nvPr/>
        </p:nvSpPr>
        <p:spPr>
          <a:xfrm>
            <a:off x="685800" y="5559552"/>
            <a:ext cx="2423160" cy="585216"/>
          </a:xfrm>
          <a:prstGeom prst="roundRect">
            <a:avLst>
              <a:gd name="adj" fmla="val 15625"/>
            </a:avLst>
          </a:prstGeom>
          <a:solidFill>
            <a:srgbClr val="FFF3CC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777240" y="5559552"/>
            <a:ext cx="22402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chemeClr val="tx1"/>
                </a:solidFill>
              </a:rPr>
              <a:t>India is 47% of top-four net sales (R18)</a:t>
            </a:r>
            <a:endParaRPr lang="en-US" sz="1100" dirty="0"/>
          </a:p>
        </p:txBody>
      </p:sp>
      <p:sp>
        <p:nvSpPr>
          <p:cNvPr id="35" name="Recommendation card"/>
          <p:cNvSpPr/>
          <p:nvPr/>
        </p:nvSpPr>
        <p:spPr>
          <a:xfrm>
            <a:off x="3355848" y="3931920"/>
            <a:ext cx="2697480" cy="2331720"/>
          </a:xfrm>
          <a:prstGeom prst="roundRect">
            <a:avLst>
              <a:gd name="adj" fmla="val 6275"/>
            </a:avLst>
          </a:prstGeom>
          <a:solidFill>
            <a:schemeClr val="bg1"/>
          </a:solidFill>
          <a:ln w="25400">
            <a:solidFill>
              <a:schemeClr val="tx1"/>
            </a:solidFill>
            <a:prstDash val="solid"/>
          </a:ln>
          <a:effectLst>
            <a:outerShdw blurRad="101600" dist="63500" dir="2700000" algn="bl" rotWithShape="0">
              <a:srgbClr val="070D26">
                <a:alpha val="100000"/>
              </a:srgbClr>
            </a:outerShdw>
          </a:effectLst>
        </p:spPr>
      </p:sp>
      <p:sp>
        <p:nvSpPr>
          <p:cNvPr id="36" name="Badge"/>
          <p:cNvSpPr/>
          <p:nvPr/>
        </p:nvSpPr>
        <p:spPr>
          <a:xfrm>
            <a:off x="3538728" y="4096512"/>
            <a:ext cx="457200" cy="457200"/>
          </a:xfrm>
          <a:prstGeom prst="ellipse">
            <a:avLst/>
          </a:prstGeom>
          <a:solidFill>
            <a:srgbClr val="FF5A5F"/>
          </a:solidFill>
          <a:ln w="19050">
            <a:solidFill>
              <a:schemeClr val="tx1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3538728" y="40965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6</a:t>
            </a:r>
            <a:endParaRPr lang="en-US" sz="1600" dirty="0"/>
          </a:p>
        </p:txBody>
      </p:sp>
      <p:sp>
        <p:nvSpPr>
          <p:cNvPr id="38" name="Text 35"/>
          <p:cNvSpPr txBox="1"/>
          <p:nvPr/>
        </p:nvSpPr>
        <p:spPr>
          <a:xfrm>
            <a:off x="3538728" y="4663440"/>
            <a:ext cx="2331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Fix forecast accuracy in the Netherlands, Sweden, Philippines and South Korea</a:t>
            </a:r>
            <a:endParaRPr lang="en-US" sz="1400" dirty="0"/>
          </a:p>
        </p:txBody>
      </p:sp>
      <p:sp>
        <p:nvSpPr>
          <p:cNvPr id="39" name="Evidence pill"/>
          <p:cNvSpPr/>
          <p:nvPr/>
        </p:nvSpPr>
        <p:spPr>
          <a:xfrm>
            <a:off x="3493008" y="5559552"/>
            <a:ext cx="2423160" cy="585216"/>
          </a:xfrm>
          <a:prstGeom prst="roundRect">
            <a:avLst>
              <a:gd name="adj" fmla="val 15625"/>
            </a:avLst>
          </a:prstGeom>
          <a:solidFill>
            <a:srgbClr val="FFF3CC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3584448" y="5559552"/>
            <a:ext cx="22402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chemeClr val="tx1"/>
                </a:solidFill>
              </a:rPr>
              <a:t>Netherlands fell to 0% (R16)</a:t>
            </a:r>
            <a:endParaRPr lang="en-US" sz="1100" dirty="0"/>
          </a:p>
        </p:txBody>
      </p:sp>
      <p:sp>
        <p:nvSpPr>
          <p:cNvPr id="41" name="Recommendation card"/>
          <p:cNvSpPr/>
          <p:nvPr/>
        </p:nvSpPr>
        <p:spPr>
          <a:xfrm>
            <a:off x="6163056" y="3931920"/>
            <a:ext cx="2697480" cy="2331720"/>
          </a:xfrm>
          <a:prstGeom prst="roundRect">
            <a:avLst>
              <a:gd name="adj" fmla="val 6275"/>
            </a:avLst>
          </a:prstGeom>
          <a:solidFill>
            <a:schemeClr val="bg1"/>
          </a:solidFill>
          <a:ln w="25400">
            <a:solidFill>
              <a:schemeClr val="tx1"/>
            </a:solidFill>
            <a:prstDash val="solid"/>
          </a:ln>
          <a:effectLst>
            <a:outerShdw blurRad="101600" dist="63500" dir="2700000" algn="bl" rotWithShape="0">
              <a:srgbClr val="070D26">
                <a:alpha val="100000"/>
              </a:srgbClr>
            </a:outerShdw>
          </a:effectLst>
        </p:spPr>
      </p:sp>
      <p:sp>
        <p:nvSpPr>
          <p:cNvPr id="42" name="Badge"/>
          <p:cNvSpPr/>
          <p:nvPr/>
        </p:nvSpPr>
        <p:spPr>
          <a:xfrm>
            <a:off x="6345936" y="4096512"/>
            <a:ext cx="457200" cy="457200"/>
          </a:xfrm>
          <a:prstGeom prst="ellipse">
            <a:avLst/>
          </a:prstGeom>
          <a:solidFill>
            <a:srgbClr val="FFC53D"/>
          </a:solidFill>
          <a:ln w="19050">
            <a:solidFill>
              <a:schemeClr val="tx1"/>
            </a:solidFill>
            <a:prstDash val="solid"/>
          </a:ln>
        </p:spPr>
      </p:sp>
      <p:sp>
        <p:nvSpPr>
          <p:cNvPr id="43" name="Text 40"/>
          <p:cNvSpPr txBox="1"/>
          <p:nvPr/>
        </p:nvSpPr>
        <p:spPr>
          <a:xfrm>
            <a:off x="6345936" y="40965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1"/>
                </a:solidFill>
              </a:rPr>
              <a:t>7</a:t>
            </a:r>
            <a:endParaRPr lang="en-US" sz="1600" dirty="0"/>
          </a:p>
        </p:txBody>
      </p:sp>
      <p:sp>
        <p:nvSpPr>
          <p:cNvPr id="44" name="Text 41"/>
          <p:cNvSpPr txBox="1"/>
          <p:nvPr/>
        </p:nvSpPr>
        <p:spPr>
          <a:xfrm>
            <a:off x="6345936" y="4663440"/>
            <a:ext cx="2331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Continuously improve based on customer feedback</a:t>
            </a:r>
            <a:endParaRPr lang="en-US" sz="1400" dirty="0"/>
          </a:p>
        </p:txBody>
      </p:sp>
      <p:sp>
        <p:nvSpPr>
          <p:cNvPr id="45" name="Evidence pill"/>
          <p:cNvSpPr/>
          <p:nvPr/>
        </p:nvSpPr>
        <p:spPr>
          <a:xfrm>
            <a:off x="6300216" y="5559552"/>
            <a:ext cx="2423160" cy="585216"/>
          </a:xfrm>
          <a:prstGeom prst="roundRect">
            <a:avLst>
              <a:gd name="adj" fmla="val 15625"/>
            </a:avLst>
          </a:prstGeom>
          <a:solidFill>
            <a:srgbClr val="FFF3CC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46" name="Text 43"/>
          <p:cNvSpPr txBox="1"/>
          <p:nvPr/>
        </p:nvSpPr>
        <p:spPr>
          <a:xfrm>
            <a:off x="6391656" y="5559552"/>
            <a:ext cx="22402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chemeClr val="tx1"/>
                </a:solidFill>
              </a:rPr>
              <a:t>Range grew by 89 products in a year (R2)</a:t>
            </a:r>
            <a:endParaRPr lang="en-US" sz="1100" dirty="0"/>
          </a:p>
        </p:txBody>
      </p:sp>
      <p:sp>
        <p:nvSpPr>
          <p:cNvPr id="47" name="Recommendation card"/>
          <p:cNvSpPr/>
          <p:nvPr/>
        </p:nvSpPr>
        <p:spPr>
          <a:xfrm>
            <a:off x="8970264" y="3931920"/>
            <a:ext cx="2697480" cy="2331720"/>
          </a:xfrm>
          <a:prstGeom prst="roundRect">
            <a:avLst>
              <a:gd name="adj" fmla="val 6275"/>
            </a:avLst>
          </a:prstGeom>
          <a:solidFill>
            <a:schemeClr val="bg1"/>
          </a:solidFill>
          <a:ln w="25400">
            <a:solidFill>
              <a:schemeClr val="tx1"/>
            </a:solidFill>
            <a:prstDash val="solid"/>
          </a:ln>
          <a:effectLst>
            <a:outerShdw blurRad="101600" dist="63500" dir="2700000" algn="bl" rotWithShape="0">
              <a:srgbClr val="070D26">
                <a:alpha val="100000"/>
              </a:srgbClr>
            </a:outerShdw>
          </a:effectLst>
        </p:spPr>
      </p:sp>
      <p:sp>
        <p:nvSpPr>
          <p:cNvPr id="48" name="Badge"/>
          <p:cNvSpPr/>
          <p:nvPr/>
        </p:nvSpPr>
        <p:spPr>
          <a:xfrm>
            <a:off x="9153144" y="4096512"/>
            <a:ext cx="457200" cy="457200"/>
          </a:xfrm>
          <a:prstGeom prst="ellipse">
            <a:avLst/>
          </a:prstGeom>
          <a:solidFill>
            <a:srgbClr val="22C3B0"/>
          </a:solidFill>
          <a:ln w="19050">
            <a:solidFill>
              <a:schemeClr val="tx1"/>
            </a:solidFill>
            <a:prstDash val="solid"/>
          </a:ln>
        </p:spPr>
      </p:sp>
      <p:sp>
        <p:nvSpPr>
          <p:cNvPr id="49" name="Text 46"/>
          <p:cNvSpPr txBox="1"/>
          <p:nvPr/>
        </p:nvSpPr>
        <p:spPr>
          <a:xfrm>
            <a:off x="9153144" y="40965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1"/>
                </a:solidFill>
              </a:rPr>
              <a:t>8</a:t>
            </a:r>
            <a:endParaRPr lang="en-US" sz="1600" dirty="0"/>
          </a:p>
        </p:txBody>
      </p:sp>
      <p:sp>
        <p:nvSpPr>
          <p:cNvPr id="50" name="Text 47"/>
          <p:cNvSpPr txBox="1"/>
          <p:nvPr/>
        </p:nvSpPr>
        <p:spPr>
          <a:xfrm>
            <a:off x="9153144" y="4663440"/>
            <a:ext cx="2331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Invest in sales-team training for improved performance</a:t>
            </a:r>
            <a:endParaRPr lang="en-US" sz="1400" dirty="0"/>
          </a:p>
        </p:txBody>
      </p:sp>
      <p:sp>
        <p:nvSpPr>
          <p:cNvPr id="51" name="Evidence pill"/>
          <p:cNvSpPr/>
          <p:nvPr/>
        </p:nvSpPr>
        <p:spPr>
          <a:xfrm>
            <a:off x="9107424" y="5559552"/>
            <a:ext cx="2423160" cy="585216"/>
          </a:xfrm>
          <a:prstGeom prst="roundRect">
            <a:avLst>
              <a:gd name="adj" fmla="val 15625"/>
            </a:avLst>
          </a:prstGeom>
          <a:solidFill>
            <a:srgbClr val="FFF3CC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52" name="Text 49"/>
          <p:cNvSpPr txBox="1"/>
          <p:nvPr/>
        </p:nvSpPr>
        <p:spPr>
          <a:xfrm>
            <a:off x="9198864" y="5559552"/>
            <a:ext cx="22402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chemeClr val="tx1"/>
                </a:solidFill>
              </a:rPr>
              <a:t>Q3 volume fell 69% vs Q2 (R8)</a:t>
            </a:r>
            <a:endParaRPr lang="en-US" sz="1100" dirty="0"/>
          </a:p>
        </p:txBody>
      </p:sp>
      <p:sp>
        <p:nvSpPr>
          <p:cNvPr id="5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CADCFC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27432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1"/>
                </a:solidFill>
              </a:rPr>
              <a:t>What the data told us</a:t>
            </a:r>
            <a:endParaRPr lang="en-US" sz="3000" dirty="0"/>
          </a:p>
        </p:txBody>
      </p:sp>
      <p:sp>
        <p:nvSpPr>
          <p:cNvPr id="3" name="Mascot ring"/>
          <p:cNvSpPr/>
          <p:nvPr/>
        </p:nvSpPr>
        <p:spPr>
          <a:xfrm>
            <a:off x="10835640" y="228600"/>
            <a:ext cx="914400" cy="9144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  <a:prstDash val="solid"/>
          </a:ln>
          <a:effectLst>
            <a:outerShdw blurRad="101600" dist="63500" dir="2700000" algn="bl" rotWithShape="0">
              <a:srgbClr val="111A3E">
                <a:alpha val="100000"/>
              </a:srgbClr>
            </a:outerShdw>
          </a:effectLst>
        </p:spPr>
      </p:sp>
      <p:pic>
        <p:nvPicPr>
          <p:cNvPr id="4" name="Image 0" descr="Cartoon masco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45368" y="338328"/>
            <a:ext cx="694944" cy="694944"/>
          </a:xfrm>
          <a:prstGeom prst="rect">
            <a:avLst/>
          </a:prstGeom>
        </p:spPr>
      </p:pic>
      <p:sp>
        <p:nvSpPr>
          <p:cNvPr id="101" name="Recap strip"/>
          <p:cNvSpPr/>
          <p:nvPr/>
        </p:nvSpPr>
        <p:spPr>
          <a:xfrm>
            <a:off x="548640" y="1143000"/>
            <a:ext cx="11064240" cy="457200"/>
          </a:xfrm>
          <a:prstGeom prst="roundRect">
            <a:avLst>
              <a:gd name="adj" fmla="val 20000"/>
            </a:avLst>
          </a:prstGeom>
          <a:solidFill>
            <a:srgbClr val="111A3E"/>
          </a:solidFill>
          <a:ln w="25400">
            <a:solidFill>
              <a:srgbClr val="111A3E"/>
            </a:solidFill>
          </a:ln>
          <a:effectLst>
            <a:outerShdw blurRad="101600" dist="63500" dir="2700000" algn="bl" rotWithShape="0">
              <a:srgbClr val="070D26">
                <a:alpha val="100000"/>
              </a:srgbClr>
            </a:outerShdw>
          </a:effectLst>
        </p:spPr>
      </p:sp>
      <p:sp>
        <p:nvSpPr>
          <p:cNvPr id="102" name="Recap"/>
          <p:cNvSpPr txBox="1"/>
          <p:nvPr/>
        </p:nvSpPr>
        <p:spPr>
          <a:xfrm>
            <a:off x="777240" y="1143000"/>
            <a:ext cx="10698480" cy="4572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C53D"/>
                </a:solidFill>
              </a:rPr>
              <a:t>WHAT WE DID  </a:t>
            </a:r>
            <a:r>
              <a:rPr lang="en-US" sz="1300" dirty="0">
                <a:solidFill>
                  <a:schemeClr val="bg1"/>
                </a:solidFill>
              </a:rPr>
              <a:t>18 business requests answered end-to-end in SQL across 6 linked tables, FY2017 to FY2021</a:t>
            </a:r>
          </a:p>
        </p:txBody>
      </p:sp>
      <p:sp>
        <p:nvSpPr>
          <p:cNvPr id="103" name="Insight card"/>
          <p:cNvSpPr/>
          <p:nvPr/>
        </p:nvSpPr>
        <p:spPr>
          <a:xfrm>
            <a:off x="548640" y="1783080"/>
            <a:ext cx="2606040" cy="3383280"/>
          </a:xfrm>
          <a:prstGeom prst="roundRect">
            <a:avLst>
              <a:gd name="adj" fmla="val 4500"/>
            </a:avLst>
          </a:prstGeom>
          <a:solidFill>
            <a:schemeClr val="bg1"/>
          </a:solidFill>
          <a:ln w="25400">
            <a:solidFill>
              <a:srgbClr val="111A3E"/>
            </a:solidFill>
          </a:ln>
          <a:effectLst>
            <a:outerShdw blurRad="101600" dist="63500" dir="2700000" algn="bl" rotWithShape="0">
              <a:srgbClr val="070D26">
                <a:alpha val="100000"/>
              </a:srgbClr>
            </a:outerShdw>
          </a:effectLst>
        </p:spPr>
      </p:sp>
      <p:sp>
        <p:nvSpPr>
          <p:cNvPr id="104" name="Insight header"/>
          <p:cNvSpPr/>
          <p:nvPr/>
        </p:nvSpPr>
        <p:spPr>
          <a:xfrm>
            <a:off x="685800" y="1920240"/>
            <a:ext cx="2331720" cy="365760"/>
          </a:xfrm>
          <a:prstGeom prst="roundRect">
            <a:avLst>
              <a:gd name="adj" fmla="val 30000"/>
            </a:avLst>
          </a:prstGeom>
          <a:solidFill>
            <a:srgbClr val="FF5A5F"/>
          </a:solidFill>
          <a:ln w="19050">
            <a:solidFill>
              <a:srgbClr val="111A3E"/>
            </a:solidFill>
          </a:ln>
        </p:spPr>
      </p:sp>
      <p:sp>
        <p:nvSpPr>
          <p:cNvPr id="105" name="Insight theme"/>
          <p:cNvSpPr txBox="1"/>
          <p:nvPr/>
        </p:nvSpPr>
        <p:spPr>
          <a:xfrm>
            <a:off x="685800" y="1920240"/>
            <a:ext cx="2331720" cy="36576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bg1"/>
                </a:solidFill>
              </a:rPr>
              <a:t>PRODUCT AND RANGE</a:t>
            </a:r>
          </a:p>
        </p:txBody>
      </p:sp>
      <p:sp>
        <p:nvSpPr>
          <p:cNvPr id="106" name="Insight stat"/>
          <p:cNvSpPr txBox="1"/>
          <p:nvPr/>
        </p:nvSpPr>
        <p:spPr>
          <a:xfrm>
            <a:off x="731520" y="2423160"/>
            <a:ext cx="2240280" cy="82296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4400" b="1" dirty="0">
                <a:solidFill>
                  <a:schemeClr val="tx1"/>
                </a:solidFill>
              </a:rPr>
              <a:t>+36%</a:t>
            </a:r>
          </a:p>
        </p:txBody>
      </p:sp>
      <p:sp>
        <p:nvSpPr>
          <p:cNvPr id="107" name="Insight bullets"/>
          <p:cNvSpPr txBox="1"/>
          <p:nvPr/>
        </p:nvSpPr>
        <p:spPr>
          <a:xfrm>
            <a:off x="731520" y="3383280"/>
            <a:ext cx="2240280" cy="164592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177800" indent="-177800" algn="l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Range grew 245 to 334 products in a year</a:t>
            </a:r>
          </a:p>
          <a:p>
            <a:pPr marL="177800" indent="-177800" algn="l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83% of variety sits in 3 segments; Desktop grew 214%</a:t>
            </a:r>
          </a:p>
        </p:txBody>
      </p:sp>
      <p:sp>
        <p:nvSpPr>
          <p:cNvPr id="108" name="Insight card"/>
          <p:cNvSpPr/>
          <p:nvPr/>
        </p:nvSpPr>
        <p:spPr>
          <a:xfrm>
            <a:off x="3368040" y="1783080"/>
            <a:ext cx="2606040" cy="3383280"/>
          </a:xfrm>
          <a:prstGeom prst="roundRect">
            <a:avLst>
              <a:gd name="adj" fmla="val 4500"/>
            </a:avLst>
          </a:prstGeom>
          <a:solidFill>
            <a:schemeClr val="bg1"/>
          </a:solidFill>
          <a:ln w="25400">
            <a:solidFill>
              <a:srgbClr val="111A3E"/>
            </a:solidFill>
          </a:ln>
          <a:effectLst>
            <a:outerShdw blurRad="101600" dist="63500" dir="2700000" algn="bl" rotWithShape="0">
              <a:srgbClr val="070D26">
                <a:alpha val="100000"/>
              </a:srgbClr>
            </a:outerShdw>
          </a:effectLst>
        </p:spPr>
      </p:sp>
      <p:sp>
        <p:nvSpPr>
          <p:cNvPr id="109" name="Insight header"/>
          <p:cNvSpPr/>
          <p:nvPr/>
        </p:nvSpPr>
        <p:spPr>
          <a:xfrm>
            <a:off x="3505200" y="1920240"/>
            <a:ext cx="2331720" cy="365760"/>
          </a:xfrm>
          <a:prstGeom prst="roundRect">
            <a:avLst>
              <a:gd name="adj" fmla="val 30000"/>
            </a:avLst>
          </a:prstGeom>
          <a:solidFill>
            <a:srgbClr val="FFC53D"/>
          </a:solidFill>
          <a:ln w="19050">
            <a:solidFill>
              <a:srgbClr val="111A3E"/>
            </a:solidFill>
          </a:ln>
        </p:spPr>
      </p:sp>
      <p:sp>
        <p:nvSpPr>
          <p:cNvPr id="110" name="Insight theme"/>
          <p:cNvSpPr txBox="1"/>
          <p:nvPr/>
        </p:nvSpPr>
        <p:spPr>
          <a:xfrm>
            <a:off x="3505200" y="1920240"/>
            <a:ext cx="2331720" cy="36576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tx1"/>
                </a:solidFill>
              </a:rPr>
              <a:t>CHANNELS AND PRICING</a:t>
            </a:r>
          </a:p>
        </p:txBody>
      </p:sp>
      <p:sp>
        <p:nvSpPr>
          <p:cNvPr id="111" name="Insight stat"/>
          <p:cNvSpPr txBox="1"/>
          <p:nvPr/>
        </p:nvSpPr>
        <p:spPr>
          <a:xfrm>
            <a:off x="3550920" y="2423160"/>
            <a:ext cx="2240280" cy="82296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4400" b="1" dirty="0">
                <a:solidFill>
                  <a:schemeClr val="tx1"/>
                </a:solidFill>
              </a:rPr>
              <a:t>73%</a:t>
            </a:r>
          </a:p>
        </p:txBody>
      </p:sp>
      <p:sp>
        <p:nvSpPr>
          <p:cNvPr id="112" name="Insight bullets"/>
          <p:cNvSpPr txBox="1"/>
          <p:nvPr/>
        </p:nvSpPr>
        <p:spPr>
          <a:xfrm>
            <a:off x="3550920" y="3383280"/>
            <a:ext cx="2240280" cy="164592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177800" indent="-177800" algn="l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Retailers drive 73.22% of gross sales, 4.7x Direct</a:t>
            </a:r>
          </a:p>
          <a:p>
            <a:pPr marL="177800" indent="-177800" algn="l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Top-5 discounts sit in a tight 29-31% band</a:t>
            </a:r>
          </a:p>
        </p:txBody>
      </p:sp>
      <p:sp>
        <p:nvSpPr>
          <p:cNvPr id="113" name="Insight card"/>
          <p:cNvSpPr/>
          <p:nvPr/>
        </p:nvSpPr>
        <p:spPr>
          <a:xfrm>
            <a:off x="6187440" y="1783080"/>
            <a:ext cx="2606040" cy="3383280"/>
          </a:xfrm>
          <a:prstGeom prst="roundRect">
            <a:avLst>
              <a:gd name="adj" fmla="val 4500"/>
            </a:avLst>
          </a:prstGeom>
          <a:solidFill>
            <a:schemeClr val="bg1"/>
          </a:solidFill>
          <a:ln w="25400">
            <a:solidFill>
              <a:srgbClr val="111A3E"/>
            </a:solidFill>
          </a:ln>
          <a:effectLst>
            <a:outerShdw blurRad="101600" dist="63500" dir="2700000" algn="bl" rotWithShape="0">
              <a:srgbClr val="070D26">
                <a:alpha val="100000"/>
              </a:srgbClr>
            </a:outerShdw>
          </a:effectLst>
        </p:spPr>
      </p:sp>
      <p:sp>
        <p:nvSpPr>
          <p:cNvPr id="114" name="Insight header"/>
          <p:cNvSpPr/>
          <p:nvPr/>
        </p:nvSpPr>
        <p:spPr>
          <a:xfrm>
            <a:off x="6324600" y="1920240"/>
            <a:ext cx="2331720" cy="365760"/>
          </a:xfrm>
          <a:prstGeom prst="roundRect">
            <a:avLst>
              <a:gd name="adj" fmla="val 30000"/>
            </a:avLst>
          </a:prstGeom>
          <a:solidFill>
            <a:srgbClr val="22C3B0"/>
          </a:solidFill>
          <a:ln w="19050">
            <a:solidFill>
              <a:srgbClr val="111A3E"/>
            </a:solidFill>
          </a:ln>
        </p:spPr>
      </p:sp>
      <p:sp>
        <p:nvSpPr>
          <p:cNvPr id="115" name="Insight theme"/>
          <p:cNvSpPr txBox="1"/>
          <p:nvPr/>
        </p:nvSpPr>
        <p:spPr>
          <a:xfrm>
            <a:off x="6324600" y="1920240"/>
            <a:ext cx="2331720" cy="36576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tx1"/>
                </a:solidFill>
              </a:rPr>
              <a:t>CUSTOMERS AND MARKETS</a:t>
            </a:r>
          </a:p>
        </p:txBody>
      </p:sp>
      <p:sp>
        <p:nvSpPr>
          <p:cNvPr id="116" name="Insight stat"/>
          <p:cNvSpPr txBox="1"/>
          <p:nvPr/>
        </p:nvSpPr>
        <p:spPr>
          <a:xfrm>
            <a:off x="6370320" y="2423160"/>
            <a:ext cx="2240280" cy="82296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4400" b="1" dirty="0">
                <a:solidFill>
                  <a:schemeClr val="tx1"/>
                </a:solidFill>
              </a:rPr>
              <a:t>47%</a:t>
            </a:r>
          </a:p>
        </p:txBody>
      </p:sp>
      <p:sp>
        <p:nvSpPr>
          <p:cNvPr id="117" name="Insight bullets"/>
          <p:cNvSpPr txBox="1"/>
          <p:nvPr/>
        </p:nvSpPr>
        <p:spPr>
          <a:xfrm>
            <a:off x="6370320" y="3383280"/>
            <a:ext cx="2240280" cy="164592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177800" indent="-177800" algn="l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India is 47% of top-four net sales (210.67M)</a:t>
            </a:r>
          </a:p>
          <a:p>
            <a:pPr marL="177800" indent="-177800" algn="l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Croma grew 110x; AtliQ stores beat Amazon by 38%</a:t>
            </a:r>
          </a:p>
        </p:txBody>
      </p:sp>
      <p:sp>
        <p:nvSpPr>
          <p:cNvPr id="118" name="Insight card"/>
          <p:cNvSpPr/>
          <p:nvPr/>
        </p:nvSpPr>
        <p:spPr>
          <a:xfrm>
            <a:off x="9006840" y="1783080"/>
            <a:ext cx="2606040" cy="3383280"/>
          </a:xfrm>
          <a:prstGeom prst="roundRect">
            <a:avLst>
              <a:gd name="adj" fmla="val 4500"/>
            </a:avLst>
          </a:prstGeom>
          <a:solidFill>
            <a:schemeClr val="bg1"/>
          </a:solidFill>
          <a:ln w="25400">
            <a:solidFill>
              <a:srgbClr val="111A3E"/>
            </a:solidFill>
          </a:ln>
          <a:effectLst>
            <a:outerShdw blurRad="101600" dist="63500" dir="2700000" algn="bl" rotWithShape="0">
              <a:srgbClr val="070D26">
                <a:alpha val="100000"/>
              </a:srgbClr>
            </a:outerShdw>
          </a:effectLst>
        </p:spPr>
      </p:sp>
      <p:sp>
        <p:nvSpPr>
          <p:cNvPr id="119" name="Insight header"/>
          <p:cNvSpPr/>
          <p:nvPr/>
        </p:nvSpPr>
        <p:spPr>
          <a:xfrm>
            <a:off x="9144000" y="1920240"/>
            <a:ext cx="2331720" cy="365760"/>
          </a:xfrm>
          <a:prstGeom prst="roundRect">
            <a:avLst>
              <a:gd name="adj" fmla="val 30000"/>
            </a:avLst>
          </a:prstGeom>
          <a:solidFill>
            <a:srgbClr val="7B61FF"/>
          </a:solidFill>
          <a:ln w="19050">
            <a:solidFill>
              <a:srgbClr val="111A3E"/>
            </a:solidFill>
          </a:ln>
        </p:spPr>
      </p:sp>
      <p:sp>
        <p:nvSpPr>
          <p:cNvPr id="120" name="Insight theme"/>
          <p:cNvSpPr txBox="1"/>
          <p:nvPr/>
        </p:nvSpPr>
        <p:spPr>
          <a:xfrm>
            <a:off x="9144000" y="1920240"/>
            <a:ext cx="2331720" cy="36576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bg1"/>
                </a:solidFill>
              </a:rPr>
              <a:t>SUPPLY CHAIN AND RISK</a:t>
            </a:r>
          </a:p>
        </p:txBody>
      </p:sp>
      <p:sp>
        <p:nvSpPr>
          <p:cNvPr id="121" name="Insight stat"/>
          <p:cNvSpPr txBox="1"/>
          <p:nvPr/>
        </p:nvSpPr>
        <p:spPr>
          <a:xfrm>
            <a:off x="9189720" y="2423160"/>
            <a:ext cx="2240280" cy="82296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4400" b="1" dirty="0">
                <a:solidFill>
                  <a:schemeClr val="tx1"/>
                </a:solidFill>
              </a:rPr>
              <a:t>0%</a:t>
            </a:r>
          </a:p>
        </p:txBody>
      </p:sp>
      <p:sp>
        <p:nvSpPr>
          <p:cNvPr id="122" name="Insight bullets"/>
          <p:cNvSpPr txBox="1"/>
          <p:nvPr/>
        </p:nvSpPr>
        <p:spPr>
          <a:xfrm>
            <a:off x="9189720" y="3383280"/>
            <a:ext cx="2240280" cy="164592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177800" indent="-177800" algn="l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Netherlands forecast accuracy fell from 35-39% to 0%</a:t>
            </a:r>
          </a:p>
          <a:p>
            <a:pPr marL="177800" indent="-177800" algn="l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Q3 FY2020 volume fell 69%, then rebounded 142%</a:t>
            </a:r>
          </a:p>
        </p:txBody>
      </p:sp>
      <p:sp>
        <p:nvSpPr>
          <p:cNvPr id="123" name="Footnote"/>
          <p:cNvSpPr txBox="1"/>
          <p:nvPr/>
        </p:nvSpPr>
        <p:spPr>
          <a:xfrm>
            <a:off x="548640" y="5394960"/>
            <a:ext cx="11064240" cy="4114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5A5F"/>
                </a:solidFill>
              </a:rPr>
              <a:t>So what: </a:t>
            </a:r>
            <a:r>
              <a:rPr lang="en-US" sz="1400" dirty="0">
                <a:solidFill>
                  <a:schemeClr val="tx1"/>
                </a:solidFill>
              </a:rPr>
              <a:t>growth is real but concentrated in one channel, two markets and a handful of hero products.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2B3A7A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27432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1"/>
                </a:solidFill>
              </a:rPr>
              <a:t>How to improve the business</a:t>
            </a:r>
            <a:endParaRPr lang="en-US" sz="3000" dirty="0"/>
          </a:p>
        </p:txBody>
      </p:sp>
      <p:sp>
        <p:nvSpPr>
          <p:cNvPr id="3" name="Mascot ring"/>
          <p:cNvSpPr/>
          <p:nvPr/>
        </p:nvSpPr>
        <p:spPr>
          <a:xfrm>
            <a:off x="10835640" y="228600"/>
            <a:ext cx="914400" cy="9144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  <a:prstDash val="solid"/>
          </a:ln>
          <a:effectLst>
            <a:outerShdw blurRad="101600" dist="63500" dir="2700000" algn="bl" rotWithShape="0">
              <a:srgbClr val="111A3E">
                <a:alpha val="100000"/>
              </a:srgbClr>
            </a:outerShdw>
          </a:effectLst>
        </p:spPr>
      </p:sp>
      <p:pic>
        <p:nvPicPr>
          <p:cNvPr id="4" name="Image 0" descr="Cartoon masco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45368" y="338328"/>
            <a:ext cx="694944" cy="694944"/>
          </a:xfrm>
          <a:prstGeom prst="rect">
            <a:avLst/>
          </a:prstGeom>
        </p:spPr>
      </p:pic>
      <p:sp>
        <p:nvSpPr>
          <p:cNvPr id="124" name="Table header"/>
          <p:cNvSpPr/>
          <p:nvPr/>
        </p:nvSpPr>
        <p:spPr>
          <a:xfrm>
            <a:off x="548640" y="1234440"/>
            <a:ext cx="11064240" cy="411480"/>
          </a:xfrm>
          <a:prstGeom prst="roundRect">
            <a:avLst>
              <a:gd name="adj" fmla="val 20000"/>
            </a:avLst>
          </a:prstGeom>
          <a:solidFill>
            <a:srgbClr val="111A3E"/>
          </a:solidFill>
          <a:ln w="25400">
            <a:solidFill>
              <a:srgbClr val="111A3E"/>
            </a:solidFill>
          </a:ln>
          <a:effectLst>
            <a:outerShdw blurRad="101600" dist="63500" dir="2700000" algn="bl" rotWithShape="0">
              <a:srgbClr val="070D26">
                <a:alpha val="100000"/>
              </a:srgbClr>
            </a:outerShdw>
          </a:effectLst>
        </p:spPr>
      </p:sp>
      <p:sp>
        <p:nvSpPr>
          <p:cNvPr id="125" name="Header"/>
          <p:cNvSpPr txBox="1"/>
          <p:nvPr/>
        </p:nvSpPr>
        <p:spPr>
          <a:xfrm>
            <a:off x="1234440" y="1234440"/>
            <a:ext cx="2057400" cy="4114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C53D"/>
                </a:solidFill>
              </a:rPr>
              <a:t>LEVER</a:t>
            </a:r>
          </a:p>
        </p:txBody>
      </p:sp>
      <p:sp>
        <p:nvSpPr>
          <p:cNvPr id="126" name="Header"/>
          <p:cNvSpPr txBox="1"/>
          <p:nvPr/>
        </p:nvSpPr>
        <p:spPr>
          <a:xfrm>
            <a:off x="3291840" y="1234440"/>
            <a:ext cx="5166360" cy="4114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C53D"/>
                </a:solidFill>
              </a:rPr>
              <a:t>WHAT TO DO</a:t>
            </a:r>
          </a:p>
        </p:txBody>
      </p:sp>
      <p:sp>
        <p:nvSpPr>
          <p:cNvPr id="127" name="Header"/>
          <p:cNvSpPr txBox="1"/>
          <p:nvPr/>
        </p:nvSpPr>
        <p:spPr>
          <a:xfrm>
            <a:off x="8869680" y="1234440"/>
            <a:ext cx="2697480" cy="4114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C53D"/>
                </a:solidFill>
              </a:rPr>
              <a:t>PROPOSED KPI</a:t>
            </a:r>
          </a:p>
        </p:txBody>
      </p:sp>
      <p:sp>
        <p:nvSpPr>
          <p:cNvPr id="128" name="Row card"/>
          <p:cNvSpPr/>
          <p:nvPr/>
        </p:nvSpPr>
        <p:spPr>
          <a:xfrm>
            <a:off x="548640" y="1783080"/>
            <a:ext cx="11064240" cy="777240"/>
          </a:xfrm>
          <a:prstGeom prst="roundRect">
            <a:avLst>
              <a:gd name="adj" fmla="val 9000"/>
            </a:avLst>
          </a:prstGeom>
          <a:solidFill>
            <a:schemeClr val="bg1"/>
          </a:solidFill>
          <a:ln w="25400">
            <a:solidFill>
              <a:srgbClr val="111A3E"/>
            </a:solidFill>
          </a:ln>
          <a:effectLst>
            <a:outerShdw blurRad="101600" dist="63500" dir="2700000" algn="bl" rotWithShape="0">
              <a:srgbClr val="070D26">
                <a:alpha val="100000"/>
              </a:srgbClr>
            </a:outerShdw>
          </a:effectLst>
        </p:spPr>
      </p:sp>
      <p:sp>
        <p:nvSpPr>
          <p:cNvPr id="129" name="Badge"/>
          <p:cNvSpPr/>
          <p:nvPr/>
        </p:nvSpPr>
        <p:spPr>
          <a:xfrm>
            <a:off x="685800" y="1965960"/>
            <a:ext cx="411480" cy="411480"/>
          </a:xfrm>
          <a:prstGeom prst="ellipse">
            <a:avLst/>
          </a:prstGeom>
          <a:solidFill>
            <a:srgbClr val="FF5A5F"/>
          </a:solidFill>
          <a:ln w="19050">
            <a:solidFill>
              <a:srgbClr val="111A3E"/>
            </a:solidFill>
          </a:ln>
        </p:spPr>
      </p:sp>
      <p:sp>
        <p:nvSpPr>
          <p:cNvPr id="130" name="Badge text"/>
          <p:cNvSpPr txBox="1"/>
          <p:nvPr/>
        </p:nvSpPr>
        <p:spPr>
          <a:xfrm>
            <a:off x="685800" y="1965960"/>
            <a:ext cx="411480" cy="4114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</a:p>
        </p:txBody>
      </p:sp>
      <p:sp>
        <p:nvSpPr>
          <p:cNvPr id="131" name="Lever"/>
          <p:cNvSpPr txBox="1"/>
          <p:nvPr/>
        </p:nvSpPr>
        <p:spPr>
          <a:xfrm>
            <a:off x="1234440" y="1783080"/>
            <a:ext cx="1920240" cy="77724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chemeClr val="tx1"/>
                </a:solidFill>
              </a:rPr>
              <a:t>Cut channel risk</a:t>
            </a:r>
          </a:p>
        </p:txBody>
      </p:sp>
      <p:sp>
        <p:nvSpPr>
          <p:cNvPr id="132" name="Action"/>
          <p:cNvSpPr txBox="1"/>
          <p:nvPr/>
        </p:nvSpPr>
        <p:spPr>
          <a:xfrm>
            <a:off x="3291840" y="1783080"/>
            <a:ext cx="5303520" cy="77724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chemeClr val="tx1"/>
                </a:solidFill>
              </a:rPr>
              <a:t>Grow Direct and Distributor beyond today’s 26.8%; lean on AtliQ’s own stores</a:t>
            </a:r>
          </a:p>
        </p:txBody>
      </p:sp>
      <p:sp>
        <p:nvSpPr>
          <p:cNvPr id="133" name="KPI pill"/>
          <p:cNvSpPr/>
          <p:nvPr/>
        </p:nvSpPr>
        <p:spPr>
          <a:xfrm>
            <a:off x="8778240" y="1943100"/>
            <a:ext cx="2743200" cy="457200"/>
          </a:xfrm>
          <a:prstGeom prst="roundRect">
            <a:avLst>
              <a:gd name="adj" fmla="val 20000"/>
            </a:avLst>
          </a:prstGeom>
          <a:solidFill>
            <a:srgbClr val="FFF3CC"/>
          </a:solidFill>
          <a:ln w="12700">
            <a:solidFill>
              <a:srgbClr val="111A3E"/>
            </a:solidFill>
          </a:ln>
        </p:spPr>
      </p:sp>
      <p:sp>
        <p:nvSpPr>
          <p:cNvPr id="134" name="KPI"/>
          <p:cNvSpPr txBox="1"/>
          <p:nvPr/>
        </p:nvSpPr>
        <p:spPr>
          <a:xfrm>
            <a:off x="8869680" y="1943100"/>
            <a:ext cx="2560320" cy="4572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i="1" dirty="0">
                <a:solidFill>
                  <a:schemeClr val="tx1"/>
                </a:solidFill>
              </a:rPr>
              <a:t>Retailer share below 65%</a:t>
            </a:r>
          </a:p>
        </p:txBody>
      </p:sp>
      <p:sp>
        <p:nvSpPr>
          <p:cNvPr id="135" name="Row card"/>
          <p:cNvSpPr/>
          <p:nvPr/>
        </p:nvSpPr>
        <p:spPr>
          <a:xfrm>
            <a:off x="548640" y="2651760"/>
            <a:ext cx="11064240" cy="777240"/>
          </a:xfrm>
          <a:prstGeom prst="roundRect">
            <a:avLst>
              <a:gd name="adj" fmla="val 9000"/>
            </a:avLst>
          </a:prstGeom>
          <a:solidFill>
            <a:schemeClr val="bg1"/>
          </a:solidFill>
          <a:ln w="25400">
            <a:solidFill>
              <a:srgbClr val="111A3E"/>
            </a:solidFill>
          </a:ln>
          <a:effectLst>
            <a:outerShdw blurRad="101600" dist="63500" dir="2700000" algn="bl" rotWithShape="0">
              <a:srgbClr val="070D26">
                <a:alpha val="100000"/>
              </a:srgbClr>
            </a:outerShdw>
          </a:effectLst>
        </p:spPr>
      </p:sp>
      <p:sp>
        <p:nvSpPr>
          <p:cNvPr id="136" name="Badge"/>
          <p:cNvSpPr/>
          <p:nvPr/>
        </p:nvSpPr>
        <p:spPr>
          <a:xfrm>
            <a:off x="685800" y="2834640"/>
            <a:ext cx="411480" cy="411480"/>
          </a:xfrm>
          <a:prstGeom prst="ellipse">
            <a:avLst/>
          </a:prstGeom>
          <a:solidFill>
            <a:srgbClr val="FFC53D"/>
          </a:solidFill>
          <a:ln w="19050">
            <a:solidFill>
              <a:srgbClr val="111A3E"/>
            </a:solidFill>
          </a:ln>
        </p:spPr>
      </p:sp>
      <p:sp>
        <p:nvSpPr>
          <p:cNvPr id="137" name="Badge text"/>
          <p:cNvSpPr txBox="1"/>
          <p:nvPr/>
        </p:nvSpPr>
        <p:spPr>
          <a:xfrm>
            <a:off x="685800" y="2834640"/>
            <a:ext cx="411480" cy="4114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138" name="Lever"/>
          <p:cNvSpPr txBox="1"/>
          <p:nvPr/>
        </p:nvSpPr>
        <p:spPr>
          <a:xfrm>
            <a:off x="1234440" y="2651760"/>
            <a:ext cx="1920240" cy="77724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chemeClr val="tx1"/>
                </a:solidFill>
              </a:rPr>
              <a:t>Widen thin segments</a:t>
            </a:r>
          </a:p>
        </p:txBody>
      </p:sp>
      <p:sp>
        <p:nvSpPr>
          <p:cNvPr id="139" name="Action"/>
          <p:cNvSpPr txBox="1"/>
          <p:nvPr/>
        </p:nvSpPr>
        <p:spPr>
          <a:xfrm>
            <a:off x="3291840" y="2651760"/>
            <a:ext cx="5303520" cy="77724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chemeClr val="tx1"/>
                </a:solidFill>
              </a:rPr>
              <a:t>Back Desktop, Storage and Networking with launches matched to demand</a:t>
            </a:r>
          </a:p>
        </p:txBody>
      </p:sp>
      <p:sp>
        <p:nvSpPr>
          <p:cNvPr id="140" name="KPI pill"/>
          <p:cNvSpPr/>
          <p:nvPr/>
        </p:nvSpPr>
        <p:spPr>
          <a:xfrm>
            <a:off x="8778240" y="2811780"/>
            <a:ext cx="2743200" cy="457200"/>
          </a:xfrm>
          <a:prstGeom prst="roundRect">
            <a:avLst>
              <a:gd name="adj" fmla="val 20000"/>
            </a:avLst>
          </a:prstGeom>
          <a:solidFill>
            <a:srgbClr val="FFF3CC"/>
          </a:solidFill>
          <a:ln w="12700">
            <a:solidFill>
              <a:srgbClr val="111A3E"/>
            </a:solidFill>
          </a:ln>
        </p:spPr>
      </p:sp>
      <p:sp>
        <p:nvSpPr>
          <p:cNvPr id="141" name="KPI"/>
          <p:cNvSpPr txBox="1"/>
          <p:nvPr/>
        </p:nvSpPr>
        <p:spPr>
          <a:xfrm>
            <a:off x="8869680" y="2811780"/>
            <a:ext cx="2560320" cy="4572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i="1" dirty="0">
                <a:solidFill>
                  <a:schemeClr val="tx1"/>
                </a:solidFill>
              </a:rPr>
              <a:t>Segments at 17% of range to 25%</a:t>
            </a:r>
          </a:p>
        </p:txBody>
      </p:sp>
      <p:sp>
        <p:nvSpPr>
          <p:cNvPr id="142" name="Row card"/>
          <p:cNvSpPr/>
          <p:nvPr/>
        </p:nvSpPr>
        <p:spPr>
          <a:xfrm>
            <a:off x="548640" y="3520440"/>
            <a:ext cx="11064240" cy="777240"/>
          </a:xfrm>
          <a:prstGeom prst="roundRect">
            <a:avLst>
              <a:gd name="adj" fmla="val 9000"/>
            </a:avLst>
          </a:prstGeom>
          <a:solidFill>
            <a:schemeClr val="bg1"/>
          </a:solidFill>
          <a:ln w="25400">
            <a:solidFill>
              <a:srgbClr val="111A3E"/>
            </a:solidFill>
          </a:ln>
          <a:effectLst>
            <a:outerShdw blurRad="101600" dist="63500" dir="2700000" algn="bl" rotWithShape="0">
              <a:srgbClr val="070D26">
                <a:alpha val="100000"/>
              </a:srgbClr>
            </a:outerShdw>
          </a:effectLst>
        </p:spPr>
      </p:sp>
      <p:sp>
        <p:nvSpPr>
          <p:cNvPr id="143" name="Badge"/>
          <p:cNvSpPr/>
          <p:nvPr/>
        </p:nvSpPr>
        <p:spPr>
          <a:xfrm>
            <a:off x="685800" y="3703320"/>
            <a:ext cx="411480" cy="411480"/>
          </a:xfrm>
          <a:prstGeom prst="ellipse">
            <a:avLst/>
          </a:prstGeom>
          <a:solidFill>
            <a:srgbClr val="22C3B0"/>
          </a:solidFill>
          <a:ln w="19050">
            <a:solidFill>
              <a:srgbClr val="111A3E"/>
            </a:solidFill>
          </a:ln>
        </p:spPr>
      </p:sp>
      <p:sp>
        <p:nvSpPr>
          <p:cNvPr id="144" name="Badge text"/>
          <p:cNvSpPr txBox="1"/>
          <p:nvPr/>
        </p:nvSpPr>
        <p:spPr>
          <a:xfrm>
            <a:off x="685800" y="3703320"/>
            <a:ext cx="411480" cy="4114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145" name="Lever"/>
          <p:cNvSpPr txBox="1"/>
          <p:nvPr/>
        </p:nvSpPr>
        <p:spPr>
          <a:xfrm>
            <a:off x="1234440" y="3520440"/>
            <a:ext cx="1920240" cy="77724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chemeClr val="tx1"/>
                </a:solidFill>
              </a:rPr>
              <a:t>Fix forecasting</a:t>
            </a:r>
          </a:p>
        </p:txBody>
      </p:sp>
      <p:sp>
        <p:nvSpPr>
          <p:cNvPr id="146" name="Action"/>
          <p:cNvSpPr txBox="1"/>
          <p:nvPr/>
        </p:nvSpPr>
        <p:spPr>
          <a:xfrm>
            <a:off x="3291840" y="3520440"/>
            <a:ext cx="5303520" cy="77724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chemeClr val="tx1"/>
                </a:solidFill>
              </a:rPr>
              <a:t>Audit the Netherlands data break first, then Sweden, Philippines, South Korea</a:t>
            </a:r>
          </a:p>
        </p:txBody>
      </p:sp>
      <p:sp>
        <p:nvSpPr>
          <p:cNvPr id="147" name="KPI pill"/>
          <p:cNvSpPr/>
          <p:nvPr/>
        </p:nvSpPr>
        <p:spPr>
          <a:xfrm>
            <a:off x="8778240" y="3680460"/>
            <a:ext cx="2743200" cy="457200"/>
          </a:xfrm>
          <a:prstGeom prst="roundRect">
            <a:avLst>
              <a:gd name="adj" fmla="val 20000"/>
            </a:avLst>
          </a:prstGeom>
          <a:solidFill>
            <a:srgbClr val="FFF3CC"/>
          </a:solidFill>
          <a:ln w="12700">
            <a:solidFill>
              <a:srgbClr val="111A3E"/>
            </a:solidFill>
          </a:ln>
        </p:spPr>
      </p:sp>
      <p:sp>
        <p:nvSpPr>
          <p:cNvPr id="148" name="KPI"/>
          <p:cNvSpPr txBox="1"/>
          <p:nvPr/>
        </p:nvSpPr>
        <p:spPr>
          <a:xfrm>
            <a:off x="8869680" y="3680460"/>
            <a:ext cx="2560320" cy="4572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i="1" dirty="0">
                <a:solidFill>
                  <a:schemeClr val="tx1"/>
                </a:solidFill>
              </a:rPr>
              <a:t>Accuracy back above FY2020 levels</a:t>
            </a:r>
          </a:p>
        </p:txBody>
      </p:sp>
      <p:sp>
        <p:nvSpPr>
          <p:cNvPr id="149" name="Row card"/>
          <p:cNvSpPr/>
          <p:nvPr/>
        </p:nvSpPr>
        <p:spPr>
          <a:xfrm>
            <a:off x="548640" y="4389120"/>
            <a:ext cx="11064240" cy="777240"/>
          </a:xfrm>
          <a:prstGeom prst="roundRect">
            <a:avLst>
              <a:gd name="adj" fmla="val 9000"/>
            </a:avLst>
          </a:prstGeom>
          <a:solidFill>
            <a:schemeClr val="bg1"/>
          </a:solidFill>
          <a:ln w="25400">
            <a:solidFill>
              <a:srgbClr val="111A3E"/>
            </a:solidFill>
          </a:ln>
          <a:effectLst>
            <a:outerShdw blurRad="101600" dist="63500" dir="2700000" algn="bl" rotWithShape="0">
              <a:srgbClr val="070D26">
                <a:alpha val="100000"/>
              </a:srgbClr>
            </a:outerShdw>
          </a:effectLst>
        </p:spPr>
      </p:sp>
      <p:sp>
        <p:nvSpPr>
          <p:cNvPr id="150" name="Badge"/>
          <p:cNvSpPr/>
          <p:nvPr/>
        </p:nvSpPr>
        <p:spPr>
          <a:xfrm>
            <a:off x="685800" y="4572000"/>
            <a:ext cx="411480" cy="411480"/>
          </a:xfrm>
          <a:prstGeom prst="ellipse">
            <a:avLst/>
          </a:prstGeom>
          <a:solidFill>
            <a:srgbClr val="7B61FF"/>
          </a:solidFill>
          <a:ln w="19050">
            <a:solidFill>
              <a:srgbClr val="111A3E"/>
            </a:solidFill>
          </a:ln>
        </p:spPr>
      </p:sp>
      <p:sp>
        <p:nvSpPr>
          <p:cNvPr id="151" name="Badge text"/>
          <p:cNvSpPr txBox="1"/>
          <p:nvPr/>
        </p:nvSpPr>
        <p:spPr>
          <a:xfrm>
            <a:off x="685800" y="4572000"/>
            <a:ext cx="411480" cy="4114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</a:p>
        </p:txBody>
      </p:sp>
      <p:sp>
        <p:nvSpPr>
          <p:cNvPr id="152" name="Lever"/>
          <p:cNvSpPr txBox="1"/>
          <p:nvPr/>
        </p:nvSpPr>
        <p:spPr>
          <a:xfrm>
            <a:off x="1234440" y="4389120"/>
            <a:ext cx="1920240" cy="77724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chemeClr val="tx1"/>
                </a:solidFill>
              </a:rPr>
              <a:t>Grow key accounts</a:t>
            </a:r>
          </a:p>
        </p:txBody>
      </p:sp>
      <p:sp>
        <p:nvSpPr>
          <p:cNvPr id="153" name="Action"/>
          <p:cNvSpPr txBox="1"/>
          <p:nvPr/>
        </p:nvSpPr>
        <p:spPr>
          <a:xfrm>
            <a:off x="3291840" y="4389120"/>
            <a:ext cx="5303520" cy="77724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chemeClr val="tx1"/>
                </a:solidFill>
              </a:rPr>
              <a:t>Joint plans with Amazon, Flipkart, Croma; promotions over deeper discounts</a:t>
            </a:r>
          </a:p>
        </p:txBody>
      </p:sp>
      <p:sp>
        <p:nvSpPr>
          <p:cNvPr id="154" name="KPI pill"/>
          <p:cNvSpPr/>
          <p:nvPr/>
        </p:nvSpPr>
        <p:spPr>
          <a:xfrm>
            <a:off x="8778240" y="4549140"/>
            <a:ext cx="2743200" cy="457200"/>
          </a:xfrm>
          <a:prstGeom prst="roundRect">
            <a:avLst>
              <a:gd name="adj" fmla="val 20000"/>
            </a:avLst>
          </a:prstGeom>
          <a:solidFill>
            <a:srgbClr val="FFF3CC"/>
          </a:solidFill>
          <a:ln w="12700">
            <a:solidFill>
              <a:srgbClr val="111A3E"/>
            </a:solidFill>
          </a:ln>
        </p:spPr>
      </p:sp>
      <p:sp>
        <p:nvSpPr>
          <p:cNvPr id="155" name="KPI"/>
          <p:cNvSpPr txBox="1"/>
          <p:nvPr/>
        </p:nvSpPr>
        <p:spPr>
          <a:xfrm>
            <a:off x="8869680" y="4549140"/>
            <a:ext cx="2560320" cy="4572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i="1" dirty="0">
                <a:solidFill>
                  <a:schemeClr val="tx1"/>
                </a:solidFill>
              </a:rPr>
              <a:t>Net sales per top-5 account</a:t>
            </a:r>
          </a:p>
        </p:txBody>
      </p:sp>
      <p:sp>
        <p:nvSpPr>
          <p:cNvPr id="156" name="Row card"/>
          <p:cNvSpPr/>
          <p:nvPr/>
        </p:nvSpPr>
        <p:spPr>
          <a:xfrm>
            <a:off x="548640" y="5257800"/>
            <a:ext cx="11064240" cy="777240"/>
          </a:xfrm>
          <a:prstGeom prst="roundRect">
            <a:avLst>
              <a:gd name="adj" fmla="val 9000"/>
            </a:avLst>
          </a:prstGeom>
          <a:solidFill>
            <a:schemeClr val="bg1"/>
          </a:solidFill>
          <a:ln w="25400">
            <a:solidFill>
              <a:srgbClr val="111A3E"/>
            </a:solidFill>
          </a:ln>
          <a:effectLst>
            <a:outerShdw blurRad="101600" dist="63500" dir="2700000" algn="bl" rotWithShape="0">
              <a:srgbClr val="070D26">
                <a:alpha val="100000"/>
              </a:srgbClr>
            </a:outerShdw>
          </a:effectLst>
        </p:spPr>
      </p:sp>
      <p:sp>
        <p:nvSpPr>
          <p:cNvPr id="157" name="Badge"/>
          <p:cNvSpPr/>
          <p:nvPr/>
        </p:nvSpPr>
        <p:spPr>
          <a:xfrm>
            <a:off x="685800" y="5440680"/>
            <a:ext cx="411480" cy="411480"/>
          </a:xfrm>
          <a:prstGeom prst="ellipse">
            <a:avLst/>
          </a:prstGeom>
          <a:solidFill>
            <a:srgbClr val="3D8BFF"/>
          </a:solidFill>
          <a:ln w="19050">
            <a:solidFill>
              <a:srgbClr val="111A3E"/>
            </a:solidFill>
          </a:ln>
        </p:spPr>
      </p:sp>
      <p:sp>
        <p:nvSpPr>
          <p:cNvPr id="158" name="Badge text"/>
          <p:cNvSpPr txBox="1"/>
          <p:nvPr/>
        </p:nvSpPr>
        <p:spPr>
          <a:xfrm>
            <a:off x="685800" y="5440680"/>
            <a:ext cx="411480" cy="4114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5</a:t>
            </a:r>
          </a:p>
        </p:txBody>
      </p:sp>
      <p:sp>
        <p:nvSpPr>
          <p:cNvPr id="159" name="Lever"/>
          <p:cNvSpPr txBox="1"/>
          <p:nvPr/>
        </p:nvSpPr>
        <p:spPr>
          <a:xfrm>
            <a:off x="1234440" y="5257800"/>
            <a:ext cx="1920240" cy="77724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chemeClr val="tx1"/>
                </a:solidFill>
              </a:rPr>
              <a:t>Be shock-ready</a:t>
            </a:r>
          </a:p>
        </p:txBody>
      </p:sp>
      <p:sp>
        <p:nvSpPr>
          <p:cNvPr id="160" name="Action"/>
          <p:cNvSpPr txBox="1"/>
          <p:nvPr/>
        </p:nvSpPr>
        <p:spPr>
          <a:xfrm>
            <a:off x="3291840" y="5257800"/>
            <a:ext cx="5303520" cy="77724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chemeClr val="tx1"/>
                </a:solidFill>
              </a:rPr>
              <a:t>Stock and cash buffers for demand dips and the November peak</a:t>
            </a:r>
          </a:p>
        </p:txBody>
      </p:sp>
      <p:sp>
        <p:nvSpPr>
          <p:cNvPr id="161" name="KPI pill"/>
          <p:cNvSpPr/>
          <p:nvPr/>
        </p:nvSpPr>
        <p:spPr>
          <a:xfrm>
            <a:off x="8778240" y="5417820"/>
            <a:ext cx="2743200" cy="457200"/>
          </a:xfrm>
          <a:prstGeom prst="roundRect">
            <a:avLst>
              <a:gd name="adj" fmla="val 20000"/>
            </a:avLst>
          </a:prstGeom>
          <a:solidFill>
            <a:srgbClr val="FFF3CC"/>
          </a:solidFill>
          <a:ln w="12700">
            <a:solidFill>
              <a:srgbClr val="111A3E"/>
            </a:solidFill>
          </a:ln>
        </p:spPr>
      </p:sp>
      <p:sp>
        <p:nvSpPr>
          <p:cNvPr id="162" name="KPI"/>
          <p:cNvSpPr txBox="1"/>
          <p:nvPr/>
        </p:nvSpPr>
        <p:spPr>
          <a:xfrm>
            <a:off x="8869680" y="5417820"/>
            <a:ext cx="2560320" cy="4572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i="1" dirty="0">
                <a:solidFill>
                  <a:schemeClr val="tx1"/>
                </a:solidFill>
              </a:rPr>
              <a:t>Q-to-Q volume swing below 40%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2B3A7A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29</a:t>
            </a:fld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27432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bg1"/>
                </a:solidFill>
              </a:rPr>
              <a:t>Next steps: the 90-day plan</a:t>
            </a:r>
            <a:endParaRPr lang="en-US" sz="3000" dirty="0"/>
          </a:p>
        </p:txBody>
      </p:sp>
      <p:sp>
        <p:nvSpPr>
          <p:cNvPr id="3" name="Mascot ring"/>
          <p:cNvSpPr/>
          <p:nvPr/>
        </p:nvSpPr>
        <p:spPr>
          <a:xfrm>
            <a:off x="10835640" y="228600"/>
            <a:ext cx="914400" cy="9144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  <a:prstDash val="solid"/>
          </a:ln>
          <a:effectLst>
            <a:outerShdw blurRad="101600" dist="63500" dir="2700000" algn="bl" rotWithShape="0">
              <a:srgbClr val="111A3E">
                <a:alpha val="100000"/>
              </a:srgbClr>
            </a:outerShdw>
          </a:effectLst>
        </p:spPr>
      </p:sp>
      <p:pic>
        <p:nvPicPr>
          <p:cNvPr id="4" name="Image 0" descr="Cartoon masco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45368" y="338328"/>
            <a:ext cx="694944" cy="694944"/>
          </a:xfrm>
          <a:prstGeom prst="rect">
            <a:avLst/>
          </a:prstGeom>
        </p:spPr>
      </p:pic>
      <p:sp>
        <p:nvSpPr>
          <p:cNvPr id="163" name="Phase card"/>
          <p:cNvSpPr/>
          <p:nvPr/>
        </p:nvSpPr>
        <p:spPr>
          <a:xfrm>
            <a:off x="548640" y="1417320"/>
            <a:ext cx="3535680" cy="3017520"/>
          </a:xfrm>
          <a:prstGeom prst="roundRect">
            <a:avLst>
              <a:gd name="adj" fmla="val 4500"/>
            </a:avLst>
          </a:prstGeom>
          <a:solidFill>
            <a:schemeClr val="bg1"/>
          </a:solidFill>
          <a:ln w="25400">
            <a:solidFill>
              <a:srgbClr val="111A3E"/>
            </a:solidFill>
          </a:ln>
          <a:effectLst>
            <a:outerShdw blurRad="101600" dist="63500" dir="2700000" algn="bl" rotWithShape="0">
              <a:srgbClr val="070D26">
                <a:alpha val="100000"/>
              </a:srgbClr>
            </a:outerShdw>
          </a:effectLst>
        </p:spPr>
      </p:sp>
      <p:sp>
        <p:nvSpPr>
          <p:cNvPr id="164" name="Phase chip"/>
          <p:cNvSpPr/>
          <p:nvPr/>
        </p:nvSpPr>
        <p:spPr>
          <a:xfrm>
            <a:off x="731520" y="1600200"/>
            <a:ext cx="1554480" cy="365760"/>
          </a:xfrm>
          <a:prstGeom prst="roundRect">
            <a:avLst>
              <a:gd name="adj" fmla="val 30000"/>
            </a:avLst>
          </a:prstGeom>
          <a:solidFill>
            <a:srgbClr val="FF5A5F"/>
          </a:solidFill>
          <a:ln w="19050">
            <a:solidFill>
              <a:srgbClr val="111A3E"/>
            </a:solidFill>
          </a:ln>
        </p:spPr>
      </p:sp>
      <p:sp>
        <p:nvSpPr>
          <p:cNvPr id="165" name="Phase label"/>
          <p:cNvSpPr txBox="1"/>
          <p:nvPr/>
        </p:nvSpPr>
        <p:spPr>
          <a:xfrm>
            <a:off x="731520" y="1600200"/>
            <a:ext cx="1554480" cy="36576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bg1"/>
                </a:solidFill>
              </a:rPr>
              <a:t>NEXT 30 DAYS</a:t>
            </a:r>
          </a:p>
        </p:txBody>
      </p:sp>
      <p:sp>
        <p:nvSpPr>
          <p:cNvPr id="166" name="Phase title"/>
          <p:cNvSpPr txBox="1"/>
          <p:nvPr/>
        </p:nvSpPr>
        <p:spPr>
          <a:xfrm>
            <a:off x="731520" y="2103120"/>
            <a:ext cx="3169920" cy="4114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chemeClr val="tx1"/>
                </a:solidFill>
              </a:rPr>
              <a:t>Fix and measure</a:t>
            </a:r>
          </a:p>
        </p:txBody>
      </p:sp>
      <p:sp>
        <p:nvSpPr>
          <p:cNvPr id="167" name="Phase steps"/>
          <p:cNvSpPr txBox="1"/>
          <p:nvPr/>
        </p:nvSpPr>
        <p:spPr>
          <a:xfrm>
            <a:off x="731520" y="2651760"/>
            <a:ext cx="3169920" cy="210312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177800" indent="-177800" algn="l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Audit Netherlands forecast data and process</a:t>
            </a:r>
          </a:p>
          <a:p>
            <a:pPr marL="177800" indent="-177800" algn="l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Build channel-mix and discount dashboards</a:t>
            </a:r>
          </a:p>
          <a:p>
            <a:pPr marL="177800" indent="-177800" algn="l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Agree KPI targets with each business owner</a:t>
            </a:r>
          </a:p>
        </p:txBody>
      </p:sp>
      <p:sp>
        <p:nvSpPr>
          <p:cNvPr id="168" name="Phase card"/>
          <p:cNvSpPr/>
          <p:nvPr/>
        </p:nvSpPr>
        <p:spPr>
          <a:xfrm>
            <a:off x="4297680" y="1417320"/>
            <a:ext cx="3535680" cy="3017520"/>
          </a:xfrm>
          <a:prstGeom prst="roundRect">
            <a:avLst>
              <a:gd name="adj" fmla="val 4500"/>
            </a:avLst>
          </a:prstGeom>
          <a:solidFill>
            <a:schemeClr val="bg1"/>
          </a:solidFill>
          <a:ln w="25400">
            <a:solidFill>
              <a:srgbClr val="111A3E"/>
            </a:solidFill>
          </a:ln>
          <a:effectLst>
            <a:outerShdw blurRad="101600" dist="63500" dir="2700000" algn="bl" rotWithShape="0">
              <a:srgbClr val="070D26">
                <a:alpha val="100000"/>
              </a:srgbClr>
            </a:outerShdw>
          </a:effectLst>
        </p:spPr>
      </p:sp>
      <p:sp>
        <p:nvSpPr>
          <p:cNvPr id="169" name="Phase chip"/>
          <p:cNvSpPr/>
          <p:nvPr/>
        </p:nvSpPr>
        <p:spPr>
          <a:xfrm>
            <a:off x="4480560" y="1600200"/>
            <a:ext cx="1554480" cy="365760"/>
          </a:xfrm>
          <a:prstGeom prst="roundRect">
            <a:avLst>
              <a:gd name="adj" fmla="val 30000"/>
            </a:avLst>
          </a:prstGeom>
          <a:solidFill>
            <a:srgbClr val="FFC53D"/>
          </a:solidFill>
          <a:ln w="19050">
            <a:solidFill>
              <a:srgbClr val="111A3E"/>
            </a:solidFill>
          </a:ln>
        </p:spPr>
      </p:sp>
      <p:sp>
        <p:nvSpPr>
          <p:cNvPr id="170" name="Phase label"/>
          <p:cNvSpPr txBox="1"/>
          <p:nvPr/>
        </p:nvSpPr>
        <p:spPr>
          <a:xfrm>
            <a:off x="4480560" y="1600200"/>
            <a:ext cx="1554480" cy="36576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tx1"/>
                </a:solidFill>
              </a:rPr>
              <a:t>DAYS 31 TO 60</a:t>
            </a:r>
          </a:p>
        </p:txBody>
      </p:sp>
      <p:sp>
        <p:nvSpPr>
          <p:cNvPr id="171" name="Phase title"/>
          <p:cNvSpPr txBox="1"/>
          <p:nvPr/>
        </p:nvSpPr>
        <p:spPr>
          <a:xfrm>
            <a:off x="4480560" y="2103120"/>
            <a:ext cx="3169920" cy="4114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chemeClr val="tx1"/>
                </a:solidFill>
              </a:rPr>
              <a:t>Pilot and test</a:t>
            </a:r>
          </a:p>
        </p:txBody>
      </p:sp>
      <p:sp>
        <p:nvSpPr>
          <p:cNvPr id="172" name="Phase steps"/>
          <p:cNvSpPr txBox="1"/>
          <p:nvPr/>
        </p:nvSpPr>
        <p:spPr>
          <a:xfrm>
            <a:off x="4480560" y="2651760"/>
            <a:ext cx="3169920" cy="210312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177800" indent="-177800" algn="l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Pilot promotions with Flipkart, Amazon, Croma</a:t>
            </a:r>
          </a:p>
          <a:p>
            <a:pPr marL="177800" indent="-177800" algn="l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Test Direct and Distributor growth plays</a:t>
            </a:r>
          </a:p>
          <a:p>
            <a:pPr marL="177800" indent="-177800" algn="l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Add demand-based forecast review for 4 markets</a:t>
            </a:r>
          </a:p>
        </p:txBody>
      </p:sp>
      <p:sp>
        <p:nvSpPr>
          <p:cNvPr id="173" name="Phase card"/>
          <p:cNvSpPr/>
          <p:nvPr/>
        </p:nvSpPr>
        <p:spPr>
          <a:xfrm>
            <a:off x="8046720" y="1417320"/>
            <a:ext cx="3535680" cy="3017520"/>
          </a:xfrm>
          <a:prstGeom prst="roundRect">
            <a:avLst>
              <a:gd name="adj" fmla="val 4500"/>
            </a:avLst>
          </a:prstGeom>
          <a:solidFill>
            <a:schemeClr val="bg1"/>
          </a:solidFill>
          <a:ln w="25400">
            <a:solidFill>
              <a:srgbClr val="111A3E"/>
            </a:solidFill>
          </a:ln>
          <a:effectLst>
            <a:outerShdw blurRad="101600" dist="63500" dir="2700000" algn="bl" rotWithShape="0">
              <a:srgbClr val="070D26">
                <a:alpha val="100000"/>
              </a:srgbClr>
            </a:outerShdw>
          </a:effectLst>
        </p:spPr>
      </p:sp>
      <p:sp>
        <p:nvSpPr>
          <p:cNvPr id="174" name="Phase chip"/>
          <p:cNvSpPr/>
          <p:nvPr/>
        </p:nvSpPr>
        <p:spPr>
          <a:xfrm>
            <a:off x="8229600" y="1600200"/>
            <a:ext cx="1554480" cy="365760"/>
          </a:xfrm>
          <a:prstGeom prst="roundRect">
            <a:avLst>
              <a:gd name="adj" fmla="val 30000"/>
            </a:avLst>
          </a:prstGeom>
          <a:solidFill>
            <a:srgbClr val="22C3B0"/>
          </a:solidFill>
          <a:ln w="19050">
            <a:solidFill>
              <a:srgbClr val="111A3E"/>
            </a:solidFill>
          </a:ln>
        </p:spPr>
      </p:sp>
      <p:sp>
        <p:nvSpPr>
          <p:cNvPr id="175" name="Phase label"/>
          <p:cNvSpPr txBox="1"/>
          <p:nvPr/>
        </p:nvSpPr>
        <p:spPr>
          <a:xfrm>
            <a:off x="8229600" y="1600200"/>
            <a:ext cx="1554480" cy="36576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tx1"/>
                </a:solidFill>
              </a:rPr>
              <a:t>DAYS 61 TO 90</a:t>
            </a:r>
          </a:p>
        </p:txBody>
      </p:sp>
      <p:sp>
        <p:nvSpPr>
          <p:cNvPr id="176" name="Phase title"/>
          <p:cNvSpPr txBox="1"/>
          <p:nvPr/>
        </p:nvSpPr>
        <p:spPr>
          <a:xfrm>
            <a:off x="8229600" y="2103120"/>
            <a:ext cx="3169920" cy="4114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chemeClr val="tx1"/>
                </a:solidFill>
              </a:rPr>
              <a:t>Scale and automate</a:t>
            </a:r>
          </a:p>
        </p:txBody>
      </p:sp>
      <p:sp>
        <p:nvSpPr>
          <p:cNvPr id="177" name="Phase steps"/>
          <p:cNvSpPr txBox="1"/>
          <p:nvPr/>
        </p:nvSpPr>
        <p:spPr>
          <a:xfrm>
            <a:off x="8229600" y="2651760"/>
            <a:ext cx="3169920" cy="210312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177800" indent="-177800" algn="l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Roll out winning plays to India and USA</a:t>
            </a:r>
          </a:p>
          <a:p>
            <a:pPr marL="177800" indent="-177800" algn="l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Automate monthly reports with stored procedures</a:t>
            </a:r>
          </a:p>
          <a:p>
            <a:pPr marL="177800" indent="-177800" algn="l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Plan Desktop and Storage launches for FY2022</a:t>
            </a:r>
          </a:p>
        </p:txBody>
      </p:sp>
      <p:sp>
        <p:nvSpPr>
          <p:cNvPr id="178" name="Analyst strip"/>
          <p:cNvSpPr/>
          <p:nvPr/>
        </p:nvSpPr>
        <p:spPr>
          <a:xfrm>
            <a:off x="548640" y="4709160"/>
            <a:ext cx="11064240" cy="1005840"/>
          </a:xfrm>
          <a:prstGeom prst="roundRect">
            <a:avLst>
              <a:gd name="adj" fmla="val 12000"/>
            </a:avLst>
          </a:prstGeom>
          <a:solidFill>
            <a:srgbClr val="111A3E"/>
          </a:solidFill>
          <a:ln w="19050">
            <a:solidFill>
              <a:srgbClr val="3D8BFF"/>
            </a:solidFill>
          </a:ln>
        </p:spPr>
      </p:sp>
      <p:sp>
        <p:nvSpPr>
          <p:cNvPr id="179" name="Analyst label"/>
          <p:cNvSpPr txBox="1"/>
          <p:nvPr/>
        </p:nvSpPr>
        <p:spPr>
          <a:xfrm>
            <a:off x="777240" y="4800600"/>
            <a:ext cx="2286000" cy="82296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C53D"/>
                </a:solidFill>
              </a:rPr>
              <a:t>MY NEXT STEPS</a:t>
            </a:r>
          </a:p>
          <a:p>
            <a:pPr marL="0" indent="0" algn="l">
              <a:buNone/>
            </a:pPr>
            <a:r>
              <a:rPr lang="en-US" sz="1300" dirty="0">
                <a:solidFill>
                  <a:schemeClr val="bg1"/>
                </a:solidFill>
              </a:rPr>
              <a:t>as the analyst</a:t>
            </a:r>
          </a:p>
        </p:txBody>
      </p:sp>
      <p:sp>
        <p:nvSpPr>
          <p:cNvPr id="180" name="Analyst text"/>
          <p:cNvSpPr txBox="1"/>
          <p:nvPr/>
        </p:nvSpPr>
        <p:spPr>
          <a:xfrm>
            <a:off x="3200400" y="4800600"/>
            <a:ext cx="8229600" cy="82296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chemeClr val="bg1"/>
                </a:solidFill>
              </a:rPr>
              <a:t>Extend the analysis to profit and margin using manufacturing cost, then add forecast-bias and customer-level trend views to the SQL toolkit.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CADCFC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30</a:t>
            </a:fld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27432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1"/>
                </a:solidFill>
              </a:rPr>
              <a:t>Appendix: SQL queries (1 of 11)</a:t>
            </a:r>
            <a:endParaRPr lang="en-US" sz="3000" dirty="0"/>
          </a:p>
        </p:txBody>
      </p:sp>
      <p:sp>
        <p:nvSpPr>
          <p:cNvPr id="3" name="Mascot ring"/>
          <p:cNvSpPr/>
          <p:nvPr/>
        </p:nvSpPr>
        <p:spPr>
          <a:xfrm>
            <a:off x="10835640" y="228600"/>
            <a:ext cx="914400" cy="9144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  <a:prstDash val="solid"/>
          </a:ln>
          <a:effectLst>
            <a:outerShdw blurRad="101600" dist="63500" dir="2700000" algn="bl" rotWithShape="0">
              <a:srgbClr val="111A3E">
                <a:alpha val="100000"/>
              </a:srgbClr>
            </a:outerShdw>
          </a:effectLst>
        </p:spPr>
      </p:sp>
      <p:pic>
        <p:nvPicPr>
          <p:cNvPr id="4" name="Image 0" descr="Cartoon masco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45368" y="338328"/>
            <a:ext cx="694944" cy="694944"/>
          </a:xfrm>
          <a:prstGeom prst="rect">
            <a:avLst/>
          </a:prstGeom>
        </p:spPr>
      </p:pic>
      <p:sp>
        <p:nvSpPr>
          <p:cNvPr id="5" name="SQL request card"/>
          <p:cNvSpPr/>
          <p:nvPr/>
        </p:nvSpPr>
        <p:spPr>
          <a:xfrm>
            <a:off x="548640" y="1280160"/>
            <a:ext cx="11109960" cy="2468880"/>
          </a:xfrm>
          <a:prstGeom prst="roundRect">
            <a:avLst>
              <a:gd name="adj" fmla="val 5926"/>
            </a:avLst>
          </a:prstGeom>
          <a:solidFill>
            <a:schemeClr val="bg1"/>
          </a:solidFill>
          <a:ln w="25400">
            <a:solidFill>
              <a:schemeClr val="tx1"/>
            </a:solidFill>
            <a:prstDash val="solid"/>
          </a:ln>
          <a:effectLst>
            <a:outerShdw blurRad="101600" dist="63500" dir="2700000" algn="bl" rotWithShape="0">
              <a:srgbClr val="111A3E">
                <a:alpha val="100000"/>
              </a:srgbClr>
            </a:outerShdw>
          </a:effectLst>
        </p:spPr>
      </p:sp>
      <p:sp>
        <p:nvSpPr>
          <p:cNvPr id="6" name="Chip"/>
          <p:cNvSpPr/>
          <p:nvPr/>
        </p:nvSpPr>
        <p:spPr>
          <a:xfrm>
            <a:off x="731520" y="1408176"/>
            <a:ext cx="1371600" cy="310896"/>
          </a:xfrm>
          <a:prstGeom prst="roundRect">
            <a:avLst>
              <a:gd name="adj" fmla="val 50000"/>
            </a:avLst>
          </a:prstGeom>
          <a:solidFill>
            <a:srgbClr val="FF5A5F"/>
          </a:solidFill>
          <a:ln w="19050">
            <a:solidFill>
              <a:schemeClr val="tx1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31520" y="1408176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chemeClr val="bg1"/>
                </a:solidFill>
              </a:rPr>
              <a:t>REQUEST 01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2240280" y="1371600"/>
            <a:ext cx="9235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chemeClr val="tx2"/>
                </a:solidFill>
              </a:rPr>
              <a:t>Which markets does the customer AtliQ Exclusive operate in within the APAC region?</a:t>
            </a:r>
            <a:endParaRPr lang="en-US" sz="1200" dirty="0"/>
          </a:p>
        </p:txBody>
      </p:sp>
      <p:sp>
        <p:nvSpPr>
          <p:cNvPr id="9" name="Query panel"/>
          <p:cNvSpPr/>
          <p:nvPr/>
        </p:nvSpPr>
        <p:spPr>
          <a:xfrm>
            <a:off x="731520" y="1938528"/>
            <a:ext cx="7424928" cy="1673352"/>
          </a:xfrm>
          <a:prstGeom prst="roundRect">
            <a:avLst>
              <a:gd name="adj" fmla="val 5464"/>
            </a:avLst>
          </a:prstGeom>
          <a:solidFill>
            <a:schemeClr val="bg2"/>
          </a:solidFill>
          <a:ln w="12700">
            <a:solidFill>
              <a:schemeClr val="tx1"/>
            </a:solidFill>
            <a:prstDash val="solid"/>
          </a:ln>
        </p:spPr>
      </p:sp>
      <p:pic>
        <p:nvPicPr>
          <p:cNvPr id="10" name="Image 1" descr="SQL query for request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2325" y="2048256"/>
            <a:ext cx="7043318" cy="1453896"/>
          </a:xfrm>
          <a:prstGeom prst="rect">
            <a:avLst/>
          </a:prstGeom>
        </p:spPr>
      </p:pic>
      <p:sp>
        <p:nvSpPr>
          <p:cNvPr id="11" name="Chip"/>
          <p:cNvSpPr/>
          <p:nvPr/>
        </p:nvSpPr>
        <p:spPr>
          <a:xfrm>
            <a:off x="822960" y="1828800"/>
            <a:ext cx="731520" cy="219456"/>
          </a:xfrm>
          <a:prstGeom prst="roundRect">
            <a:avLst>
              <a:gd name="adj" fmla="val 50000"/>
            </a:avLst>
          </a:prstGeom>
          <a:solidFill>
            <a:srgbClr val="FFC53D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822960" y="1828800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chemeClr val="tx1"/>
                </a:solidFill>
              </a:rPr>
              <a:t>QUERY</a:t>
            </a:r>
            <a:endParaRPr lang="en-US" sz="900" dirty="0"/>
          </a:p>
        </p:txBody>
      </p:sp>
      <p:sp>
        <p:nvSpPr>
          <p:cNvPr id="13" name="Output panel"/>
          <p:cNvSpPr/>
          <p:nvPr/>
        </p:nvSpPr>
        <p:spPr>
          <a:xfrm>
            <a:off x="8293608" y="1938528"/>
            <a:ext cx="3182112" cy="1673352"/>
          </a:xfrm>
          <a:prstGeom prst="roundRect">
            <a:avLst>
              <a:gd name="adj" fmla="val 5464"/>
            </a:avLst>
          </a:prstGeom>
          <a:solidFill>
            <a:schemeClr val="bg2"/>
          </a:solidFill>
          <a:ln w="12700">
            <a:solidFill>
              <a:schemeClr val="tx1"/>
            </a:solidFill>
            <a:prstDash val="solid"/>
          </a:ln>
        </p:spPr>
      </p:sp>
      <p:pic>
        <p:nvPicPr>
          <p:cNvPr id="14" name="Image 2" descr="Output for request 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95925" y="2048256"/>
            <a:ext cx="977478" cy="1453896"/>
          </a:xfrm>
          <a:prstGeom prst="rect">
            <a:avLst/>
          </a:prstGeom>
        </p:spPr>
      </p:pic>
      <p:sp>
        <p:nvSpPr>
          <p:cNvPr id="15" name="Chip"/>
          <p:cNvSpPr/>
          <p:nvPr/>
        </p:nvSpPr>
        <p:spPr>
          <a:xfrm>
            <a:off x="8385048" y="1828800"/>
            <a:ext cx="777240" cy="219456"/>
          </a:xfrm>
          <a:prstGeom prst="roundRect">
            <a:avLst>
              <a:gd name="adj" fmla="val 50000"/>
            </a:avLst>
          </a:prstGeom>
          <a:solidFill>
            <a:srgbClr val="22C3B0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6" name="Text 11"/>
          <p:cNvSpPr txBox="1"/>
          <p:nvPr/>
        </p:nvSpPr>
        <p:spPr>
          <a:xfrm>
            <a:off x="8385048" y="1828800"/>
            <a:ext cx="777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chemeClr val="tx1"/>
                </a:solidFill>
              </a:rPr>
              <a:t>OUTPUT</a:t>
            </a:r>
            <a:endParaRPr lang="en-US" sz="900" dirty="0"/>
          </a:p>
        </p:txBody>
      </p:sp>
      <p:sp>
        <p:nvSpPr>
          <p:cNvPr id="17" name="SQL request card"/>
          <p:cNvSpPr/>
          <p:nvPr/>
        </p:nvSpPr>
        <p:spPr>
          <a:xfrm>
            <a:off x="548640" y="3886200"/>
            <a:ext cx="11109960" cy="2423160"/>
          </a:xfrm>
          <a:prstGeom prst="roundRect">
            <a:avLst>
              <a:gd name="adj" fmla="val 6038"/>
            </a:avLst>
          </a:prstGeom>
          <a:solidFill>
            <a:schemeClr val="bg1"/>
          </a:solidFill>
          <a:ln w="25400">
            <a:solidFill>
              <a:schemeClr val="tx1"/>
            </a:solidFill>
            <a:prstDash val="solid"/>
          </a:ln>
          <a:effectLst>
            <a:outerShdw blurRad="101600" dist="63500" dir="2700000" algn="bl" rotWithShape="0">
              <a:srgbClr val="111A3E">
                <a:alpha val="100000"/>
              </a:srgbClr>
            </a:outerShdw>
          </a:effectLst>
        </p:spPr>
      </p:sp>
      <p:sp>
        <p:nvSpPr>
          <p:cNvPr id="18" name="Chip"/>
          <p:cNvSpPr/>
          <p:nvPr/>
        </p:nvSpPr>
        <p:spPr>
          <a:xfrm>
            <a:off x="731520" y="4014216"/>
            <a:ext cx="1371600" cy="310896"/>
          </a:xfrm>
          <a:prstGeom prst="roundRect">
            <a:avLst>
              <a:gd name="adj" fmla="val 50000"/>
            </a:avLst>
          </a:prstGeom>
          <a:solidFill>
            <a:srgbClr val="FF5A5F"/>
          </a:solidFill>
          <a:ln w="19050">
            <a:solidFill>
              <a:schemeClr val="tx1"/>
            </a:solidFill>
            <a:prstDash val="solid"/>
          </a:ln>
        </p:spPr>
      </p:sp>
      <p:sp>
        <p:nvSpPr>
          <p:cNvPr id="19" name="Text 14"/>
          <p:cNvSpPr txBox="1"/>
          <p:nvPr/>
        </p:nvSpPr>
        <p:spPr>
          <a:xfrm>
            <a:off x="731520" y="4014216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chemeClr val="bg1"/>
                </a:solidFill>
              </a:rPr>
              <a:t>REQUEST 02</a:t>
            </a:r>
            <a:endParaRPr lang="en-US" sz="1100" dirty="0"/>
          </a:p>
        </p:txBody>
      </p:sp>
      <p:sp>
        <p:nvSpPr>
          <p:cNvPr id="20" name="Text 15"/>
          <p:cNvSpPr txBox="1"/>
          <p:nvPr/>
        </p:nvSpPr>
        <p:spPr>
          <a:xfrm>
            <a:off x="2240280" y="3977640"/>
            <a:ext cx="9235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chemeClr val="tx2"/>
                </a:solidFill>
              </a:rPr>
              <a:t>What is the percentage of unique product increase in 2021 vs. 2020?</a:t>
            </a:r>
            <a:endParaRPr lang="en-US" sz="1200" dirty="0"/>
          </a:p>
        </p:txBody>
      </p:sp>
      <p:sp>
        <p:nvSpPr>
          <p:cNvPr id="21" name="Query panel"/>
          <p:cNvSpPr/>
          <p:nvPr/>
        </p:nvSpPr>
        <p:spPr>
          <a:xfrm>
            <a:off x="731520" y="4544568"/>
            <a:ext cx="4773168" cy="1627632"/>
          </a:xfrm>
          <a:prstGeom prst="roundRect">
            <a:avLst>
              <a:gd name="adj" fmla="val 5618"/>
            </a:avLst>
          </a:prstGeom>
          <a:solidFill>
            <a:schemeClr val="bg2"/>
          </a:solidFill>
          <a:ln w="12700">
            <a:solidFill>
              <a:schemeClr val="tx1"/>
            </a:solidFill>
            <a:prstDash val="solid"/>
          </a:ln>
        </p:spPr>
      </p:sp>
      <p:pic>
        <p:nvPicPr>
          <p:cNvPr id="22" name="Image 3" descr="SQL query for request 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372175" y="4654296"/>
            <a:ext cx="1491859" cy="1408176"/>
          </a:xfrm>
          <a:prstGeom prst="rect">
            <a:avLst/>
          </a:prstGeom>
        </p:spPr>
      </p:pic>
      <p:sp>
        <p:nvSpPr>
          <p:cNvPr id="23" name="Chip"/>
          <p:cNvSpPr/>
          <p:nvPr/>
        </p:nvSpPr>
        <p:spPr>
          <a:xfrm>
            <a:off x="822960" y="4434840"/>
            <a:ext cx="731520" cy="219456"/>
          </a:xfrm>
          <a:prstGeom prst="roundRect">
            <a:avLst>
              <a:gd name="adj" fmla="val 50000"/>
            </a:avLst>
          </a:prstGeom>
          <a:solidFill>
            <a:srgbClr val="FFC53D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24" name="Text 18"/>
          <p:cNvSpPr txBox="1"/>
          <p:nvPr/>
        </p:nvSpPr>
        <p:spPr>
          <a:xfrm>
            <a:off x="822960" y="4434840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chemeClr val="tx1"/>
                </a:solidFill>
              </a:rPr>
              <a:t>QUERY</a:t>
            </a:r>
            <a:endParaRPr lang="en-US" sz="900" dirty="0"/>
          </a:p>
        </p:txBody>
      </p:sp>
      <p:sp>
        <p:nvSpPr>
          <p:cNvPr id="25" name="Output panel"/>
          <p:cNvSpPr/>
          <p:nvPr/>
        </p:nvSpPr>
        <p:spPr>
          <a:xfrm>
            <a:off x="5641848" y="4544568"/>
            <a:ext cx="5833872" cy="1627632"/>
          </a:xfrm>
          <a:prstGeom prst="roundRect">
            <a:avLst>
              <a:gd name="adj" fmla="val 5618"/>
            </a:avLst>
          </a:prstGeom>
          <a:solidFill>
            <a:schemeClr val="bg2"/>
          </a:solidFill>
          <a:ln w="12700">
            <a:solidFill>
              <a:schemeClr val="tx1"/>
            </a:solidFill>
            <a:prstDash val="solid"/>
          </a:ln>
        </p:spPr>
      </p:sp>
      <p:pic>
        <p:nvPicPr>
          <p:cNvPr id="26" name="Image 4" descr="Output for request 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33288" y="4700627"/>
            <a:ext cx="5650992" cy="1315514"/>
          </a:xfrm>
          <a:prstGeom prst="rect">
            <a:avLst/>
          </a:prstGeom>
        </p:spPr>
      </p:pic>
      <p:sp>
        <p:nvSpPr>
          <p:cNvPr id="27" name="Chip"/>
          <p:cNvSpPr/>
          <p:nvPr/>
        </p:nvSpPr>
        <p:spPr>
          <a:xfrm>
            <a:off x="5733288" y="4434840"/>
            <a:ext cx="777240" cy="219456"/>
          </a:xfrm>
          <a:prstGeom prst="roundRect">
            <a:avLst>
              <a:gd name="adj" fmla="val 50000"/>
            </a:avLst>
          </a:prstGeom>
          <a:solidFill>
            <a:srgbClr val="22C3B0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28" name="Text 21"/>
          <p:cNvSpPr txBox="1"/>
          <p:nvPr/>
        </p:nvSpPr>
        <p:spPr>
          <a:xfrm>
            <a:off x="5733288" y="4434840"/>
            <a:ext cx="777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chemeClr val="tx1"/>
                </a:solidFill>
              </a:rPr>
              <a:t>OUTPUT</a:t>
            </a:r>
            <a:endParaRPr lang="en-US" sz="900" dirty="0"/>
          </a:p>
        </p:txBody>
      </p:sp>
      <p:sp>
        <p:nvSpPr>
          <p:cNvPr id="2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2B3A7A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31</a:t>
            </a:fld>
            <a:endParaRPr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27432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1"/>
                </a:solidFill>
              </a:rPr>
              <a:t>Appendix: SQL queries (2 of 11)</a:t>
            </a:r>
            <a:endParaRPr lang="en-US" sz="3000" dirty="0"/>
          </a:p>
        </p:txBody>
      </p:sp>
      <p:sp>
        <p:nvSpPr>
          <p:cNvPr id="3" name="Mascot ring"/>
          <p:cNvSpPr/>
          <p:nvPr/>
        </p:nvSpPr>
        <p:spPr>
          <a:xfrm>
            <a:off x="10835640" y="228600"/>
            <a:ext cx="914400" cy="9144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  <a:prstDash val="solid"/>
          </a:ln>
          <a:effectLst>
            <a:outerShdw blurRad="101600" dist="63500" dir="2700000" algn="bl" rotWithShape="0">
              <a:srgbClr val="111A3E">
                <a:alpha val="100000"/>
              </a:srgbClr>
            </a:outerShdw>
          </a:effectLst>
        </p:spPr>
      </p:sp>
      <p:pic>
        <p:nvPicPr>
          <p:cNvPr id="4" name="Image 0" descr="Cartoon masco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45368" y="338328"/>
            <a:ext cx="694944" cy="694944"/>
          </a:xfrm>
          <a:prstGeom prst="rect">
            <a:avLst/>
          </a:prstGeom>
        </p:spPr>
      </p:pic>
      <p:sp>
        <p:nvSpPr>
          <p:cNvPr id="5" name="SQL request card"/>
          <p:cNvSpPr/>
          <p:nvPr/>
        </p:nvSpPr>
        <p:spPr>
          <a:xfrm>
            <a:off x="548640" y="1280160"/>
            <a:ext cx="11109960" cy="2468880"/>
          </a:xfrm>
          <a:prstGeom prst="roundRect">
            <a:avLst>
              <a:gd name="adj" fmla="val 5926"/>
            </a:avLst>
          </a:prstGeom>
          <a:solidFill>
            <a:schemeClr val="bg1"/>
          </a:solidFill>
          <a:ln w="25400">
            <a:solidFill>
              <a:schemeClr val="tx1"/>
            </a:solidFill>
            <a:prstDash val="solid"/>
          </a:ln>
          <a:effectLst>
            <a:outerShdw blurRad="101600" dist="63500" dir="2700000" algn="bl" rotWithShape="0">
              <a:srgbClr val="111A3E">
                <a:alpha val="100000"/>
              </a:srgbClr>
            </a:outerShdw>
          </a:effectLst>
        </p:spPr>
      </p:sp>
      <p:sp>
        <p:nvSpPr>
          <p:cNvPr id="6" name="Chip"/>
          <p:cNvSpPr/>
          <p:nvPr/>
        </p:nvSpPr>
        <p:spPr>
          <a:xfrm>
            <a:off x="731520" y="1408176"/>
            <a:ext cx="1371600" cy="310896"/>
          </a:xfrm>
          <a:prstGeom prst="roundRect">
            <a:avLst>
              <a:gd name="adj" fmla="val 50000"/>
            </a:avLst>
          </a:prstGeom>
          <a:solidFill>
            <a:srgbClr val="FF5A5F"/>
          </a:solidFill>
          <a:ln w="19050">
            <a:solidFill>
              <a:schemeClr val="tx1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31520" y="1408176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chemeClr val="bg1"/>
                </a:solidFill>
              </a:rPr>
              <a:t>REQUEST 03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2240280" y="1371600"/>
            <a:ext cx="9235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chemeClr val="tx2"/>
                </a:solidFill>
              </a:rPr>
              <a:t>Report with all unique product counts per segment, sorted descending.</a:t>
            </a:r>
            <a:endParaRPr lang="en-US" sz="1200" dirty="0"/>
          </a:p>
        </p:txBody>
      </p:sp>
      <p:sp>
        <p:nvSpPr>
          <p:cNvPr id="9" name="Query panel"/>
          <p:cNvSpPr/>
          <p:nvPr/>
        </p:nvSpPr>
        <p:spPr>
          <a:xfrm>
            <a:off x="731520" y="1938528"/>
            <a:ext cx="5833872" cy="1673352"/>
          </a:xfrm>
          <a:prstGeom prst="roundRect">
            <a:avLst>
              <a:gd name="adj" fmla="val 5464"/>
            </a:avLst>
          </a:prstGeom>
          <a:solidFill>
            <a:schemeClr val="bg2"/>
          </a:solidFill>
          <a:ln w="12700">
            <a:solidFill>
              <a:schemeClr val="tx1"/>
            </a:solidFill>
            <a:prstDash val="solid"/>
          </a:ln>
        </p:spPr>
      </p:sp>
      <p:pic>
        <p:nvPicPr>
          <p:cNvPr id="10" name="Image 1" descr="SQL query for request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76310" y="2048256"/>
            <a:ext cx="4744292" cy="1453896"/>
          </a:xfrm>
          <a:prstGeom prst="rect">
            <a:avLst/>
          </a:prstGeom>
        </p:spPr>
      </p:pic>
      <p:sp>
        <p:nvSpPr>
          <p:cNvPr id="11" name="Chip"/>
          <p:cNvSpPr/>
          <p:nvPr/>
        </p:nvSpPr>
        <p:spPr>
          <a:xfrm>
            <a:off x="822960" y="1828800"/>
            <a:ext cx="731520" cy="219456"/>
          </a:xfrm>
          <a:prstGeom prst="roundRect">
            <a:avLst>
              <a:gd name="adj" fmla="val 50000"/>
            </a:avLst>
          </a:prstGeom>
          <a:solidFill>
            <a:srgbClr val="FFC53D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822960" y="1828800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chemeClr val="tx1"/>
                </a:solidFill>
              </a:rPr>
              <a:t>QUERY</a:t>
            </a:r>
            <a:endParaRPr lang="en-US" sz="900" dirty="0"/>
          </a:p>
        </p:txBody>
      </p:sp>
      <p:sp>
        <p:nvSpPr>
          <p:cNvPr id="13" name="Output panel"/>
          <p:cNvSpPr/>
          <p:nvPr/>
        </p:nvSpPr>
        <p:spPr>
          <a:xfrm>
            <a:off x="6702552" y="1938528"/>
            <a:ext cx="4773168" cy="1673352"/>
          </a:xfrm>
          <a:prstGeom prst="roundRect">
            <a:avLst>
              <a:gd name="adj" fmla="val 5464"/>
            </a:avLst>
          </a:prstGeom>
          <a:solidFill>
            <a:schemeClr val="bg2"/>
          </a:solidFill>
          <a:ln w="12700">
            <a:solidFill>
              <a:schemeClr val="tx1"/>
            </a:solidFill>
            <a:prstDash val="solid"/>
          </a:ln>
        </p:spPr>
      </p:sp>
      <p:pic>
        <p:nvPicPr>
          <p:cNvPr id="14" name="Image 2" descr="Output for request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02564" y="2048256"/>
            <a:ext cx="1973145" cy="1453896"/>
          </a:xfrm>
          <a:prstGeom prst="rect">
            <a:avLst/>
          </a:prstGeom>
        </p:spPr>
      </p:pic>
      <p:sp>
        <p:nvSpPr>
          <p:cNvPr id="15" name="Chip"/>
          <p:cNvSpPr/>
          <p:nvPr/>
        </p:nvSpPr>
        <p:spPr>
          <a:xfrm>
            <a:off x="6793992" y="1828800"/>
            <a:ext cx="777240" cy="219456"/>
          </a:xfrm>
          <a:prstGeom prst="roundRect">
            <a:avLst>
              <a:gd name="adj" fmla="val 50000"/>
            </a:avLst>
          </a:prstGeom>
          <a:solidFill>
            <a:srgbClr val="22C3B0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6" name="Text 11"/>
          <p:cNvSpPr txBox="1"/>
          <p:nvPr/>
        </p:nvSpPr>
        <p:spPr>
          <a:xfrm>
            <a:off x="6793992" y="1828800"/>
            <a:ext cx="777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chemeClr val="tx1"/>
                </a:solidFill>
              </a:rPr>
              <a:t>OUTPUT</a:t>
            </a:r>
            <a:endParaRPr lang="en-US" sz="900" dirty="0"/>
          </a:p>
        </p:txBody>
      </p:sp>
      <p:sp>
        <p:nvSpPr>
          <p:cNvPr id="17" name="SQL request card"/>
          <p:cNvSpPr/>
          <p:nvPr/>
        </p:nvSpPr>
        <p:spPr>
          <a:xfrm>
            <a:off x="548640" y="3886200"/>
            <a:ext cx="11109960" cy="2423160"/>
          </a:xfrm>
          <a:prstGeom prst="roundRect">
            <a:avLst>
              <a:gd name="adj" fmla="val 6038"/>
            </a:avLst>
          </a:prstGeom>
          <a:solidFill>
            <a:schemeClr val="bg1"/>
          </a:solidFill>
          <a:ln w="25400">
            <a:solidFill>
              <a:schemeClr val="tx1"/>
            </a:solidFill>
            <a:prstDash val="solid"/>
          </a:ln>
          <a:effectLst>
            <a:outerShdw blurRad="101600" dist="63500" dir="2700000" algn="bl" rotWithShape="0">
              <a:srgbClr val="111A3E">
                <a:alpha val="100000"/>
              </a:srgbClr>
            </a:outerShdw>
          </a:effectLst>
        </p:spPr>
      </p:sp>
      <p:sp>
        <p:nvSpPr>
          <p:cNvPr id="18" name="Chip"/>
          <p:cNvSpPr/>
          <p:nvPr/>
        </p:nvSpPr>
        <p:spPr>
          <a:xfrm>
            <a:off x="731520" y="4014216"/>
            <a:ext cx="1371600" cy="310896"/>
          </a:xfrm>
          <a:prstGeom prst="roundRect">
            <a:avLst>
              <a:gd name="adj" fmla="val 50000"/>
            </a:avLst>
          </a:prstGeom>
          <a:solidFill>
            <a:srgbClr val="FF5A5F"/>
          </a:solidFill>
          <a:ln w="19050">
            <a:solidFill>
              <a:schemeClr val="tx1"/>
            </a:solidFill>
            <a:prstDash val="solid"/>
          </a:ln>
        </p:spPr>
      </p:sp>
      <p:sp>
        <p:nvSpPr>
          <p:cNvPr id="19" name="Text 14"/>
          <p:cNvSpPr txBox="1"/>
          <p:nvPr/>
        </p:nvSpPr>
        <p:spPr>
          <a:xfrm>
            <a:off x="731520" y="4014216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chemeClr val="bg1"/>
                </a:solidFill>
              </a:rPr>
              <a:t>REQUEST 04</a:t>
            </a:r>
            <a:endParaRPr lang="en-US" sz="1100" dirty="0"/>
          </a:p>
        </p:txBody>
      </p:sp>
      <p:sp>
        <p:nvSpPr>
          <p:cNvPr id="20" name="Text 15"/>
          <p:cNvSpPr txBox="1"/>
          <p:nvPr/>
        </p:nvSpPr>
        <p:spPr>
          <a:xfrm>
            <a:off x="2240280" y="3977640"/>
            <a:ext cx="9235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chemeClr val="tx2"/>
                </a:solidFill>
              </a:rPr>
              <a:t>Which segment had the most increase in unique products in 2021 vs 2020?</a:t>
            </a:r>
            <a:endParaRPr lang="en-US" sz="1200" dirty="0"/>
          </a:p>
        </p:txBody>
      </p:sp>
      <p:sp>
        <p:nvSpPr>
          <p:cNvPr id="21" name="Query panel"/>
          <p:cNvSpPr/>
          <p:nvPr/>
        </p:nvSpPr>
        <p:spPr>
          <a:xfrm>
            <a:off x="731520" y="4544568"/>
            <a:ext cx="6364224" cy="1627632"/>
          </a:xfrm>
          <a:prstGeom prst="roundRect">
            <a:avLst>
              <a:gd name="adj" fmla="val 5618"/>
            </a:avLst>
          </a:prstGeom>
          <a:solidFill>
            <a:schemeClr val="bg2"/>
          </a:solidFill>
          <a:ln w="12700">
            <a:solidFill>
              <a:schemeClr val="tx1"/>
            </a:solidFill>
            <a:prstDash val="solid"/>
          </a:ln>
        </p:spPr>
      </p:sp>
      <p:pic>
        <p:nvPicPr>
          <p:cNvPr id="22" name="Image 3" descr="SQL query for request 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75985" y="4654296"/>
            <a:ext cx="1675294" cy="1408176"/>
          </a:xfrm>
          <a:prstGeom prst="rect">
            <a:avLst/>
          </a:prstGeom>
        </p:spPr>
      </p:pic>
      <p:sp>
        <p:nvSpPr>
          <p:cNvPr id="23" name="Chip"/>
          <p:cNvSpPr/>
          <p:nvPr/>
        </p:nvSpPr>
        <p:spPr>
          <a:xfrm>
            <a:off x="822960" y="4434840"/>
            <a:ext cx="731520" cy="219456"/>
          </a:xfrm>
          <a:prstGeom prst="roundRect">
            <a:avLst>
              <a:gd name="adj" fmla="val 50000"/>
            </a:avLst>
          </a:prstGeom>
          <a:solidFill>
            <a:srgbClr val="FFC53D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24" name="Text 18"/>
          <p:cNvSpPr txBox="1"/>
          <p:nvPr/>
        </p:nvSpPr>
        <p:spPr>
          <a:xfrm>
            <a:off x="822960" y="4434840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chemeClr val="tx1"/>
                </a:solidFill>
              </a:rPr>
              <a:t>QUERY</a:t>
            </a:r>
            <a:endParaRPr lang="en-US" sz="900" dirty="0"/>
          </a:p>
        </p:txBody>
      </p:sp>
      <p:sp>
        <p:nvSpPr>
          <p:cNvPr id="25" name="Output panel"/>
          <p:cNvSpPr/>
          <p:nvPr/>
        </p:nvSpPr>
        <p:spPr>
          <a:xfrm>
            <a:off x="7232904" y="4544568"/>
            <a:ext cx="4242816" cy="1627632"/>
          </a:xfrm>
          <a:prstGeom prst="roundRect">
            <a:avLst>
              <a:gd name="adj" fmla="val 5618"/>
            </a:avLst>
          </a:prstGeom>
          <a:solidFill>
            <a:schemeClr val="bg2"/>
          </a:solidFill>
          <a:ln w="12700">
            <a:solidFill>
              <a:schemeClr val="tx1"/>
            </a:solidFill>
            <a:prstDash val="solid"/>
          </a:ln>
        </p:spPr>
      </p:sp>
      <p:pic>
        <p:nvPicPr>
          <p:cNvPr id="26" name="Image 4" descr="Output for request 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28159" y="4654296"/>
            <a:ext cx="4052305" cy="1408176"/>
          </a:xfrm>
          <a:prstGeom prst="rect">
            <a:avLst/>
          </a:prstGeom>
        </p:spPr>
      </p:pic>
      <p:sp>
        <p:nvSpPr>
          <p:cNvPr id="27" name="Chip"/>
          <p:cNvSpPr/>
          <p:nvPr/>
        </p:nvSpPr>
        <p:spPr>
          <a:xfrm>
            <a:off x="7324344" y="4434840"/>
            <a:ext cx="777240" cy="219456"/>
          </a:xfrm>
          <a:prstGeom prst="roundRect">
            <a:avLst>
              <a:gd name="adj" fmla="val 50000"/>
            </a:avLst>
          </a:prstGeom>
          <a:solidFill>
            <a:srgbClr val="22C3B0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28" name="Text 21"/>
          <p:cNvSpPr txBox="1"/>
          <p:nvPr/>
        </p:nvSpPr>
        <p:spPr>
          <a:xfrm>
            <a:off x="7324344" y="4434840"/>
            <a:ext cx="777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chemeClr val="tx1"/>
                </a:solidFill>
              </a:rPr>
              <a:t>OUTPUT</a:t>
            </a:r>
            <a:endParaRPr lang="en-US" sz="900" dirty="0"/>
          </a:p>
        </p:txBody>
      </p:sp>
      <p:sp>
        <p:nvSpPr>
          <p:cNvPr id="2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2B3A7A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32</a:t>
            </a:fld>
            <a:endParaRPr 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27432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1"/>
                </a:solidFill>
              </a:rPr>
              <a:t>Appendix: SQL queries (3 of 11)</a:t>
            </a:r>
            <a:endParaRPr lang="en-US" sz="3000" dirty="0"/>
          </a:p>
        </p:txBody>
      </p:sp>
      <p:sp>
        <p:nvSpPr>
          <p:cNvPr id="3" name="Mascot ring"/>
          <p:cNvSpPr/>
          <p:nvPr/>
        </p:nvSpPr>
        <p:spPr>
          <a:xfrm>
            <a:off x="10835640" y="228600"/>
            <a:ext cx="914400" cy="9144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  <a:prstDash val="solid"/>
          </a:ln>
          <a:effectLst>
            <a:outerShdw blurRad="101600" dist="63500" dir="2700000" algn="bl" rotWithShape="0">
              <a:srgbClr val="111A3E">
                <a:alpha val="100000"/>
              </a:srgbClr>
            </a:outerShdw>
          </a:effectLst>
        </p:spPr>
      </p:sp>
      <p:pic>
        <p:nvPicPr>
          <p:cNvPr id="4" name="Image 0" descr="Cartoon masco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45368" y="338328"/>
            <a:ext cx="694944" cy="694944"/>
          </a:xfrm>
          <a:prstGeom prst="rect">
            <a:avLst/>
          </a:prstGeom>
        </p:spPr>
      </p:pic>
      <p:sp>
        <p:nvSpPr>
          <p:cNvPr id="5" name="SQL request card"/>
          <p:cNvSpPr/>
          <p:nvPr/>
        </p:nvSpPr>
        <p:spPr>
          <a:xfrm>
            <a:off x="548640" y="1280160"/>
            <a:ext cx="11109960" cy="2468880"/>
          </a:xfrm>
          <a:prstGeom prst="roundRect">
            <a:avLst>
              <a:gd name="adj" fmla="val 5926"/>
            </a:avLst>
          </a:prstGeom>
          <a:solidFill>
            <a:schemeClr val="bg1"/>
          </a:solidFill>
          <a:ln w="25400">
            <a:solidFill>
              <a:schemeClr val="tx1"/>
            </a:solidFill>
            <a:prstDash val="solid"/>
          </a:ln>
          <a:effectLst>
            <a:outerShdw blurRad="101600" dist="63500" dir="2700000" algn="bl" rotWithShape="0">
              <a:srgbClr val="111A3E">
                <a:alpha val="100000"/>
              </a:srgbClr>
            </a:outerShdw>
          </a:effectLst>
        </p:spPr>
      </p:sp>
      <p:sp>
        <p:nvSpPr>
          <p:cNvPr id="6" name="Chip"/>
          <p:cNvSpPr/>
          <p:nvPr/>
        </p:nvSpPr>
        <p:spPr>
          <a:xfrm>
            <a:off x="731520" y="1408176"/>
            <a:ext cx="1371600" cy="310896"/>
          </a:xfrm>
          <a:prstGeom prst="roundRect">
            <a:avLst>
              <a:gd name="adj" fmla="val 50000"/>
            </a:avLst>
          </a:prstGeom>
          <a:solidFill>
            <a:srgbClr val="FF5A5F"/>
          </a:solidFill>
          <a:ln w="19050">
            <a:solidFill>
              <a:schemeClr val="tx1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31520" y="1408176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chemeClr val="bg1"/>
                </a:solidFill>
              </a:rPr>
              <a:t>REQUEST 05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2240280" y="1371600"/>
            <a:ext cx="9235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chemeClr val="tx2"/>
                </a:solidFill>
              </a:rPr>
              <a:t>Get the products that have the highest and lowest manufacturing costs.</a:t>
            </a:r>
            <a:endParaRPr lang="en-US" sz="1200" dirty="0"/>
          </a:p>
        </p:txBody>
      </p:sp>
      <p:sp>
        <p:nvSpPr>
          <p:cNvPr id="9" name="Query panel"/>
          <p:cNvSpPr/>
          <p:nvPr/>
        </p:nvSpPr>
        <p:spPr>
          <a:xfrm>
            <a:off x="731520" y="1938528"/>
            <a:ext cx="7424928" cy="1673352"/>
          </a:xfrm>
          <a:prstGeom prst="roundRect">
            <a:avLst>
              <a:gd name="adj" fmla="val 5464"/>
            </a:avLst>
          </a:prstGeom>
          <a:solidFill>
            <a:schemeClr val="bg2"/>
          </a:solidFill>
          <a:ln w="12700">
            <a:solidFill>
              <a:schemeClr val="tx1"/>
            </a:solidFill>
            <a:prstDash val="solid"/>
          </a:ln>
        </p:spPr>
      </p:sp>
      <p:pic>
        <p:nvPicPr>
          <p:cNvPr id="10" name="Image 1" descr="SQL query for request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2051737"/>
            <a:ext cx="7242048" cy="1446933"/>
          </a:xfrm>
          <a:prstGeom prst="rect">
            <a:avLst/>
          </a:prstGeom>
        </p:spPr>
      </p:pic>
      <p:sp>
        <p:nvSpPr>
          <p:cNvPr id="11" name="Chip"/>
          <p:cNvSpPr/>
          <p:nvPr/>
        </p:nvSpPr>
        <p:spPr>
          <a:xfrm>
            <a:off x="822960" y="1828800"/>
            <a:ext cx="731520" cy="219456"/>
          </a:xfrm>
          <a:prstGeom prst="roundRect">
            <a:avLst>
              <a:gd name="adj" fmla="val 50000"/>
            </a:avLst>
          </a:prstGeom>
          <a:solidFill>
            <a:srgbClr val="FFC53D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822960" y="1828800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chemeClr val="tx1"/>
                </a:solidFill>
              </a:rPr>
              <a:t>QUERY</a:t>
            </a:r>
            <a:endParaRPr lang="en-US" sz="900" dirty="0"/>
          </a:p>
        </p:txBody>
      </p:sp>
      <p:sp>
        <p:nvSpPr>
          <p:cNvPr id="13" name="Output panel"/>
          <p:cNvSpPr/>
          <p:nvPr/>
        </p:nvSpPr>
        <p:spPr>
          <a:xfrm>
            <a:off x="8293608" y="1938528"/>
            <a:ext cx="3182112" cy="1673352"/>
          </a:xfrm>
          <a:prstGeom prst="roundRect">
            <a:avLst>
              <a:gd name="adj" fmla="val 5464"/>
            </a:avLst>
          </a:prstGeom>
          <a:solidFill>
            <a:schemeClr val="bg2"/>
          </a:solidFill>
          <a:ln w="12700">
            <a:solidFill>
              <a:schemeClr val="tx1"/>
            </a:solidFill>
            <a:prstDash val="solid"/>
          </a:ln>
        </p:spPr>
      </p:sp>
      <p:pic>
        <p:nvPicPr>
          <p:cNvPr id="14" name="Image 2" descr="Output for request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85048" y="2331998"/>
            <a:ext cx="2999232" cy="886413"/>
          </a:xfrm>
          <a:prstGeom prst="rect">
            <a:avLst/>
          </a:prstGeom>
        </p:spPr>
      </p:pic>
      <p:sp>
        <p:nvSpPr>
          <p:cNvPr id="15" name="Chip"/>
          <p:cNvSpPr/>
          <p:nvPr/>
        </p:nvSpPr>
        <p:spPr>
          <a:xfrm>
            <a:off x="8385048" y="1828800"/>
            <a:ext cx="777240" cy="219456"/>
          </a:xfrm>
          <a:prstGeom prst="roundRect">
            <a:avLst>
              <a:gd name="adj" fmla="val 50000"/>
            </a:avLst>
          </a:prstGeom>
          <a:solidFill>
            <a:srgbClr val="22C3B0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6" name="Text 11"/>
          <p:cNvSpPr txBox="1"/>
          <p:nvPr/>
        </p:nvSpPr>
        <p:spPr>
          <a:xfrm>
            <a:off x="8385048" y="1828800"/>
            <a:ext cx="777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chemeClr val="tx1"/>
                </a:solidFill>
              </a:rPr>
              <a:t>OUTPUT</a:t>
            </a:r>
            <a:endParaRPr lang="en-US" sz="900" dirty="0"/>
          </a:p>
        </p:txBody>
      </p:sp>
      <p:sp>
        <p:nvSpPr>
          <p:cNvPr id="17" name="SQL request card"/>
          <p:cNvSpPr/>
          <p:nvPr/>
        </p:nvSpPr>
        <p:spPr>
          <a:xfrm>
            <a:off x="548640" y="3886200"/>
            <a:ext cx="11109960" cy="2423160"/>
          </a:xfrm>
          <a:prstGeom prst="roundRect">
            <a:avLst>
              <a:gd name="adj" fmla="val 6038"/>
            </a:avLst>
          </a:prstGeom>
          <a:solidFill>
            <a:schemeClr val="bg1"/>
          </a:solidFill>
          <a:ln w="25400">
            <a:solidFill>
              <a:schemeClr val="tx1"/>
            </a:solidFill>
            <a:prstDash val="solid"/>
          </a:ln>
          <a:effectLst>
            <a:outerShdw blurRad="101600" dist="63500" dir="2700000" algn="bl" rotWithShape="0">
              <a:srgbClr val="111A3E">
                <a:alpha val="100000"/>
              </a:srgbClr>
            </a:outerShdw>
          </a:effectLst>
        </p:spPr>
      </p:sp>
      <p:sp>
        <p:nvSpPr>
          <p:cNvPr id="18" name="Chip"/>
          <p:cNvSpPr/>
          <p:nvPr/>
        </p:nvSpPr>
        <p:spPr>
          <a:xfrm>
            <a:off x="731520" y="4014216"/>
            <a:ext cx="1371600" cy="310896"/>
          </a:xfrm>
          <a:prstGeom prst="roundRect">
            <a:avLst>
              <a:gd name="adj" fmla="val 50000"/>
            </a:avLst>
          </a:prstGeom>
          <a:solidFill>
            <a:srgbClr val="FF5A5F"/>
          </a:solidFill>
          <a:ln w="19050">
            <a:solidFill>
              <a:schemeClr val="tx1"/>
            </a:solidFill>
            <a:prstDash val="solid"/>
          </a:ln>
        </p:spPr>
      </p:sp>
      <p:sp>
        <p:nvSpPr>
          <p:cNvPr id="19" name="Text 14"/>
          <p:cNvSpPr txBox="1"/>
          <p:nvPr/>
        </p:nvSpPr>
        <p:spPr>
          <a:xfrm>
            <a:off x="731520" y="4014216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chemeClr val="bg1"/>
                </a:solidFill>
              </a:rPr>
              <a:t>REQUEST 06</a:t>
            </a:r>
            <a:endParaRPr lang="en-US" sz="1100" dirty="0"/>
          </a:p>
        </p:txBody>
      </p:sp>
      <p:sp>
        <p:nvSpPr>
          <p:cNvPr id="20" name="Text 15"/>
          <p:cNvSpPr txBox="1"/>
          <p:nvPr/>
        </p:nvSpPr>
        <p:spPr>
          <a:xfrm>
            <a:off x="2240280" y="3977640"/>
            <a:ext cx="9235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chemeClr val="tx2"/>
                </a:solidFill>
              </a:rPr>
              <a:t>Top 5 customers with the highest average pre_invoice_discount_pct for FY2021 in the Indian market.</a:t>
            </a:r>
            <a:endParaRPr lang="en-US" sz="1200" dirty="0"/>
          </a:p>
        </p:txBody>
      </p:sp>
      <p:sp>
        <p:nvSpPr>
          <p:cNvPr id="21" name="Query panel"/>
          <p:cNvSpPr/>
          <p:nvPr/>
        </p:nvSpPr>
        <p:spPr>
          <a:xfrm>
            <a:off x="731520" y="4544568"/>
            <a:ext cx="6364224" cy="1627632"/>
          </a:xfrm>
          <a:prstGeom prst="roundRect">
            <a:avLst>
              <a:gd name="adj" fmla="val 5618"/>
            </a:avLst>
          </a:prstGeom>
          <a:solidFill>
            <a:schemeClr val="bg2"/>
          </a:solidFill>
          <a:ln w="12700">
            <a:solidFill>
              <a:schemeClr val="tx1"/>
            </a:solidFill>
            <a:prstDash val="solid"/>
          </a:ln>
        </p:spPr>
      </p:sp>
      <p:pic>
        <p:nvPicPr>
          <p:cNvPr id="22" name="Image 3" descr="SQL query for request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20312" y="4654296"/>
            <a:ext cx="4186640" cy="1408176"/>
          </a:xfrm>
          <a:prstGeom prst="rect">
            <a:avLst/>
          </a:prstGeom>
        </p:spPr>
      </p:pic>
      <p:sp>
        <p:nvSpPr>
          <p:cNvPr id="23" name="Chip"/>
          <p:cNvSpPr/>
          <p:nvPr/>
        </p:nvSpPr>
        <p:spPr>
          <a:xfrm>
            <a:off x="822960" y="4434840"/>
            <a:ext cx="731520" cy="219456"/>
          </a:xfrm>
          <a:prstGeom prst="roundRect">
            <a:avLst>
              <a:gd name="adj" fmla="val 50000"/>
            </a:avLst>
          </a:prstGeom>
          <a:solidFill>
            <a:srgbClr val="FFC53D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24" name="Text 18"/>
          <p:cNvSpPr txBox="1"/>
          <p:nvPr/>
        </p:nvSpPr>
        <p:spPr>
          <a:xfrm>
            <a:off x="822960" y="4434840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chemeClr val="tx1"/>
                </a:solidFill>
              </a:rPr>
              <a:t>QUERY</a:t>
            </a:r>
            <a:endParaRPr lang="en-US" sz="900" dirty="0"/>
          </a:p>
        </p:txBody>
      </p:sp>
      <p:sp>
        <p:nvSpPr>
          <p:cNvPr id="25" name="Output panel"/>
          <p:cNvSpPr/>
          <p:nvPr/>
        </p:nvSpPr>
        <p:spPr>
          <a:xfrm>
            <a:off x="7232904" y="4544568"/>
            <a:ext cx="4242816" cy="1627632"/>
          </a:xfrm>
          <a:prstGeom prst="roundRect">
            <a:avLst>
              <a:gd name="adj" fmla="val 5618"/>
            </a:avLst>
          </a:prstGeom>
          <a:solidFill>
            <a:schemeClr val="bg2"/>
          </a:solidFill>
          <a:ln w="12700">
            <a:solidFill>
              <a:schemeClr val="tx1"/>
            </a:solidFill>
            <a:prstDash val="solid"/>
          </a:ln>
        </p:spPr>
      </p:sp>
      <p:pic>
        <p:nvPicPr>
          <p:cNvPr id="26" name="Image 4" descr="Output for request 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36088" y="4654296"/>
            <a:ext cx="3836448" cy="1408176"/>
          </a:xfrm>
          <a:prstGeom prst="rect">
            <a:avLst/>
          </a:prstGeom>
        </p:spPr>
      </p:pic>
      <p:sp>
        <p:nvSpPr>
          <p:cNvPr id="27" name="Chip"/>
          <p:cNvSpPr/>
          <p:nvPr/>
        </p:nvSpPr>
        <p:spPr>
          <a:xfrm>
            <a:off x="7324344" y="4434840"/>
            <a:ext cx="777240" cy="219456"/>
          </a:xfrm>
          <a:prstGeom prst="roundRect">
            <a:avLst>
              <a:gd name="adj" fmla="val 50000"/>
            </a:avLst>
          </a:prstGeom>
          <a:solidFill>
            <a:srgbClr val="22C3B0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28" name="Text 21"/>
          <p:cNvSpPr txBox="1"/>
          <p:nvPr/>
        </p:nvSpPr>
        <p:spPr>
          <a:xfrm>
            <a:off x="7324344" y="4434840"/>
            <a:ext cx="777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chemeClr val="tx1"/>
                </a:solidFill>
              </a:rPr>
              <a:t>OUTPUT</a:t>
            </a:r>
            <a:endParaRPr lang="en-US" sz="900" dirty="0"/>
          </a:p>
        </p:txBody>
      </p:sp>
      <p:sp>
        <p:nvSpPr>
          <p:cNvPr id="2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2B3A7A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33</a:t>
            </a:fld>
            <a:endParaRPr lang="en-U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27432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1"/>
                </a:solidFill>
              </a:rPr>
              <a:t>Appendix: SQL queries (4 of 11)</a:t>
            </a:r>
            <a:endParaRPr lang="en-US" sz="3000" dirty="0"/>
          </a:p>
        </p:txBody>
      </p:sp>
      <p:sp>
        <p:nvSpPr>
          <p:cNvPr id="3" name="Mascot ring"/>
          <p:cNvSpPr/>
          <p:nvPr/>
        </p:nvSpPr>
        <p:spPr>
          <a:xfrm>
            <a:off x="10835640" y="228600"/>
            <a:ext cx="914400" cy="9144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  <a:prstDash val="solid"/>
          </a:ln>
          <a:effectLst>
            <a:outerShdw blurRad="101600" dist="63500" dir="2700000" algn="bl" rotWithShape="0">
              <a:srgbClr val="111A3E">
                <a:alpha val="100000"/>
              </a:srgbClr>
            </a:outerShdw>
          </a:effectLst>
        </p:spPr>
      </p:sp>
      <p:pic>
        <p:nvPicPr>
          <p:cNvPr id="4" name="Image 0" descr="Cartoon masco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45368" y="338328"/>
            <a:ext cx="694944" cy="694944"/>
          </a:xfrm>
          <a:prstGeom prst="rect">
            <a:avLst/>
          </a:prstGeom>
        </p:spPr>
      </p:pic>
      <p:sp>
        <p:nvSpPr>
          <p:cNvPr id="5" name="SQL request card"/>
          <p:cNvSpPr/>
          <p:nvPr/>
        </p:nvSpPr>
        <p:spPr>
          <a:xfrm>
            <a:off x="548640" y="1280160"/>
            <a:ext cx="11109960" cy="2468880"/>
          </a:xfrm>
          <a:prstGeom prst="roundRect">
            <a:avLst>
              <a:gd name="adj" fmla="val 5926"/>
            </a:avLst>
          </a:prstGeom>
          <a:solidFill>
            <a:schemeClr val="bg1"/>
          </a:solidFill>
          <a:ln w="25400">
            <a:solidFill>
              <a:schemeClr val="tx1"/>
            </a:solidFill>
            <a:prstDash val="solid"/>
          </a:ln>
          <a:effectLst>
            <a:outerShdw blurRad="101600" dist="63500" dir="2700000" algn="bl" rotWithShape="0">
              <a:srgbClr val="111A3E">
                <a:alpha val="100000"/>
              </a:srgbClr>
            </a:outerShdw>
          </a:effectLst>
        </p:spPr>
      </p:sp>
      <p:sp>
        <p:nvSpPr>
          <p:cNvPr id="6" name="Chip"/>
          <p:cNvSpPr/>
          <p:nvPr/>
        </p:nvSpPr>
        <p:spPr>
          <a:xfrm>
            <a:off x="731520" y="1408176"/>
            <a:ext cx="1371600" cy="310896"/>
          </a:xfrm>
          <a:prstGeom prst="roundRect">
            <a:avLst>
              <a:gd name="adj" fmla="val 50000"/>
            </a:avLst>
          </a:prstGeom>
          <a:solidFill>
            <a:srgbClr val="FF5A5F"/>
          </a:solidFill>
          <a:ln w="19050">
            <a:solidFill>
              <a:schemeClr val="tx1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31520" y="1408176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chemeClr val="bg1"/>
                </a:solidFill>
              </a:rPr>
              <a:t>REQUEST 07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2240280" y="1371600"/>
            <a:ext cx="9235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chemeClr val="tx2"/>
                </a:solidFill>
              </a:rPr>
              <a:t>Complete report of the gross sales amount for the customer "Atliq Exclusive" for each month.</a:t>
            </a:r>
            <a:endParaRPr lang="en-US" sz="1200" dirty="0"/>
          </a:p>
        </p:txBody>
      </p:sp>
      <p:sp>
        <p:nvSpPr>
          <p:cNvPr id="9" name="Query panel"/>
          <p:cNvSpPr/>
          <p:nvPr/>
        </p:nvSpPr>
        <p:spPr>
          <a:xfrm>
            <a:off x="731520" y="1938528"/>
            <a:ext cx="7424928" cy="1673352"/>
          </a:xfrm>
          <a:prstGeom prst="roundRect">
            <a:avLst>
              <a:gd name="adj" fmla="val 5464"/>
            </a:avLst>
          </a:prstGeom>
          <a:solidFill>
            <a:schemeClr val="bg2"/>
          </a:solidFill>
          <a:ln w="12700">
            <a:solidFill>
              <a:schemeClr val="tx1"/>
            </a:solidFill>
            <a:prstDash val="solid"/>
          </a:ln>
        </p:spPr>
      </p:sp>
      <p:pic>
        <p:nvPicPr>
          <p:cNvPr id="10" name="Image 1" descr="SQL query for request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94384" y="2048256"/>
            <a:ext cx="4699200" cy="1453896"/>
          </a:xfrm>
          <a:prstGeom prst="rect">
            <a:avLst/>
          </a:prstGeom>
        </p:spPr>
      </p:pic>
      <p:sp>
        <p:nvSpPr>
          <p:cNvPr id="11" name="Chip"/>
          <p:cNvSpPr/>
          <p:nvPr/>
        </p:nvSpPr>
        <p:spPr>
          <a:xfrm>
            <a:off x="822960" y="1828800"/>
            <a:ext cx="731520" cy="219456"/>
          </a:xfrm>
          <a:prstGeom prst="roundRect">
            <a:avLst>
              <a:gd name="adj" fmla="val 50000"/>
            </a:avLst>
          </a:prstGeom>
          <a:solidFill>
            <a:srgbClr val="FFC53D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822960" y="1828800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chemeClr val="tx1"/>
                </a:solidFill>
              </a:rPr>
              <a:t>QUERY</a:t>
            </a:r>
            <a:endParaRPr lang="en-US" sz="900" dirty="0"/>
          </a:p>
        </p:txBody>
      </p:sp>
      <p:sp>
        <p:nvSpPr>
          <p:cNvPr id="13" name="Output panel"/>
          <p:cNvSpPr/>
          <p:nvPr/>
        </p:nvSpPr>
        <p:spPr>
          <a:xfrm>
            <a:off x="8293608" y="1938528"/>
            <a:ext cx="3182112" cy="1673352"/>
          </a:xfrm>
          <a:prstGeom prst="roundRect">
            <a:avLst>
              <a:gd name="adj" fmla="val 5464"/>
            </a:avLst>
          </a:prstGeom>
          <a:solidFill>
            <a:schemeClr val="bg2"/>
          </a:solidFill>
          <a:ln w="12700">
            <a:solidFill>
              <a:schemeClr val="tx1"/>
            </a:solidFill>
            <a:prstDash val="solid"/>
          </a:ln>
        </p:spPr>
      </p:sp>
      <p:pic>
        <p:nvPicPr>
          <p:cNvPr id="14" name="Image 2" descr="Output for request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97077" y="2048256"/>
            <a:ext cx="975174" cy="1453896"/>
          </a:xfrm>
          <a:prstGeom prst="rect">
            <a:avLst/>
          </a:prstGeom>
        </p:spPr>
      </p:pic>
      <p:sp>
        <p:nvSpPr>
          <p:cNvPr id="15" name="Chip"/>
          <p:cNvSpPr/>
          <p:nvPr/>
        </p:nvSpPr>
        <p:spPr>
          <a:xfrm>
            <a:off x="8385048" y="1828800"/>
            <a:ext cx="777240" cy="219456"/>
          </a:xfrm>
          <a:prstGeom prst="roundRect">
            <a:avLst>
              <a:gd name="adj" fmla="val 50000"/>
            </a:avLst>
          </a:prstGeom>
          <a:solidFill>
            <a:srgbClr val="22C3B0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6" name="Text 11"/>
          <p:cNvSpPr txBox="1"/>
          <p:nvPr/>
        </p:nvSpPr>
        <p:spPr>
          <a:xfrm>
            <a:off x="8385048" y="1828800"/>
            <a:ext cx="777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chemeClr val="tx1"/>
                </a:solidFill>
              </a:rPr>
              <a:t>OUTPUT</a:t>
            </a:r>
            <a:endParaRPr lang="en-US" sz="900" dirty="0"/>
          </a:p>
        </p:txBody>
      </p:sp>
      <p:sp>
        <p:nvSpPr>
          <p:cNvPr id="17" name="SQL request card"/>
          <p:cNvSpPr/>
          <p:nvPr/>
        </p:nvSpPr>
        <p:spPr>
          <a:xfrm>
            <a:off x="548640" y="3886200"/>
            <a:ext cx="11109960" cy="2423160"/>
          </a:xfrm>
          <a:prstGeom prst="roundRect">
            <a:avLst>
              <a:gd name="adj" fmla="val 6038"/>
            </a:avLst>
          </a:prstGeom>
          <a:solidFill>
            <a:schemeClr val="bg1"/>
          </a:solidFill>
          <a:ln w="25400">
            <a:solidFill>
              <a:schemeClr val="tx1"/>
            </a:solidFill>
            <a:prstDash val="solid"/>
          </a:ln>
          <a:effectLst>
            <a:outerShdw blurRad="101600" dist="63500" dir="2700000" algn="bl" rotWithShape="0">
              <a:srgbClr val="111A3E">
                <a:alpha val="100000"/>
              </a:srgbClr>
            </a:outerShdw>
          </a:effectLst>
        </p:spPr>
      </p:sp>
      <p:sp>
        <p:nvSpPr>
          <p:cNvPr id="18" name="Chip"/>
          <p:cNvSpPr/>
          <p:nvPr/>
        </p:nvSpPr>
        <p:spPr>
          <a:xfrm>
            <a:off x="731520" y="4014216"/>
            <a:ext cx="1371600" cy="310896"/>
          </a:xfrm>
          <a:prstGeom prst="roundRect">
            <a:avLst>
              <a:gd name="adj" fmla="val 50000"/>
            </a:avLst>
          </a:prstGeom>
          <a:solidFill>
            <a:srgbClr val="FF5A5F"/>
          </a:solidFill>
          <a:ln w="19050">
            <a:solidFill>
              <a:schemeClr val="tx1"/>
            </a:solidFill>
            <a:prstDash val="solid"/>
          </a:ln>
        </p:spPr>
      </p:sp>
      <p:sp>
        <p:nvSpPr>
          <p:cNvPr id="19" name="Text 14"/>
          <p:cNvSpPr txBox="1"/>
          <p:nvPr/>
        </p:nvSpPr>
        <p:spPr>
          <a:xfrm>
            <a:off x="731520" y="4014216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chemeClr val="bg1"/>
                </a:solidFill>
              </a:rPr>
              <a:t>REQUEST 08</a:t>
            </a:r>
            <a:endParaRPr lang="en-US" sz="1100" dirty="0"/>
          </a:p>
        </p:txBody>
      </p:sp>
      <p:sp>
        <p:nvSpPr>
          <p:cNvPr id="20" name="Text 15"/>
          <p:cNvSpPr txBox="1"/>
          <p:nvPr/>
        </p:nvSpPr>
        <p:spPr>
          <a:xfrm>
            <a:off x="2240280" y="3977640"/>
            <a:ext cx="9235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chemeClr val="tx2"/>
                </a:solidFill>
              </a:rPr>
              <a:t>In which quarter of 2020 was the maximum total_sold_quantity, sorted by total_sold_quantity?</a:t>
            </a:r>
            <a:endParaRPr lang="en-US" sz="1200" dirty="0"/>
          </a:p>
        </p:txBody>
      </p:sp>
      <p:sp>
        <p:nvSpPr>
          <p:cNvPr id="21" name="Query panel"/>
          <p:cNvSpPr/>
          <p:nvPr/>
        </p:nvSpPr>
        <p:spPr>
          <a:xfrm>
            <a:off x="731520" y="4544568"/>
            <a:ext cx="6364224" cy="1627632"/>
          </a:xfrm>
          <a:prstGeom prst="roundRect">
            <a:avLst>
              <a:gd name="adj" fmla="val 5618"/>
            </a:avLst>
          </a:prstGeom>
          <a:solidFill>
            <a:schemeClr val="bg2"/>
          </a:solidFill>
          <a:ln w="12700">
            <a:solidFill>
              <a:schemeClr val="tx1"/>
            </a:solidFill>
            <a:prstDash val="solid"/>
          </a:ln>
        </p:spPr>
      </p:sp>
      <p:pic>
        <p:nvPicPr>
          <p:cNvPr id="22" name="Image 3" descr="SQL query for request 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94245" y="4654296"/>
            <a:ext cx="3638774" cy="1408176"/>
          </a:xfrm>
          <a:prstGeom prst="rect">
            <a:avLst/>
          </a:prstGeom>
        </p:spPr>
      </p:pic>
      <p:sp>
        <p:nvSpPr>
          <p:cNvPr id="23" name="Chip"/>
          <p:cNvSpPr/>
          <p:nvPr/>
        </p:nvSpPr>
        <p:spPr>
          <a:xfrm>
            <a:off x="822960" y="4434840"/>
            <a:ext cx="731520" cy="219456"/>
          </a:xfrm>
          <a:prstGeom prst="roundRect">
            <a:avLst>
              <a:gd name="adj" fmla="val 50000"/>
            </a:avLst>
          </a:prstGeom>
          <a:solidFill>
            <a:srgbClr val="FFC53D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24" name="Text 18"/>
          <p:cNvSpPr txBox="1"/>
          <p:nvPr/>
        </p:nvSpPr>
        <p:spPr>
          <a:xfrm>
            <a:off x="822960" y="4434840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chemeClr val="tx1"/>
                </a:solidFill>
              </a:rPr>
              <a:t>QUERY</a:t>
            </a:r>
            <a:endParaRPr lang="en-US" sz="900" dirty="0"/>
          </a:p>
        </p:txBody>
      </p:sp>
      <p:sp>
        <p:nvSpPr>
          <p:cNvPr id="25" name="Output panel"/>
          <p:cNvSpPr/>
          <p:nvPr/>
        </p:nvSpPr>
        <p:spPr>
          <a:xfrm>
            <a:off x="7232904" y="4544568"/>
            <a:ext cx="4242816" cy="1627632"/>
          </a:xfrm>
          <a:prstGeom prst="roundRect">
            <a:avLst>
              <a:gd name="adj" fmla="val 5618"/>
            </a:avLst>
          </a:prstGeom>
          <a:solidFill>
            <a:schemeClr val="bg2"/>
          </a:solidFill>
          <a:ln w="12700">
            <a:solidFill>
              <a:schemeClr val="tx1"/>
            </a:solidFill>
            <a:prstDash val="solid"/>
          </a:ln>
        </p:spPr>
      </p:sp>
      <p:pic>
        <p:nvPicPr>
          <p:cNvPr id="26" name="Image 4" descr="Output for request 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40016" y="4654296"/>
            <a:ext cx="2228592" cy="1408176"/>
          </a:xfrm>
          <a:prstGeom prst="rect">
            <a:avLst/>
          </a:prstGeom>
        </p:spPr>
      </p:pic>
      <p:sp>
        <p:nvSpPr>
          <p:cNvPr id="27" name="Chip"/>
          <p:cNvSpPr/>
          <p:nvPr/>
        </p:nvSpPr>
        <p:spPr>
          <a:xfrm>
            <a:off x="7324344" y="4434840"/>
            <a:ext cx="777240" cy="219456"/>
          </a:xfrm>
          <a:prstGeom prst="roundRect">
            <a:avLst>
              <a:gd name="adj" fmla="val 50000"/>
            </a:avLst>
          </a:prstGeom>
          <a:solidFill>
            <a:srgbClr val="22C3B0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28" name="Text 21"/>
          <p:cNvSpPr txBox="1"/>
          <p:nvPr/>
        </p:nvSpPr>
        <p:spPr>
          <a:xfrm>
            <a:off x="7324344" y="4434840"/>
            <a:ext cx="777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chemeClr val="tx1"/>
                </a:solidFill>
              </a:rPr>
              <a:t>OUTPUT</a:t>
            </a:r>
            <a:endParaRPr lang="en-US" sz="900" dirty="0"/>
          </a:p>
        </p:txBody>
      </p:sp>
      <p:sp>
        <p:nvSpPr>
          <p:cNvPr id="2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2B3A7A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34</a:t>
            </a:fld>
            <a:endParaRPr lang="en-US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27432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1"/>
                </a:solidFill>
              </a:rPr>
              <a:t>Appendix: SQL queries (5 of 11)</a:t>
            </a:r>
            <a:endParaRPr lang="en-US" sz="3000" dirty="0"/>
          </a:p>
        </p:txBody>
      </p:sp>
      <p:sp>
        <p:nvSpPr>
          <p:cNvPr id="3" name="Mascot ring"/>
          <p:cNvSpPr/>
          <p:nvPr/>
        </p:nvSpPr>
        <p:spPr>
          <a:xfrm>
            <a:off x="10835640" y="228600"/>
            <a:ext cx="914400" cy="9144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  <a:prstDash val="solid"/>
          </a:ln>
          <a:effectLst>
            <a:outerShdw blurRad="101600" dist="63500" dir="2700000" algn="bl" rotWithShape="0">
              <a:srgbClr val="111A3E">
                <a:alpha val="100000"/>
              </a:srgbClr>
            </a:outerShdw>
          </a:effectLst>
        </p:spPr>
      </p:sp>
      <p:pic>
        <p:nvPicPr>
          <p:cNvPr id="4" name="Image 0" descr="Cartoon masco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45368" y="338328"/>
            <a:ext cx="694944" cy="694944"/>
          </a:xfrm>
          <a:prstGeom prst="rect">
            <a:avLst/>
          </a:prstGeom>
        </p:spPr>
      </p:pic>
      <p:sp>
        <p:nvSpPr>
          <p:cNvPr id="5" name="SQL request card"/>
          <p:cNvSpPr/>
          <p:nvPr/>
        </p:nvSpPr>
        <p:spPr>
          <a:xfrm>
            <a:off x="548640" y="1280160"/>
            <a:ext cx="11109960" cy="5029200"/>
          </a:xfrm>
          <a:prstGeom prst="roundRect">
            <a:avLst>
              <a:gd name="adj" fmla="val 2909"/>
            </a:avLst>
          </a:prstGeom>
          <a:solidFill>
            <a:schemeClr val="bg1"/>
          </a:solidFill>
          <a:ln w="25400">
            <a:solidFill>
              <a:schemeClr val="tx1"/>
            </a:solidFill>
            <a:prstDash val="solid"/>
          </a:ln>
          <a:effectLst>
            <a:outerShdw blurRad="101600" dist="63500" dir="2700000" algn="bl" rotWithShape="0">
              <a:srgbClr val="111A3E">
                <a:alpha val="100000"/>
              </a:srgbClr>
            </a:outerShdw>
          </a:effectLst>
        </p:spPr>
      </p:sp>
      <p:sp>
        <p:nvSpPr>
          <p:cNvPr id="6" name="Chip"/>
          <p:cNvSpPr/>
          <p:nvPr/>
        </p:nvSpPr>
        <p:spPr>
          <a:xfrm>
            <a:off x="731520" y="1408176"/>
            <a:ext cx="1371600" cy="310896"/>
          </a:xfrm>
          <a:prstGeom prst="roundRect">
            <a:avLst>
              <a:gd name="adj" fmla="val 50000"/>
            </a:avLst>
          </a:prstGeom>
          <a:solidFill>
            <a:srgbClr val="FF5A5F"/>
          </a:solidFill>
          <a:ln w="19050">
            <a:solidFill>
              <a:schemeClr val="tx1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31520" y="1408176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chemeClr val="bg1"/>
                </a:solidFill>
              </a:rPr>
              <a:t>REQUEST 09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2240280" y="1371600"/>
            <a:ext cx="9235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chemeClr val="tx2"/>
                </a:solidFill>
              </a:rPr>
              <a:t>Which channel helped to bring more gross sales in the fiscal year 2021, and the percentage of contribution?</a:t>
            </a:r>
            <a:endParaRPr lang="en-US" sz="1200" dirty="0"/>
          </a:p>
        </p:txBody>
      </p:sp>
      <p:sp>
        <p:nvSpPr>
          <p:cNvPr id="9" name="Query panel"/>
          <p:cNvSpPr/>
          <p:nvPr/>
        </p:nvSpPr>
        <p:spPr>
          <a:xfrm>
            <a:off x="731520" y="1938528"/>
            <a:ext cx="5303520" cy="4233672"/>
          </a:xfrm>
          <a:prstGeom prst="roundRect">
            <a:avLst>
              <a:gd name="adj" fmla="val 2160"/>
            </a:avLst>
          </a:prstGeom>
          <a:solidFill>
            <a:schemeClr val="bg2"/>
          </a:solidFill>
          <a:ln w="12700">
            <a:solidFill>
              <a:schemeClr val="tx1"/>
            </a:solidFill>
            <a:prstDash val="solid"/>
          </a:ln>
        </p:spPr>
      </p:sp>
      <p:pic>
        <p:nvPicPr>
          <p:cNvPr id="10" name="Image 1" descr="SQL query for request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99985" y="2048256"/>
            <a:ext cx="3966590" cy="4014216"/>
          </a:xfrm>
          <a:prstGeom prst="rect">
            <a:avLst/>
          </a:prstGeom>
        </p:spPr>
      </p:pic>
      <p:sp>
        <p:nvSpPr>
          <p:cNvPr id="11" name="Chip"/>
          <p:cNvSpPr/>
          <p:nvPr/>
        </p:nvSpPr>
        <p:spPr>
          <a:xfrm>
            <a:off x="822960" y="1828800"/>
            <a:ext cx="731520" cy="219456"/>
          </a:xfrm>
          <a:prstGeom prst="roundRect">
            <a:avLst>
              <a:gd name="adj" fmla="val 50000"/>
            </a:avLst>
          </a:prstGeom>
          <a:solidFill>
            <a:srgbClr val="FFC53D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822960" y="1828800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chemeClr val="tx1"/>
                </a:solidFill>
              </a:rPr>
              <a:t>QUERY</a:t>
            </a:r>
            <a:endParaRPr lang="en-US" sz="900" dirty="0"/>
          </a:p>
        </p:txBody>
      </p:sp>
      <p:sp>
        <p:nvSpPr>
          <p:cNvPr id="13" name="Output panel"/>
          <p:cNvSpPr/>
          <p:nvPr/>
        </p:nvSpPr>
        <p:spPr>
          <a:xfrm>
            <a:off x="6172200" y="1938528"/>
            <a:ext cx="5303520" cy="4233672"/>
          </a:xfrm>
          <a:prstGeom prst="roundRect">
            <a:avLst>
              <a:gd name="adj" fmla="val 2160"/>
            </a:avLst>
          </a:prstGeom>
          <a:solidFill>
            <a:schemeClr val="bg2"/>
          </a:solidFill>
          <a:ln w="12700">
            <a:solidFill>
              <a:schemeClr val="tx1"/>
            </a:solidFill>
            <a:prstDash val="solid"/>
          </a:ln>
        </p:spPr>
      </p:sp>
      <p:pic>
        <p:nvPicPr>
          <p:cNvPr id="14" name="Image 2" descr="Output for request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63640" y="3045517"/>
            <a:ext cx="5120640" cy="2019695"/>
          </a:xfrm>
          <a:prstGeom prst="rect">
            <a:avLst/>
          </a:prstGeom>
        </p:spPr>
      </p:pic>
      <p:sp>
        <p:nvSpPr>
          <p:cNvPr id="15" name="Chip"/>
          <p:cNvSpPr/>
          <p:nvPr/>
        </p:nvSpPr>
        <p:spPr>
          <a:xfrm>
            <a:off x="6263640" y="1828800"/>
            <a:ext cx="777240" cy="219456"/>
          </a:xfrm>
          <a:prstGeom prst="roundRect">
            <a:avLst>
              <a:gd name="adj" fmla="val 50000"/>
            </a:avLst>
          </a:prstGeom>
          <a:solidFill>
            <a:srgbClr val="22C3B0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6" name="Text 11"/>
          <p:cNvSpPr txBox="1"/>
          <p:nvPr/>
        </p:nvSpPr>
        <p:spPr>
          <a:xfrm>
            <a:off x="6263640" y="1828800"/>
            <a:ext cx="777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chemeClr val="tx1"/>
                </a:solidFill>
              </a:rPr>
              <a:t>OUTPUT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2B3A7A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35</a:t>
            </a:fld>
            <a:endParaRPr lang="en-US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27432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1"/>
                </a:solidFill>
              </a:rPr>
              <a:t>Appendix: SQL queries (6 of 11)</a:t>
            </a:r>
            <a:endParaRPr lang="en-US" sz="3000" dirty="0"/>
          </a:p>
        </p:txBody>
      </p:sp>
      <p:sp>
        <p:nvSpPr>
          <p:cNvPr id="3" name="Mascot ring"/>
          <p:cNvSpPr/>
          <p:nvPr/>
        </p:nvSpPr>
        <p:spPr>
          <a:xfrm>
            <a:off x="10835640" y="228600"/>
            <a:ext cx="914400" cy="9144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  <a:prstDash val="solid"/>
          </a:ln>
          <a:effectLst>
            <a:outerShdw blurRad="101600" dist="63500" dir="2700000" algn="bl" rotWithShape="0">
              <a:srgbClr val="111A3E">
                <a:alpha val="100000"/>
              </a:srgbClr>
            </a:outerShdw>
          </a:effectLst>
        </p:spPr>
      </p:sp>
      <p:pic>
        <p:nvPicPr>
          <p:cNvPr id="4" name="Image 0" descr="Cartoon masco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45368" y="338328"/>
            <a:ext cx="694944" cy="694944"/>
          </a:xfrm>
          <a:prstGeom prst="rect">
            <a:avLst/>
          </a:prstGeom>
        </p:spPr>
      </p:pic>
      <p:sp>
        <p:nvSpPr>
          <p:cNvPr id="5" name="SQL request card"/>
          <p:cNvSpPr/>
          <p:nvPr/>
        </p:nvSpPr>
        <p:spPr>
          <a:xfrm>
            <a:off x="548640" y="1280160"/>
            <a:ext cx="11109960" cy="5029200"/>
          </a:xfrm>
          <a:prstGeom prst="roundRect">
            <a:avLst>
              <a:gd name="adj" fmla="val 2909"/>
            </a:avLst>
          </a:prstGeom>
          <a:solidFill>
            <a:schemeClr val="bg1"/>
          </a:solidFill>
          <a:ln w="25400">
            <a:solidFill>
              <a:schemeClr val="tx1"/>
            </a:solidFill>
            <a:prstDash val="solid"/>
          </a:ln>
          <a:effectLst>
            <a:outerShdw blurRad="101600" dist="63500" dir="2700000" algn="bl" rotWithShape="0">
              <a:srgbClr val="111A3E">
                <a:alpha val="100000"/>
              </a:srgbClr>
            </a:outerShdw>
          </a:effectLst>
        </p:spPr>
      </p:sp>
      <p:sp>
        <p:nvSpPr>
          <p:cNvPr id="6" name="Chip"/>
          <p:cNvSpPr/>
          <p:nvPr/>
        </p:nvSpPr>
        <p:spPr>
          <a:xfrm>
            <a:off x="731520" y="1408176"/>
            <a:ext cx="1371600" cy="310896"/>
          </a:xfrm>
          <a:prstGeom prst="roundRect">
            <a:avLst>
              <a:gd name="adj" fmla="val 50000"/>
            </a:avLst>
          </a:prstGeom>
          <a:solidFill>
            <a:srgbClr val="FF5A5F"/>
          </a:solidFill>
          <a:ln w="19050">
            <a:solidFill>
              <a:schemeClr val="tx1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31520" y="1408176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chemeClr val="bg1"/>
                </a:solidFill>
              </a:rPr>
              <a:t>REQUEST 10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2240280" y="1371600"/>
            <a:ext cx="9235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chemeClr val="tx2"/>
                </a:solidFill>
              </a:rPr>
              <a:t>Get the top 3 products in each division with the highest total_sold_quantity in fiscal_year 2021.</a:t>
            </a:r>
            <a:endParaRPr lang="en-US" sz="1200" dirty="0"/>
          </a:p>
        </p:txBody>
      </p:sp>
      <p:sp>
        <p:nvSpPr>
          <p:cNvPr id="9" name="Query panel"/>
          <p:cNvSpPr/>
          <p:nvPr/>
        </p:nvSpPr>
        <p:spPr>
          <a:xfrm>
            <a:off x="731520" y="1938528"/>
            <a:ext cx="6364224" cy="4233672"/>
          </a:xfrm>
          <a:prstGeom prst="roundRect">
            <a:avLst>
              <a:gd name="adj" fmla="val 2160"/>
            </a:avLst>
          </a:prstGeom>
          <a:solidFill>
            <a:schemeClr val="bg2"/>
          </a:solidFill>
          <a:ln w="12700">
            <a:solidFill>
              <a:schemeClr val="tx1"/>
            </a:solidFill>
            <a:prstDash val="solid"/>
          </a:ln>
        </p:spPr>
      </p:sp>
      <p:pic>
        <p:nvPicPr>
          <p:cNvPr id="10" name="Image 1" descr="SQL query for request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2659176"/>
            <a:ext cx="6181344" cy="2792377"/>
          </a:xfrm>
          <a:prstGeom prst="rect">
            <a:avLst/>
          </a:prstGeom>
        </p:spPr>
      </p:pic>
      <p:sp>
        <p:nvSpPr>
          <p:cNvPr id="11" name="Chip"/>
          <p:cNvSpPr/>
          <p:nvPr/>
        </p:nvSpPr>
        <p:spPr>
          <a:xfrm>
            <a:off x="822960" y="1828800"/>
            <a:ext cx="731520" cy="219456"/>
          </a:xfrm>
          <a:prstGeom prst="roundRect">
            <a:avLst>
              <a:gd name="adj" fmla="val 50000"/>
            </a:avLst>
          </a:prstGeom>
          <a:solidFill>
            <a:srgbClr val="FFC53D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822960" y="1828800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chemeClr val="tx1"/>
                </a:solidFill>
              </a:rPr>
              <a:t>QUERY</a:t>
            </a:r>
            <a:endParaRPr lang="en-US" sz="900" dirty="0"/>
          </a:p>
        </p:txBody>
      </p:sp>
      <p:sp>
        <p:nvSpPr>
          <p:cNvPr id="13" name="Output panel"/>
          <p:cNvSpPr/>
          <p:nvPr/>
        </p:nvSpPr>
        <p:spPr>
          <a:xfrm>
            <a:off x="7232904" y="1938528"/>
            <a:ext cx="4242816" cy="4233672"/>
          </a:xfrm>
          <a:prstGeom prst="roundRect">
            <a:avLst>
              <a:gd name="adj" fmla="val 2160"/>
            </a:avLst>
          </a:prstGeom>
          <a:solidFill>
            <a:schemeClr val="bg2"/>
          </a:solidFill>
          <a:ln w="12700">
            <a:solidFill>
              <a:schemeClr val="tx1"/>
            </a:solidFill>
            <a:prstDash val="solid"/>
          </a:ln>
        </p:spPr>
      </p:sp>
      <p:pic>
        <p:nvPicPr>
          <p:cNvPr id="14" name="Image 2" descr="Output for request 1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24344" y="3197241"/>
            <a:ext cx="4059936" cy="1716246"/>
          </a:xfrm>
          <a:prstGeom prst="rect">
            <a:avLst/>
          </a:prstGeom>
        </p:spPr>
      </p:pic>
      <p:sp>
        <p:nvSpPr>
          <p:cNvPr id="15" name="Chip"/>
          <p:cNvSpPr/>
          <p:nvPr/>
        </p:nvSpPr>
        <p:spPr>
          <a:xfrm>
            <a:off x="7324344" y="1828800"/>
            <a:ext cx="777240" cy="219456"/>
          </a:xfrm>
          <a:prstGeom prst="roundRect">
            <a:avLst>
              <a:gd name="adj" fmla="val 50000"/>
            </a:avLst>
          </a:prstGeom>
          <a:solidFill>
            <a:srgbClr val="22C3B0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6" name="Text 11"/>
          <p:cNvSpPr txBox="1"/>
          <p:nvPr/>
        </p:nvSpPr>
        <p:spPr>
          <a:xfrm>
            <a:off x="7324344" y="1828800"/>
            <a:ext cx="777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chemeClr val="tx1"/>
                </a:solidFill>
              </a:rPr>
              <a:t>OUTPUT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2B3A7A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36</a:t>
            </a:fld>
            <a:endParaRPr lang="en-US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27432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1"/>
                </a:solidFill>
              </a:rPr>
              <a:t>Appendix: SQL queries (7 of 11)</a:t>
            </a:r>
            <a:endParaRPr lang="en-US" sz="3000" dirty="0"/>
          </a:p>
        </p:txBody>
      </p:sp>
      <p:sp>
        <p:nvSpPr>
          <p:cNvPr id="3" name="Mascot ring"/>
          <p:cNvSpPr/>
          <p:nvPr/>
        </p:nvSpPr>
        <p:spPr>
          <a:xfrm>
            <a:off x="10835640" y="228600"/>
            <a:ext cx="914400" cy="9144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  <a:prstDash val="solid"/>
          </a:ln>
          <a:effectLst>
            <a:outerShdw blurRad="101600" dist="63500" dir="2700000" algn="bl" rotWithShape="0">
              <a:srgbClr val="111A3E">
                <a:alpha val="100000"/>
              </a:srgbClr>
            </a:outerShdw>
          </a:effectLst>
        </p:spPr>
      </p:sp>
      <p:pic>
        <p:nvPicPr>
          <p:cNvPr id="4" name="Image 0" descr="Cartoon masco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45368" y="338328"/>
            <a:ext cx="694944" cy="694944"/>
          </a:xfrm>
          <a:prstGeom prst="rect">
            <a:avLst/>
          </a:prstGeom>
        </p:spPr>
      </p:pic>
      <p:sp>
        <p:nvSpPr>
          <p:cNvPr id="5" name="SQL request card"/>
          <p:cNvSpPr/>
          <p:nvPr/>
        </p:nvSpPr>
        <p:spPr>
          <a:xfrm>
            <a:off x="548640" y="1280160"/>
            <a:ext cx="7589520" cy="2468880"/>
          </a:xfrm>
          <a:prstGeom prst="roundRect">
            <a:avLst>
              <a:gd name="adj" fmla="val 5926"/>
            </a:avLst>
          </a:prstGeom>
          <a:solidFill>
            <a:schemeClr val="bg1"/>
          </a:solidFill>
          <a:ln w="25400">
            <a:solidFill>
              <a:schemeClr val="tx1"/>
            </a:solidFill>
            <a:prstDash val="solid"/>
          </a:ln>
          <a:effectLst>
            <a:outerShdw blurRad="101600" dist="63500" dir="2700000" algn="bl" rotWithShape="0">
              <a:srgbClr val="111A3E">
                <a:alpha val="100000"/>
              </a:srgbClr>
            </a:outerShdw>
          </a:effectLst>
        </p:spPr>
      </p:sp>
      <p:sp>
        <p:nvSpPr>
          <p:cNvPr id="6" name="Chip"/>
          <p:cNvSpPr/>
          <p:nvPr/>
        </p:nvSpPr>
        <p:spPr>
          <a:xfrm>
            <a:off x="731520" y="1408176"/>
            <a:ext cx="1371600" cy="310896"/>
          </a:xfrm>
          <a:prstGeom prst="roundRect">
            <a:avLst>
              <a:gd name="adj" fmla="val 50000"/>
            </a:avLst>
          </a:prstGeom>
          <a:solidFill>
            <a:srgbClr val="FF5A5F"/>
          </a:solidFill>
          <a:ln w="19050">
            <a:solidFill>
              <a:schemeClr val="tx1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31520" y="1408176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chemeClr val="bg1"/>
                </a:solidFill>
              </a:rPr>
              <a:t>REQUEST 11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2240280" y="1371600"/>
            <a:ext cx="5715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chemeClr val="tx2"/>
                </a:solidFill>
              </a:rPr>
              <a:t>Stored procedure top_customer: net sales by customer for a fiscal year, top N.</a:t>
            </a:r>
            <a:endParaRPr lang="en-US" sz="1200" dirty="0"/>
          </a:p>
        </p:txBody>
      </p:sp>
      <p:sp>
        <p:nvSpPr>
          <p:cNvPr id="9" name="Query panel"/>
          <p:cNvSpPr/>
          <p:nvPr/>
        </p:nvSpPr>
        <p:spPr>
          <a:xfrm>
            <a:off x="731520" y="1938528"/>
            <a:ext cx="4251960" cy="1673352"/>
          </a:xfrm>
          <a:prstGeom prst="roundRect">
            <a:avLst>
              <a:gd name="adj" fmla="val 5464"/>
            </a:avLst>
          </a:prstGeom>
          <a:solidFill>
            <a:schemeClr val="bg2"/>
          </a:solidFill>
          <a:ln w="12700">
            <a:solidFill>
              <a:schemeClr val="tx1"/>
            </a:solidFill>
            <a:prstDash val="solid"/>
          </a:ln>
        </p:spPr>
      </p:sp>
      <p:pic>
        <p:nvPicPr>
          <p:cNvPr id="10" name="Image 1" descr="SQL query for request 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6077" y="2048256"/>
            <a:ext cx="3842847" cy="1453896"/>
          </a:xfrm>
          <a:prstGeom prst="rect">
            <a:avLst/>
          </a:prstGeom>
        </p:spPr>
      </p:pic>
      <p:sp>
        <p:nvSpPr>
          <p:cNvPr id="11" name="Chip"/>
          <p:cNvSpPr/>
          <p:nvPr/>
        </p:nvSpPr>
        <p:spPr>
          <a:xfrm>
            <a:off x="822960" y="1828800"/>
            <a:ext cx="731520" cy="219456"/>
          </a:xfrm>
          <a:prstGeom prst="roundRect">
            <a:avLst>
              <a:gd name="adj" fmla="val 50000"/>
            </a:avLst>
          </a:prstGeom>
          <a:solidFill>
            <a:srgbClr val="FFC53D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822960" y="1828800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chemeClr val="tx1"/>
                </a:solidFill>
              </a:rPr>
              <a:t>QUERY</a:t>
            </a:r>
            <a:endParaRPr lang="en-US" sz="900" dirty="0"/>
          </a:p>
        </p:txBody>
      </p:sp>
      <p:sp>
        <p:nvSpPr>
          <p:cNvPr id="13" name="Output panel"/>
          <p:cNvSpPr/>
          <p:nvPr/>
        </p:nvSpPr>
        <p:spPr>
          <a:xfrm>
            <a:off x="5120640" y="1938528"/>
            <a:ext cx="2834640" cy="1673352"/>
          </a:xfrm>
          <a:prstGeom prst="roundRect">
            <a:avLst>
              <a:gd name="adj" fmla="val 5464"/>
            </a:avLst>
          </a:prstGeom>
          <a:solidFill>
            <a:schemeClr val="bg2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5303520" y="2121408"/>
            <a:ext cx="2468880" cy="1307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chemeClr val="tx2"/>
                </a:solidFill>
              </a:rPr>
              <a:t>Output: see the chart on slide 19</a:t>
            </a:r>
            <a:endParaRPr lang="en-US" sz="1300" dirty="0"/>
          </a:p>
        </p:txBody>
      </p:sp>
      <p:sp>
        <p:nvSpPr>
          <p:cNvPr id="15" name="Chip"/>
          <p:cNvSpPr/>
          <p:nvPr/>
        </p:nvSpPr>
        <p:spPr>
          <a:xfrm>
            <a:off x="5212080" y="1828800"/>
            <a:ext cx="777240" cy="219456"/>
          </a:xfrm>
          <a:prstGeom prst="roundRect">
            <a:avLst>
              <a:gd name="adj" fmla="val 50000"/>
            </a:avLst>
          </a:prstGeom>
          <a:solidFill>
            <a:srgbClr val="22C3B0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5212080" y="1828800"/>
            <a:ext cx="777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chemeClr val="tx1"/>
                </a:solidFill>
              </a:rPr>
              <a:t>OUTPUT</a:t>
            </a:r>
            <a:endParaRPr lang="en-US" sz="900" dirty="0"/>
          </a:p>
        </p:txBody>
      </p:sp>
      <p:sp>
        <p:nvSpPr>
          <p:cNvPr id="17" name="SQL request card"/>
          <p:cNvSpPr/>
          <p:nvPr/>
        </p:nvSpPr>
        <p:spPr>
          <a:xfrm>
            <a:off x="548640" y="3886200"/>
            <a:ext cx="7589520" cy="2423160"/>
          </a:xfrm>
          <a:prstGeom prst="roundRect">
            <a:avLst>
              <a:gd name="adj" fmla="val 6038"/>
            </a:avLst>
          </a:prstGeom>
          <a:solidFill>
            <a:schemeClr val="bg1"/>
          </a:solidFill>
          <a:ln w="25400">
            <a:solidFill>
              <a:schemeClr val="tx1"/>
            </a:solidFill>
            <a:prstDash val="solid"/>
          </a:ln>
          <a:effectLst>
            <a:outerShdw blurRad="101600" dist="63500" dir="2700000" algn="bl" rotWithShape="0">
              <a:srgbClr val="111A3E">
                <a:alpha val="100000"/>
              </a:srgbClr>
            </a:outerShdw>
          </a:effectLst>
        </p:spPr>
      </p:sp>
      <p:sp>
        <p:nvSpPr>
          <p:cNvPr id="18" name="Chip"/>
          <p:cNvSpPr/>
          <p:nvPr/>
        </p:nvSpPr>
        <p:spPr>
          <a:xfrm>
            <a:off x="731520" y="4014216"/>
            <a:ext cx="1371600" cy="310896"/>
          </a:xfrm>
          <a:prstGeom prst="roundRect">
            <a:avLst>
              <a:gd name="adj" fmla="val 50000"/>
            </a:avLst>
          </a:prstGeom>
          <a:solidFill>
            <a:srgbClr val="FF5A5F"/>
          </a:solidFill>
          <a:ln w="19050">
            <a:solidFill>
              <a:schemeClr val="tx1"/>
            </a:solidFill>
            <a:prstDash val="solid"/>
          </a:ln>
        </p:spPr>
      </p:sp>
      <p:sp>
        <p:nvSpPr>
          <p:cNvPr id="19" name="Text 15"/>
          <p:cNvSpPr txBox="1"/>
          <p:nvPr/>
        </p:nvSpPr>
        <p:spPr>
          <a:xfrm>
            <a:off x="731520" y="4014216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chemeClr val="bg1"/>
                </a:solidFill>
              </a:rPr>
              <a:t>REQUEST 12</a:t>
            </a:r>
            <a:endParaRPr lang="en-US" sz="1100" dirty="0"/>
          </a:p>
        </p:txBody>
      </p:sp>
      <p:sp>
        <p:nvSpPr>
          <p:cNvPr id="20" name="Text 16"/>
          <p:cNvSpPr txBox="1"/>
          <p:nvPr/>
        </p:nvSpPr>
        <p:spPr>
          <a:xfrm>
            <a:off x="2240280" y="3977640"/>
            <a:ext cx="5715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chemeClr val="tx2"/>
                </a:solidFill>
              </a:rPr>
              <a:t>Window function: each customer as a percent of its regional net sales, FY2021.</a:t>
            </a:r>
            <a:endParaRPr lang="en-US" sz="1200" dirty="0"/>
          </a:p>
        </p:txBody>
      </p:sp>
      <p:sp>
        <p:nvSpPr>
          <p:cNvPr id="21" name="Query panel"/>
          <p:cNvSpPr/>
          <p:nvPr/>
        </p:nvSpPr>
        <p:spPr>
          <a:xfrm>
            <a:off x="731520" y="4544568"/>
            <a:ext cx="7086600" cy="1627632"/>
          </a:xfrm>
          <a:prstGeom prst="roundRect">
            <a:avLst>
              <a:gd name="adj" fmla="val 5618"/>
            </a:avLst>
          </a:prstGeom>
          <a:solidFill>
            <a:schemeClr val="bg2"/>
          </a:solidFill>
          <a:ln w="12700">
            <a:solidFill>
              <a:schemeClr val="tx1"/>
            </a:solidFill>
            <a:prstDash val="solid"/>
          </a:ln>
        </p:spPr>
      </p:sp>
      <p:pic>
        <p:nvPicPr>
          <p:cNvPr id="22" name="Image 2" descr="SQL query for request 1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59717" y="4654296"/>
            <a:ext cx="4230206" cy="1408176"/>
          </a:xfrm>
          <a:prstGeom prst="rect">
            <a:avLst/>
          </a:prstGeom>
        </p:spPr>
      </p:pic>
      <p:sp>
        <p:nvSpPr>
          <p:cNvPr id="23" name="Chip"/>
          <p:cNvSpPr/>
          <p:nvPr/>
        </p:nvSpPr>
        <p:spPr>
          <a:xfrm>
            <a:off x="822960" y="4434840"/>
            <a:ext cx="731520" cy="219456"/>
          </a:xfrm>
          <a:prstGeom prst="roundRect">
            <a:avLst>
              <a:gd name="adj" fmla="val 50000"/>
            </a:avLst>
          </a:prstGeom>
          <a:solidFill>
            <a:srgbClr val="FFC53D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24" name="Text 19"/>
          <p:cNvSpPr txBox="1"/>
          <p:nvPr/>
        </p:nvSpPr>
        <p:spPr>
          <a:xfrm>
            <a:off x="822960" y="4434840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chemeClr val="tx1"/>
                </a:solidFill>
              </a:rPr>
              <a:t>QUERY</a:t>
            </a:r>
            <a:endParaRPr lang="en-US" sz="900" dirty="0"/>
          </a:p>
        </p:txBody>
      </p:sp>
      <p:sp>
        <p:nvSpPr>
          <p:cNvPr id="25" name="Output card"/>
          <p:cNvSpPr/>
          <p:nvPr/>
        </p:nvSpPr>
        <p:spPr>
          <a:xfrm>
            <a:off x="8321040" y="1280160"/>
            <a:ext cx="3337560" cy="5029200"/>
          </a:xfrm>
          <a:prstGeom prst="roundRect">
            <a:avLst>
              <a:gd name="adj" fmla="val 4384"/>
            </a:avLst>
          </a:prstGeom>
          <a:solidFill>
            <a:schemeClr val="bg1"/>
          </a:solidFill>
          <a:ln w="25400">
            <a:solidFill>
              <a:schemeClr val="tx1"/>
            </a:solidFill>
            <a:prstDash val="solid"/>
          </a:ln>
          <a:effectLst>
            <a:outerShdw blurRad="101600" dist="63500" dir="2700000" algn="bl" rotWithShape="0">
              <a:srgbClr val="111A3E">
                <a:alpha val="100000"/>
              </a:srgbClr>
            </a:outerShdw>
          </a:effectLst>
        </p:spPr>
      </p:sp>
      <p:sp>
        <p:nvSpPr>
          <p:cNvPr id="26" name="Chip"/>
          <p:cNvSpPr/>
          <p:nvPr/>
        </p:nvSpPr>
        <p:spPr>
          <a:xfrm>
            <a:off x="8503920" y="1417320"/>
            <a:ext cx="1371600" cy="310896"/>
          </a:xfrm>
          <a:prstGeom prst="roundRect">
            <a:avLst>
              <a:gd name="adj" fmla="val 50000"/>
            </a:avLst>
          </a:prstGeom>
          <a:solidFill>
            <a:srgbClr val="FF5A5F"/>
          </a:solidFill>
          <a:ln w="19050">
            <a:solidFill>
              <a:schemeClr val="tx1"/>
            </a:solidFill>
            <a:prstDash val="solid"/>
          </a:ln>
        </p:spPr>
      </p:sp>
      <p:sp>
        <p:nvSpPr>
          <p:cNvPr id="27" name="Text 22"/>
          <p:cNvSpPr txBox="1"/>
          <p:nvPr/>
        </p:nvSpPr>
        <p:spPr>
          <a:xfrm>
            <a:off x="8503920" y="1417320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chemeClr val="bg1"/>
                </a:solidFill>
              </a:rPr>
              <a:t>REQUEST 12</a:t>
            </a:r>
            <a:endParaRPr lang="en-US" sz="1100" dirty="0"/>
          </a:p>
        </p:txBody>
      </p:sp>
      <p:sp>
        <p:nvSpPr>
          <p:cNvPr id="28" name="Chip"/>
          <p:cNvSpPr/>
          <p:nvPr/>
        </p:nvSpPr>
        <p:spPr>
          <a:xfrm>
            <a:off x="10058400" y="1417320"/>
            <a:ext cx="1371600" cy="310896"/>
          </a:xfrm>
          <a:prstGeom prst="roundRect">
            <a:avLst>
              <a:gd name="adj" fmla="val 50000"/>
            </a:avLst>
          </a:prstGeom>
          <a:solidFill>
            <a:srgbClr val="22C3B0"/>
          </a:solidFill>
          <a:ln w="19050">
            <a:solidFill>
              <a:schemeClr val="tx1"/>
            </a:solidFill>
            <a:prstDash val="solid"/>
          </a:ln>
        </p:spPr>
      </p:sp>
      <p:sp>
        <p:nvSpPr>
          <p:cNvPr id="29" name="Text 24"/>
          <p:cNvSpPr txBox="1"/>
          <p:nvPr/>
        </p:nvSpPr>
        <p:spPr>
          <a:xfrm>
            <a:off x="10058400" y="1417320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chemeClr val="tx1"/>
                </a:solidFill>
              </a:rPr>
              <a:t>OUTPUT</a:t>
            </a:r>
            <a:endParaRPr lang="en-US" sz="1100" dirty="0"/>
          </a:p>
        </p:txBody>
      </p:sp>
      <p:pic>
        <p:nvPicPr>
          <p:cNvPr id="30" name="Image 3" descr="Output for request 1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32220" y="1874520"/>
            <a:ext cx="2515200" cy="4297680"/>
          </a:xfrm>
          <a:prstGeom prst="rect">
            <a:avLst/>
          </a:prstGeom>
        </p:spPr>
      </p:pic>
      <p:sp>
        <p:nvSpPr>
          <p:cNvPr id="31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2B3A7A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37</a:t>
            </a:fld>
            <a:endParaRPr lang="en-US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27432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1"/>
                </a:solidFill>
              </a:rPr>
              <a:t>Appendix: SQL queries (8 of 11)</a:t>
            </a:r>
            <a:endParaRPr lang="en-US" sz="3000" dirty="0"/>
          </a:p>
        </p:txBody>
      </p:sp>
      <p:sp>
        <p:nvSpPr>
          <p:cNvPr id="3" name="Mascot ring"/>
          <p:cNvSpPr/>
          <p:nvPr/>
        </p:nvSpPr>
        <p:spPr>
          <a:xfrm>
            <a:off x="10835640" y="228600"/>
            <a:ext cx="914400" cy="9144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  <a:prstDash val="solid"/>
          </a:ln>
          <a:effectLst>
            <a:outerShdw blurRad="101600" dist="63500" dir="2700000" algn="bl" rotWithShape="0">
              <a:srgbClr val="111A3E">
                <a:alpha val="100000"/>
              </a:srgbClr>
            </a:outerShdw>
          </a:effectLst>
        </p:spPr>
      </p:sp>
      <p:pic>
        <p:nvPicPr>
          <p:cNvPr id="4" name="Image 0" descr="Cartoon masco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45368" y="338328"/>
            <a:ext cx="694944" cy="694944"/>
          </a:xfrm>
          <a:prstGeom prst="rect">
            <a:avLst/>
          </a:prstGeom>
        </p:spPr>
      </p:pic>
      <p:sp>
        <p:nvSpPr>
          <p:cNvPr id="5" name="SQL request card"/>
          <p:cNvSpPr/>
          <p:nvPr/>
        </p:nvSpPr>
        <p:spPr>
          <a:xfrm>
            <a:off x="548640" y="1280160"/>
            <a:ext cx="11109960" cy="2468880"/>
          </a:xfrm>
          <a:prstGeom prst="roundRect">
            <a:avLst>
              <a:gd name="adj" fmla="val 5926"/>
            </a:avLst>
          </a:prstGeom>
          <a:solidFill>
            <a:schemeClr val="bg1"/>
          </a:solidFill>
          <a:ln w="25400">
            <a:solidFill>
              <a:schemeClr val="tx1"/>
            </a:solidFill>
            <a:prstDash val="solid"/>
          </a:ln>
          <a:effectLst>
            <a:outerShdw blurRad="101600" dist="63500" dir="2700000" algn="bl" rotWithShape="0">
              <a:srgbClr val="111A3E">
                <a:alpha val="100000"/>
              </a:srgbClr>
            </a:outerShdw>
          </a:effectLst>
        </p:spPr>
      </p:sp>
      <p:sp>
        <p:nvSpPr>
          <p:cNvPr id="6" name="Chip"/>
          <p:cNvSpPr/>
          <p:nvPr/>
        </p:nvSpPr>
        <p:spPr>
          <a:xfrm>
            <a:off x="731520" y="1408176"/>
            <a:ext cx="1371600" cy="310896"/>
          </a:xfrm>
          <a:prstGeom prst="roundRect">
            <a:avLst>
              <a:gd name="adj" fmla="val 50000"/>
            </a:avLst>
          </a:prstGeom>
          <a:solidFill>
            <a:srgbClr val="FF5A5F"/>
          </a:solidFill>
          <a:ln w="19050">
            <a:solidFill>
              <a:schemeClr val="tx1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31520" y="1408176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chemeClr val="bg1"/>
                </a:solidFill>
              </a:rPr>
              <a:t>REQUEST 13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2240280" y="1371600"/>
            <a:ext cx="9235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chemeClr val="tx2"/>
                </a:solidFill>
              </a:rPr>
              <a:t>row_number() ranks products inside each division; ranks 1 to 3 are kept.</a:t>
            </a:r>
            <a:endParaRPr lang="en-US" sz="1200" dirty="0"/>
          </a:p>
        </p:txBody>
      </p:sp>
      <p:sp>
        <p:nvSpPr>
          <p:cNvPr id="9" name="Query panel"/>
          <p:cNvSpPr/>
          <p:nvPr/>
        </p:nvSpPr>
        <p:spPr>
          <a:xfrm>
            <a:off x="731520" y="1938528"/>
            <a:ext cx="6894576" cy="1673352"/>
          </a:xfrm>
          <a:prstGeom prst="roundRect">
            <a:avLst>
              <a:gd name="adj" fmla="val 5464"/>
            </a:avLst>
          </a:prstGeom>
          <a:solidFill>
            <a:schemeClr val="bg2"/>
          </a:solidFill>
          <a:ln w="12700">
            <a:solidFill>
              <a:schemeClr val="tx1"/>
            </a:solidFill>
            <a:prstDash val="solid"/>
          </a:ln>
        </p:spPr>
      </p:sp>
      <p:pic>
        <p:nvPicPr>
          <p:cNvPr id="10" name="Image 1" descr="SQL query for request 1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2119144"/>
            <a:ext cx="6711696" cy="1312121"/>
          </a:xfrm>
          <a:prstGeom prst="rect">
            <a:avLst/>
          </a:prstGeom>
        </p:spPr>
      </p:pic>
      <p:sp>
        <p:nvSpPr>
          <p:cNvPr id="11" name="Chip"/>
          <p:cNvSpPr/>
          <p:nvPr/>
        </p:nvSpPr>
        <p:spPr>
          <a:xfrm>
            <a:off x="822960" y="1828800"/>
            <a:ext cx="731520" cy="219456"/>
          </a:xfrm>
          <a:prstGeom prst="roundRect">
            <a:avLst>
              <a:gd name="adj" fmla="val 50000"/>
            </a:avLst>
          </a:prstGeom>
          <a:solidFill>
            <a:srgbClr val="FFC53D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822960" y="1828800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chemeClr val="tx1"/>
                </a:solidFill>
              </a:rPr>
              <a:t>QUERY</a:t>
            </a:r>
            <a:endParaRPr lang="en-US" sz="900" dirty="0"/>
          </a:p>
        </p:txBody>
      </p:sp>
      <p:sp>
        <p:nvSpPr>
          <p:cNvPr id="13" name="Output panel"/>
          <p:cNvSpPr/>
          <p:nvPr/>
        </p:nvSpPr>
        <p:spPr>
          <a:xfrm>
            <a:off x="7763256" y="1938528"/>
            <a:ext cx="3712464" cy="1673352"/>
          </a:xfrm>
          <a:prstGeom prst="roundRect">
            <a:avLst>
              <a:gd name="adj" fmla="val 5464"/>
            </a:avLst>
          </a:prstGeom>
          <a:solidFill>
            <a:schemeClr val="bg2"/>
          </a:solidFill>
          <a:ln w="12700">
            <a:solidFill>
              <a:schemeClr val="tx1"/>
            </a:solidFill>
            <a:prstDash val="solid"/>
          </a:ln>
        </p:spPr>
      </p:sp>
      <p:pic>
        <p:nvPicPr>
          <p:cNvPr id="14" name="Image 2" descr="Output for request 1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29068" y="2048256"/>
            <a:ext cx="2580839" cy="1453896"/>
          </a:xfrm>
          <a:prstGeom prst="rect">
            <a:avLst/>
          </a:prstGeom>
        </p:spPr>
      </p:pic>
      <p:sp>
        <p:nvSpPr>
          <p:cNvPr id="15" name="Chip"/>
          <p:cNvSpPr/>
          <p:nvPr/>
        </p:nvSpPr>
        <p:spPr>
          <a:xfrm>
            <a:off x="7854696" y="1828800"/>
            <a:ext cx="777240" cy="219456"/>
          </a:xfrm>
          <a:prstGeom prst="roundRect">
            <a:avLst>
              <a:gd name="adj" fmla="val 50000"/>
            </a:avLst>
          </a:prstGeom>
          <a:solidFill>
            <a:srgbClr val="22C3B0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6" name="Text 11"/>
          <p:cNvSpPr txBox="1"/>
          <p:nvPr/>
        </p:nvSpPr>
        <p:spPr>
          <a:xfrm>
            <a:off x="7854696" y="1828800"/>
            <a:ext cx="777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chemeClr val="tx1"/>
                </a:solidFill>
              </a:rPr>
              <a:t>OUTPUT</a:t>
            </a:r>
            <a:endParaRPr lang="en-US" sz="900" dirty="0"/>
          </a:p>
        </p:txBody>
      </p:sp>
      <p:sp>
        <p:nvSpPr>
          <p:cNvPr id="17" name="SQL request card"/>
          <p:cNvSpPr/>
          <p:nvPr/>
        </p:nvSpPr>
        <p:spPr>
          <a:xfrm>
            <a:off x="548640" y="3886200"/>
            <a:ext cx="11109960" cy="2423160"/>
          </a:xfrm>
          <a:prstGeom prst="roundRect">
            <a:avLst>
              <a:gd name="adj" fmla="val 6038"/>
            </a:avLst>
          </a:prstGeom>
          <a:solidFill>
            <a:schemeClr val="bg1"/>
          </a:solidFill>
          <a:ln w="25400">
            <a:solidFill>
              <a:schemeClr val="tx1"/>
            </a:solidFill>
            <a:prstDash val="solid"/>
          </a:ln>
          <a:effectLst>
            <a:outerShdw blurRad="101600" dist="63500" dir="2700000" algn="bl" rotWithShape="0">
              <a:srgbClr val="111A3E">
                <a:alpha val="100000"/>
              </a:srgbClr>
            </a:outerShdw>
          </a:effectLst>
        </p:spPr>
      </p:sp>
      <p:sp>
        <p:nvSpPr>
          <p:cNvPr id="18" name="Chip"/>
          <p:cNvSpPr/>
          <p:nvPr/>
        </p:nvSpPr>
        <p:spPr>
          <a:xfrm>
            <a:off x="731520" y="4014216"/>
            <a:ext cx="1371600" cy="310896"/>
          </a:xfrm>
          <a:prstGeom prst="roundRect">
            <a:avLst>
              <a:gd name="adj" fmla="val 50000"/>
            </a:avLst>
          </a:prstGeom>
          <a:solidFill>
            <a:srgbClr val="FF5A5F"/>
          </a:solidFill>
          <a:ln w="19050">
            <a:solidFill>
              <a:schemeClr val="tx1"/>
            </a:solidFill>
            <a:prstDash val="solid"/>
          </a:ln>
        </p:spPr>
      </p:sp>
      <p:sp>
        <p:nvSpPr>
          <p:cNvPr id="19" name="Text 14"/>
          <p:cNvSpPr txBox="1"/>
          <p:nvPr/>
        </p:nvSpPr>
        <p:spPr>
          <a:xfrm>
            <a:off x="731520" y="4014216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chemeClr val="bg1"/>
                </a:solidFill>
              </a:rPr>
              <a:t>REQUEST 14</a:t>
            </a:r>
            <a:endParaRPr lang="en-US" sz="1100" dirty="0"/>
          </a:p>
        </p:txBody>
      </p:sp>
      <p:sp>
        <p:nvSpPr>
          <p:cNvPr id="20" name="Text 15"/>
          <p:cNvSpPr txBox="1"/>
          <p:nvPr/>
        </p:nvSpPr>
        <p:spPr>
          <a:xfrm>
            <a:off x="2240280" y="3977640"/>
            <a:ext cx="9235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chemeClr val="tx2"/>
                </a:solidFill>
              </a:rPr>
              <a:t>Joins monthly sales and gross price for Croma India, grouped by fiscal year.</a:t>
            </a:r>
            <a:endParaRPr lang="en-US" sz="1200" dirty="0"/>
          </a:p>
        </p:txBody>
      </p:sp>
      <p:sp>
        <p:nvSpPr>
          <p:cNvPr id="21" name="Query panel"/>
          <p:cNvSpPr/>
          <p:nvPr/>
        </p:nvSpPr>
        <p:spPr>
          <a:xfrm>
            <a:off x="731520" y="4544568"/>
            <a:ext cx="6894576" cy="1627632"/>
          </a:xfrm>
          <a:prstGeom prst="roundRect">
            <a:avLst>
              <a:gd name="adj" fmla="val 5618"/>
            </a:avLst>
          </a:prstGeom>
          <a:solidFill>
            <a:schemeClr val="bg2"/>
          </a:solidFill>
          <a:ln w="12700">
            <a:solidFill>
              <a:schemeClr val="tx1"/>
            </a:solidFill>
            <a:prstDash val="solid"/>
          </a:ln>
        </p:spPr>
      </p:sp>
      <p:pic>
        <p:nvPicPr>
          <p:cNvPr id="22" name="Image 3" descr="SQL query for request 1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50855" y="4654296"/>
            <a:ext cx="4655906" cy="1408176"/>
          </a:xfrm>
          <a:prstGeom prst="rect">
            <a:avLst/>
          </a:prstGeom>
        </p:spPr>
      </p:pic>
      <p:sp>
        <p:nvSpPr>
          <p:cNvPr id="23" name="Chip"/>
          <p:cNvSpPr/>
          <p:nvPr/>
        </p:nvSpPr>
        <p:spPr>
          <a:xfrm>
            <a:off x="822960" y="4434840"/>
            <a:ext cx="731520" cy="219456"/>
          </a:xfrm>
          <a:prstGeom prst="roundRect">
            <a:avLst>
              <a:gd name="adj" fmla="val 50000"/>
            </a:avLst>
          </a:prstGeom>
          <a:solidFill>
            <a:srgbClr val="FFC53D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24" name="Text 18"/>
          <p:cNvSpPr txBox="1"/>
          <p:nvPr/>
        </p:nvSpPr>
        <p:spPr>
          <a:xfrm>
            <a:off x="822960" y="4434840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chemeClr val="tx1"/>
                </a:solidFill>
              </a:rPr>
              <a:t>QUERY</a:t>
            </a:r>
            <a:endParaRPr lang="en-US" sz="900" dirty="0"/>
          </a:p>
        </p:txBody>
      </p:sp>
      <p:sp>
        <p:nvSpPr>
          <p:cNvPr id="25" name="Output panel"/>
          <p:cNvSpPr/>
          <p:nvPr/>
        </p:nvSpPr>
        <p:spPr>
          <a:xfrm>
            <a:off x="7763256" y="4544568"/>
            <a:ext cx="3712464" cy="1627632"/>
          </a:xfrm>
          <a:prstGeom prst="roundRect">
            <a:avLst>
              <a:gd name="adj" fmla="val 5618"/>
            </a:avLst>
          </a:prstGeom>
          <a:solidFill>
            <a:schemeClr val="bg2"/>
          </a:solidFill>
          <a:ln w="12700">
            <a:solidFill>
              <a:schemeClr val="tx1"/>
            </a:solidFill>
            <a:prstDash val="solid"/>
          </a:ln>
        </p:spPr>
      </p:sp>
      <p:pic>
        <p:nvPicPr>
          <p:cNvPr id="26" name="Image 4" descr="Output for request 1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21321" y="4654296"/>
            <a:ext cx="2196334" cy="1408176"/>
          </a:xfrm>
          <a:prstGeom prst="rect">
            <a:avLst/>
          </a:prstGeom>
        </p:spPr>
      </p:pic>
      <p:sp>
        <p:nvSpPr>
          <p:cNvPr id="27" name="Chip"/>
          <p:cNvSpPr/>
          <p:nvPr/>
        </p:nvSpPr>
        <p:spPr>
          <a:xfrm>
            <a:off x="7854696" y="4434840"/>
            <a:ext cx="777240" cy="219456"/>
          </a:xfrm>
          <a:prstGeom prst="roundRect">
            <a:avLst>
              <a:gd name="adj" fmla="val 50000"/>
            </a:avLst>
          </a:prstGeom>
          <a:solidFill>
            <a:srgbClr val="22C3B0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28" name="Text 21"/>
          <p:cNvSpPr txBox="1"/>
          <p:nvPr/>
        </p:nvSpPr>
        <p:spPr>
          <a:xfrm>
            <a:off x="7854696" y="4434840"/>
            <a:ext cx="777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chemeClr val="tx1"/>
                </a:solidFill>
              </a:rPr>
              <a:t>OUTPUT</a:t>
            </a:r>
            <a:endParaRPr lang="en-US" sz="900" dirty="0"/>
          </a:p>
        </p:txBody>
      </p:sp>
      <p:sp>
        <p:nvSpPr>
          <p:cNvPr id="2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2B3A7A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38</a:t>
            </a:fld>
            <a:endParaRPr lang="en-US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27432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1"/>
                </a:solidFill>
              </a:rPr>
              <a:t>Appendix: SQL queries (9 of 11)</a:t>
            </a:r>
            <a:endParaRPr lang="en-US" sz="3000" dirty="0"/>
          </a:p>
        </p:txBody>
      </p:sp>
      <p:sp>
        <p:nvSpPr>
          <p:cNvPr id="3" name="Mascot ring"/>
          <p:cNvSpPr/>
          <p:nvPr/>
        </p:nvSpPr>
        <p:spPr>
          <a:xfrm>
            <a:off x="10835640" y="228600"/>
            <a:ext cx="914400" cy="9144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  <a:prstDash val="solid"/>
          </a:ln>
          <a:effectLst>
            <a:outerShdw blurRad="101600" dist="63500" dir="2700000" algn="bl" rotWithShape="0">
              <a:srgbClr val="111A3E">
                <a:alpha val="100000"/>
              </a:srgbClr>
            </a:outerShdw>
          </a:effectLst>
        </p:spPr>
      </p:sp>
      <p:pic>
        <p:nvPicPr>
          <p:cNvPr id="4" name="Image 0" descr="Cartoon masco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45368" y="338328"/>
            <a:ext cx="694944" cy="694944"/>
          </a:xfrm>
          <a:prstGeom prst="rect">
            <a:avLst/>
          </a:prstGeom>
        </p:spPr>
      </p:pic>
      <p:sp>
        <p:nvSpPr>
          <p:cNvPr id="5" name="SQL request card"/>
          <p:cNvSpPr/>
          <p:nvPr/>
        </p:nvSpPr>
        <p:spPr>
          <a:xfrm>
            <a:off x="548640" y="1280160"/>
            <a:ext cx="11109960" cy="5029200"/>
          </a:xfrm>
          <a:prstGeom prst="roundRect">
            <a:avLst>
              <a:gd name="adj" fmla="val 2909"/>
            </a:avLst>
          </a:prstGeom>
          <a:solidFill>
            <a:schemeClr val="bg1"/>
          </a:solidFill>
          <a:ln w="25400">
            <a:solidFill>
              <a:schemeClr val="tx1"/>
            </a:solidFill>
            <a:prstDash val="solid"/>
          </a:ln>
          <a:effectLst>
            <a:outerShdw blurRad="101600" dist="63500" dir="2700000" algn="bl" rotWithShape="0">
              <a:srgbClr val="111A3E">
                <a:alpha val="100000"/>
              </a:srgbClr>
            </a:outerShdw>
          </a:effectLst>
        </p:spPr>
      </p:sp>
      <p:sp>
        <p:nvSpPr>
          <p:cNvPr id="6" name="Chip"/>
          <p:cNvSpPr/>
          <p:nvPr/>
        </p:nvSpPr>
        <p:spPr>
          <a:xfrm>
            <a:off x="731520" y="1408176"/>
            <a:ext cx="1371600" cy="310896"/>
          </a:xfrm>
          <a:prstGeom prst="roundRect">
            <a:avLst>
              <a:gd name="adj" fmla="val 50000"/>
            </a:avLst>
          </a:prstGeom>
          <a:solidFill>
            <a:srgbClr val="FF5A5F"/>
          </a:solidFill>
          <a:ln w="19050">
            <a:solidFill>
              <a:schemeClr val="tx1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31520" y="1408176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chemeClr val="bg1"/>
                </a:solidFill>
              </a:rPr>
              <a:t>REQUEST 15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2240280" y="1371600"/>
            <a:ext cx="9235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chemeClr val="tx2"/>
                </a:solidFill>
              </a:rPr>
              <a:t>CASE tags markets above 5M units as Gold_Badge, all others as Silver_Badge.</a:t>
            </a:r>
            <a:endParaRPr lang="en-US" sz="1200" dirty="0"/>
          </a:p>
        </p:txBody>
      </p:sp>
      <p:sp>
        <p:nvSpPr>
          <p:cNvPr id="9" name="Query panel"/>
          <p:cNvSpPr/>
          <p:nvPr/>
        </p:nvSpPr>
        <p:spPr>
          <a:xfrm>
            <a:off x="731520" y="1938528"/>
            <a:ext cx="6364224" cy="4233672"/>
          </a:xfrm>
          <a:prstGeom prst="roundRect">
            <a:avLst>
              <a:gd name="adj" fmla="val 2160"/>
            </a:avLst>
          </a:prstGeom>
          <a:solidFill>
            <a:schemeClr val="bg2"/>
          </a:solidFill>
          <a:ln w="12700">
            <a:solidFill>
              <a:schemeClr val="tx1"/>
            </a:solidFill>
            <a:prstDash val="solid"/>
          </a:ln>
        </p:spPr>
      </p:sp>
      <p:pic>
        <p:nvPicPr>
          <p:cNvPr id="10" name="Image 1" descr="SQL query for request 1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3075731"/>
            <a:ext cx="6181344" cy="1959265"/>
          </a:xfrm>
          <a:prstGeom prst="rect">
            <a:avLst/>
          </a:prstGeom>
        </p:spPr>
      </p:pic>
      <p:sp>
        <p:nvSpPr>
          <p:cNvPr id="11" name="Chip"/>
          <p:cNvSpPr/>
          <p:nvPr/>
        </p:nvSpPr>
        <p:spPr>
          <a:xfrm>
            <a:off x="822960" y="1828800"/>
            <a:ext cx="731520" cy="219456"/>
          </a:xfrm>
          <a:prstGeom prst="roundRect">
            <a:avLst>
              <a:gd name="adj" fmla="val 50000"/>
            </a:avLst>
          </a:prstGeom>
          <a:solidFill>
            <a:srgbClr val="FFC53D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822960" y="1828800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chemeClr val="tx1"/>
                </a:solidFill>
              </a:rPr>
              <a:t>QUERY</a:t>
            </a:r>
            <a:endParaRPr lang="en-US" sz="900" dirty="0"/>
          </a:p>
        </p:txBody>
      </p:sp>
      <p:sp>
        <p:nvSpPr>
          <p:cNvPr id="13" name="Output panel"/>
          <p:cNvSpPr/>
          <p:nvPr/>
        </p:nvSpPr>
        <p:spPr>
          <a:xfrm>
            <a:off x="7232904" y="1938528"/>
            <a:ext cx="4242816" cy="4233672"/>
          </a:xfrm>
          <a:prstGeom prst="roundRect">
            <a:avLst>
              <a:gd name="adj" fmla="val 2160"/>
            </a:avLst>
          </a:prstGeom>
          <a:solidFill>
            <a:schemeClr val="bg2"/>
          </a:solidFill>
          <a:ln w="12700">
            <a:solidFill>
              <a:schemeClr val="tx1"/>
            </a:solidFill>
            <a:prstDash val="solid"/>
          </a:ln>
        </p:spPr>
      </p:sp>
      <p:pic>
        <p:nvPicPr>
          <p:cNvPr id="14" name="Image 2" descr="Output for request 1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57686" y="2048256"/>
            <a:ext cx="2193251" cy="4014216"/>
          </a:xfrm>
          <a:prstGeom prst="rect">
            <a:avLst/>
          </a:prstGeom>
        </p:spPr>
      </p:pic>
      <p:sp>
        <p:nvSpPr>
          <p:cNvPr id="15" name="Chip"/>
          <p:cNvSpPr/>
          <p:nvPr/>
        </p:nvSpPr>
        <p:spPr>
          <a:xfrm>
            <a:off x="7324344" y="1828800"/>
            <a:ext cx="777240" cy="219456"/>
          </a:xfrm>
          <a:prstGeom prst="roundRect">
            <a:avLst>
              <a:gd name="adj" fmla="val 50000"/>
            </a:avLst>
          </a:prstGeom>
          <a:solidFill>
            <a:srgbClr val="22C3B0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6" name="Text 11"/>
          <p:cNvSpPr txBox="1"/>
          <p:nvPr/>
        </p:nvSpPr>
        <p:spPr>
          <a:xfrm>
            <a:off x="7324344" y="1828800"/>
            <a:ext cx="777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chemeClr val="tx1"/>
                </a:solidFill>
              </a:rPr>
              <a:t>OUTPUT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2B3A7A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39</a:t>
            </a:fld>
            <a:endParaRPr lang="en-US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27432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1"/>
                </a:solidFill>
              </a:rPr>
              <a:t>Appendix: SQL queries (10 of 11)</a:t>
            </a:r>
            <a:endParaRPr lang="en-US" sz="3000" dirty="0"/>
          </a:p>
        </p:txBody>
      </p:sp>
      <p:sp>
        <p:nvSpPr>
          <p:cNvPr id="3" name="Mascot ring"/>
          <p:cNvSpPr/>
          <p:nvPr/>
        </p:nvSpPr>
        <p:spPr>
          <a:xfrm>
            <a:off x="10835640" y="228600"/>
            <a:ext cx="914400" cy="9144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  <a:prstDash val="solid"/>
          </a:ln>
          <a:effectLst>
            <a:outerShdw blurRad="101600" dist="63500" dir="2700000" algn="bl" rotWithShape="0">
              <a:srgbClr val="111A3E">
                <a:alpha val="100000"/>
              </a:srgbClr>
            </a:outerShdw>
          </a:effectLst>
        </p:spPr>
      </p:sp>
      <p:pic>
        <p:nvPicPr>
          <p:cNvPr id="4" name="Image 0" descr="Cartoon masco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45368" y="338328"/>
            <a:ext cx="694944" cy="694944"/>
          </a:xfrm>
          <a:prstGeom prst="rect">
            <a:avLst/>
          </a:prstGeom>
        </p:spPr>
      </p:pic>
      <p:sp>
        <p:nvSpPr>
          <p:cNvPr id="5" name="SQL request card"/>
          <p:cNvSpPr/>
          <p:nvPr/>
        </p:nvSpPr>
        <p:spPr>
          <a:xfrm>
            <a:off x="548640" y="1280160"/>
            <a:ext cx="11109960" cy="5029200"/>
          </a:xfrm>
          <a:prstGeom prst="roundRect">
            <a:avLst>
              <a:gd name="adj" fmla="val 2909"/>
            </a:avLst>
          </a:prstGeom>
          <a:solidFill>
            <a:schemeClr val="bg1"/>
          </a:solidFill>
          <a:ln w="25400">
            <a:solidFill>
              <a:schemeClr val="tx1"/>
            </a:solidFill>
            <a:prstDash val="solid"/>
          </a:ln>
          <a:effectLst>
            <a:outerShdw blurRad="101600" dist="63500" dir="2700000" algn="bl" rotWithShape="0">
              <a:srgbClr val="111A3E">
                <a:alpha val="100000"/>
              </a:srgbClr>
            </a:outerShdw>
          </a:effectLst>
        </p:spPr>
      </p:sp>
      <p:sp>
        <p:nvSpPr>
          <p:cNvPr id="6" name="Chip"/>
          <p:cNvSpPr/>
          <p:nvPr/>
        </p:nvSpPr>
        <p:spPr>
          <a:xfrm>
            <a:off x="731520" y="1408176"/>
            <a:ext cx="1371600" cy="310896"/>
          </a:xfrm>
          <a:prstGeom prst="roundRect">
            <a:avLst>
              <a:gd name="adj" fmla="val 50000"/>
            </a:avLst>
          </a:prstGeom>
          <a:solidFill>
            <a:srgbClr val="FF5A5F"/>
          </a:solidFill>
          <a:ln w="19050">
            <a:solidFill>
              <a:schemeClr val="tx1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31520" y="1408176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chemeClr val="bg1"/>
                </a:solidFill>
              </a:rPr>
              <a:t>REQUEST 16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2240280" y="1371600"/>
            <a:ext cx="9235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chemeClr val="tx2"/>
                </a:solidFill>
              </a:rPr>
              <a:t>Forecast accuracy = 100 minus absolute net error percent, floored at 0.</a:t>
            </a:r>
            <a:endParaRPr lang="en-US" sz="1200" dirty="0"/>
          </a:p>
        </p:txBody>
      </p:sp>
      <p:sp>
        <p:nvSpPr>
          <p:cNvPr id="9" name="Query panel"/>
          <p:cNvSpPr/>
          <p:nvPr/>
        </p:nvSpPr>
        <p:spPr>
          <a:xfrm>
            <a:off x="731520" y="1938528"/>
            <a:ext cx="5303520" cy="4233672"/>
          </a:xfrm>
          <a:prstGeom prst="roundRect">
            <a:avLst>
              <a:gd name="adj" fmla="val 2160"/>
            </a:avLst>
          </a:prstGeom>
          <a:solidFill>
            <a:schemeClr val="bg2"/>
          </a:solidFill>
          <a:ln w="12700">
            <a:solidFill>
              <a:schemeClr val="tx1"/>
            </a:solidFill>
            <a:prstDash val="solid"/>
          </a:ln>
        </p:spPr>
      </p:sp>
      <p:pic>
        <p:nvPicPr>
          <p:cNvPr id="10" name="Image 1" descr="SQL query for request 1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3480069"/>
            <a:ext cx="5120640" cy="1150589"/>
          </a:xfrm>
          <a:prstGeom prst="rect">
            <a:avLst/>
          </a:prstGeom>
        </p:spPr>
      </p:pic>
      <p:sp>
        <p:nvSpPr>
          <p:cNvPr id="11" name="Chip"/>
          <p:cNvSpPr/>
          <p:nvPr/>
        </p:nvSpPr>
        <p:spPr>
          <a:xfrm>
            <a:off x="822960" y="1828800"/>
            <a:ext cx="731520" cy="219456"/>
          </a:xfrm>
          <a:prstGeom prst="roundRect">
            <a:avLst>
              <a:gd name="adj" fmla="val 50000"/>
            </a:avLst>
          </a:prstGeom>
          <a:solidFill>
            <a:srgbClr val="FFC53D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822960" y="1828800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chemeClr val="tx1"/>
                </a:solidFill>
              </a:rPr>
              <a:t>QUERY</a:t>
            </a:r>
            <a:endParaRPr lang="en-US" sz="900" dirty="0"/>
          </a:p>
        </p:txBody>
      </p:sp>
      <p:sp>
        <p:nvSpPr>
          <p:cNvPr id="13" name="Output panel"/>
          <p:cNvSpPr/>
          <p:nvPr/>
        </p:nvSpPr>
        <p:spPr>
          <a:xfrm>
            <a:off x="6172200" y="1938528"/>
            <a:ext cx="5303520" cy="4233672"/>
          </a:xfrm>
          <a:prstGeom prst="roundRect">
            <a:avLst>
              <a:gd name="adj" fmla="val 2160"/>
            </a:avLst>
          </a:prstGeom>
          <a:solidFill>
            <a:schemeClr val="bg2"/>
          </a:solidFill>
          <a:ln w="12700">
            <a:solidFill>
              <a:schemeClr val="tx1"/>
            </a:solidFill>
            <a:prstDash val="solid"/>
          </a:ln>
        </p:spPr>
      </p:sp>
      <p:pic>
        <p:nvPicPr>
          <p:cNvPr id="14" name="Image 2" descr="Output for request 1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63640" y="2752096"/>
            <a:ext cx="5120640" cy="2606535"/>
          </a:xfrm>
          <a:prstGeom prst="rect">
            <a:avLst/>
          </a:prstGeom>
        </p:spPr>
      </p:pic>
      <p:sp>
        <p:nvSpPr>
          <p:cNvPr id="15" name="Chip"/>
          <p:cNvSpPr/>
          <p:nvPr/>
        </p:nvSpPr>
        <p:spPr>
          <a:xfrm>
            <a:off x="6263640" y="1828800"/>
            <a:ext cx="777240" cy="219456"/>
          </a:xfrm>
          <a:prstGeom prst="roundRect">
            <a:avLst>
              <a:gd name="adj" fmla="val 50000"/>
            </a:avLst>
          </a:prstGeom>
          <a:solidFill>
            <a:srgbClr val="22C3B0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6" name="Text 11"/>
          <p:cNvSpPr txBox="1"/>
          <p:nvPr/>
        </p:nvSpPr>
        <p:spPr>
          <a:xfrm>
            <a:off x="6263640" y="1828800"/>
            <a:ext cx="777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chemeClr val="tx1"/>
                </a:solidFill>
              </a:rPr>
              <a:t>OUTPUT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2B3A7A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40</a:t>
            </a:fld>
            <a:endParaRPr lang="en-US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27432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1"/>
                </a:solidFill>
              </a:rPr>
              <a:t>Appendix: SQL queries (11 of 11)</a:t>
            </a:r>
            <a:endParaRPr lang="en-US" sz="3000" dirty="0"/>
          </a:p>
        </p:txBody>
      </p:sp>
      <p:sp>
        <p:nvSpPr>
          <p:cNvPr id="3" name="Mascot ring"/>
          <p:cNvSpPr/>
          <p:nvPr/>
        </p:nvSpPr>
        <p:spPr>
          <a:xfrm>
            <a:off x="10835640" y="228600"/>
            <a:ext cx="914400" cy="9144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  <a:prstDash val="solid"/>
          </a:ln>
          <a:effectLst>
            <a:outerShdw blurRad="101600" dist="63500" dir="2700000" algn="bl" rotWithShape="0">
              <a:srgbClr val="111A3E">
                <a:alpha val="100000"/>
              </a:srgbClr>
            </a:outerShdw>
          </a:effectLst>
        </p:spPr>
      </p:sp>
      <p:pic>
        <p:nvPicPr>
          <p:cNvPr id="4" name="Image 0" descr="Cartoon masco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45368" y="338328"/>
            <a:ext cx="694944" cy="694944"/>
          </a:xfrm>
          <a:prstGeom prst="rect">
            <a:avLst/>
          </a:prstGeom>
        </p:spPr>
      </p:pic>
      <p:sp>
        <p:nvSpPr>
          <p:cNvPr id="5" name="SQL request card"/>
          <p:cNvSpPr/>
          <p:nvPr/>
        </p:nvSpPr>
        <p:spPr>
          <a:xfrm>
            <a:off x="548640" y="1280160"/>
            <a:ext cx="11109960" cy="2468880"/>
          </a:xfrm>
          <a:prstGeom prst="roundRect">
            <a:avLst>
              <a:gd name="adj" fmla="val 5926"/>
            </a:avLst>
          </a:prstGeom>
          <a:solidFill>
            <a:schemeClr val="bg1"/>
          </a:solidFill>
          <a:ln w="25400">
            <a:solidFill>
              <a:schemeClr val="tx1"/>
            </a:solidFill>
            <a:prstDash val="solid"/>
          </a:ln>
          <a:effectLst>
            <a:outerShdw blurRad="101600" dist="63500" dir="2700000" algn="bl" rotWithShape="0">
              <a:srgbClr val="111A3E">
                <a:alpha val="100000"/>
              </a:srgbClr>
            </a:outerShdw>
          </a:effectLst>
        </p:spPr>
      </p:sp>
      <p:sp>
        <p:nvSpPr>
          <p:cNvPr id="6" name="Chip"/>
          <p:cNvSpPr/>
          <p:nvPr/>
        </p:nvSpPr>
        <p:spPr>
          <a:xfrm>
            <a:off x="731520" y="1408176"/>
            <a:ext cx="1371600" cy="310896"/>
          </a:xfrm>
          <a:prstGeom prst="roundRect">
            <a:avLst>
              <a:gd name="adj" fmla="val 50000"/>
            </a:avLst>
          </a:prstGeom>
          <a:solidFill>
            <a:srgbClr val="FF5A5F"/>
          </a:solidFill>
          <a:ln w="19050">
            <a:solidFill>
              <a:schemeClr val="tx1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31520" y="1408176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chemeClr val="bg1"/>
                </a:solidFill>
              </a:rPr>
              <a:t>REQUEST 17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2240280" y="1371600"/>
            <a:ext cx="9235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chemeClr val="tx2"/>
                </a:solidFill>
              </a:rPr>
              <a:t>Stored procedure top_product: net sales by product for a fiscal year, top N.</a:t>
            </a:r>
            <a:endParaRPr lang="en-US" sz="1200" dirty="0"/>
          </a:p>
        </p:txBody>
      </p:sp>
      <p:sp>
        <p:nvSpPr>
          <p:cNvPr id="9" name="Query panel"/>
          <p:cNvSpPr/>
          <p:nvPr/>
        </p:nvSpPr>
        <p:spPr>
          <a:xfrm>
            <a:off x="731520" y="1938528"/>
            <a:ext cx="6364224" cy="1673352"/>
          </a:xfrm>
          <a:prstGeom prst="roundRect">
            <a:avLst>
              <a:gd name="adj" fmla="val 5464"/>
            </a:avLst>
          </a:prstGeom>
          <a:solidFill>
            <a:schemeClr val="bg2"/>
          </a:solidFill>
          <a:ln w="12700">
            <a:solidFill>
              <a:schemeClr val="tx1"/>
            </a:solidFill>
            <a:prstDash val="solid"/>
          </a:ln>
        </p:spPr>
      </p:sp>
      <p:pic>
        <p:nvPicPr>
          <p:cNvPr id="10" name="Image 1" descr="SQL query for request 1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88119" y="2048256"/>
            <a:ext cx="4051026" cy="1453896"/>
          </a:xfrm>
          <a:prstGeom prst="rect">
            <a:avLst/>
          </a:prstGeom>
        </p:spPr>
      </p:pic>
      <p:sp>
        <p:nvSpPr>
          <p:cNvPr id="11" name="Chip"/>
          <p:cNvSpPr/>
          <p:nvPr/>
        </p:nvSpPr>
        <p:spPr>
          <a:xfrm>
            <a:off x="822960" y="1828800"/>
            <a:ext cx="731520" cy="219456"/>
          </a:xfrm>
          <a:prstGeom prst="roundRect">
            <a:avLst>
              <a:gd name="adj" fmla="val 50000"/>
            </a:avLst>
          </a:prstGeom>
          <a:solidFill>
            <a:srgbClr val="FFC53D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822960" y="1828800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chemeClr val="tx1"/>
                </a:solidFill>
              </a:rPr>
              <a:t>QUERY</a:t>
            </a:r>
            <a:endParaRPr lang="en-US" sz="900" dirty="0"/>
          </a:p>
        </p:txBody>
      </p:sp>
      <p:sp>
        <p:nvSpPr>
          <p:cNvPr id="13" name="Output panel"/>
          <p:cNvSpPr/>
          <p:nvPr/>
        </p:nvSpPr>
        <p:spPr>
          <a:xfrm>
            <a:off x="7232904" y="1938528"/>
            <a:ext cx="4242816" cy="1673352"/>
          </a:xfrm>
          <a:prstGeom prst="roundRect">
            <a:avLst>
              <a:gd name="adj" fmla="val 5464"/>
            </a:avLst>
          </a:prstGeom>
          <a:solidFill>
            <a:schemeClr val="bg2"/>
          </a:solidFill>
          <a:ln w="12700">
            <a:solidFill>
              <a:schemeClr val="tx1"/>
            </a:solidFill>
            <a:prstDash val="solid"/>
          </a:ln>
        </p:spPr>
      </p:sp>
      <p:pic>
        <p:nvPicPr>
          <p:cNvPr id="14" name="Image 2" descr="Output for request 1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54456" y="2048256"/>
            <a:ext cx="3399712" cy="1453896"/>
          </a:xfrm>
          <a:prstGeom prst="rect">
            <a:avLst/>
          </a:prstGeom>
        </p:spPr>
      </p:pic>
      <p:sp>
        <p:nvSpPr>
          <p:cNvPr id="15" name="Chip"/>
          <p:cNvSpPr/>
          <p:nvPr/>
        </p:nvSpPr>
        <p:spPr>
          <a:xfrm>
            <a:off x="7324344" y="1828800"/>
            <a:ext cx="777240" cy="219456"/>
          </a:xfrm>
          <a:prstGeom prst="roundRect">
            <a:avLst>
              <a:gd name="adj" fmla="val 50000"/>
            </a:avLst>
          </a:prstGeom>
          <a:solidFill>
            <a:srgbClr val="22C3B0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6" name="Text 11"/>
          <p:cNvSpPr txBox="1"/>
          <p:nvPr/>
        </p:nvSpPr>
        <p:spPr>
          <a:xfrm>
            <a:off x="7324344" y="1828800"/>
            <a:ext cx="777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chemeClr val="tx1"/>
                </a:solidFill>
              </a:rPr>
              <a:t>OUTPUT</a:t>
            </a:r>
            <a:endParaRPr lang="en-US" sz="900" dirty="0"/>
          </a:p>
        </p:txBody>
      </p:sp>
      <p:sp>
        <p:nvSpPr>
          <p:cNvPr id="17" name="SQL request card"/>
          <p:cNvSpPr/>
          <p:nvPr/>
        </p:nvSpPr>
        <p:spPr>
          <a:xfrm>
            <a:off x="548640" y="3886200"/>
            <a:ext cx="11109960" cy="2423160"/>
          </a:xfrm>
          <a:prstGeom prst="roundRect">
            <a:avLst>
              <a:gd name="adj" fmla="val 6038"/>
            </a:avLst>
          </a:prstGeom>
          <a:solidFill>
            <a:schemeClr val="bg1"/>
          </a:solidFill>
          <a:ln w="25400">
            <a:solidFill>
              <a:schemeClr val="tx1"/>
            </a:solidFill>
            <a:prstDash val="solid"/>
          </a:ln>
          <a:effectLst>
            <a:outerShdw blurRad="101600" dist="63500" dir="2700000" algn="bl" rotWithShape="0">
              <a:srgbClr val="111A3E">
                <a:alpha val="100000"/>
              </a:srgbClr>
            </a:outerShdw>
          </a:effectLst>
        </p:spPr>
      </p:sp>
      <p:sp>
        <p:nvSpPr>
          <p:cNvPr id="18" name="Chip"/>
          <p:cNvSpPr/>
          <p:nvPr/>
        </p:nvSpPr>
        <p:spPr>
          <a:xfrm>
            <a:off x="731520" y="4014216"/>
            <a:ext cx="1371600" cy="310896"/>
          </a:xfrm>
          <a:prstGeom prst="roundRect">
            <a:avLst>
              <a:gd name="adj" fmla="val 50000"/>
            </a:avLst>
          </a:prstGeom>
          <a:solidFill>
            <a:srgbClr val="FF5A5F"/>
          </a:solidFill>
          <a:ln w="19050">
            <a:solidFill>
              <a:schemeClr val="tx1"/>
            </a:solidFill>
            <a:prstDash val="solid"/>
          </a:ln>
        </p:spPr>
      </p:sp>
      <p:sp>
        <p:nvSpPr>
          <p:cNvPr id="19" name="Text 14"/>
          <p:cNvSpPr txBox="1"/>
          <p:nvPr/>
        </p:nvSpPr>
        <p:spPr>
          <a:xfrm>
            <a:off x="731520" y="4014216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chemeClr val="bg1"/>
                </a:solidFill>
              </a:rPr>
              <a:t>REQUEST 18</a:t>
            </a:r>
            <a:endParaRPr lang="en-US" sz="1100" dirty="0"/>
          </a:p>
        </p:txBody>
      </p:sp>
      <p:sp>
        <p:nvSpPr>
          <p:cNvPr id="20" name="Text 15"/>
          <p:cNvSpPr txBox="1"/>
          <p:nvPr/>
        </p:nvSpPr>
        <p:spPr>
          <a:xfrm>
            <a:off x="2240280" y="3977640"/>
            <a:ext cx="9235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chemeClr val="tx2"/>
                </a:solidFill>
              </a:rPr>
              <a:t>Stored procedure Top_Market: net sales by market for a fiscal year, top N.</a:t>
            </a:r>
            <a:endParaRPr lang="en-US" sz="1200" dirty="0"/>
          </a:p>
        </p:txBody>
      </p:sp>
      <p:sp>
        <p:nvSpPr>
          <p:cNvPr id="21" name="Query panel"/>
          <p:cNvSpPr/>
          <p:nvPr/>
        </p:nvSpPr>
        <p:spPr>
          <a:xfrm>
            <a:off x="731520" y="4544568"/>
            <a:ext cx="6364224" cy="1627632"/>
          </a:xfrm>
          <a:prstGeom prst="roundRect">
            <a:avLst>
              <a:gd name="adj" fmla="val 5618"/>
            </a:avLst>
          </a:prstGeom>
          <a:solidFill>
            <a:schemeClr val="bg2"/>
          </a:solidFill>
          <a:ln w="12700">
            <a:solidFill>
              <a:schemeClr val="tx1"/>
            </a:solidFill>
            <a:prstDash val="solid"/>
          </a:ln>
        </p:spPr>
      </p:sp>
      <p:pic>
        <p:nvPicPr>
          <p:cNvPr id="22" name="Image 3" descr="SQL query for request 1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156228" y="4654296"/>
            <a:ext cx="3514807" cy="1408176"/>
          </a:xfrm>
          <a:prstGeom prst="rect">
            <a:avLst/>
          </a:prstGeom>
        </p:spPr>
      </p:pic>
      <p:sp>
        <p:nvSpPr>
          <p:cNvPr id="23" name="Chip"/>
          <p:cNvSpPr/>
          <p:nvPr/>
        </p:nvSpPr>
        <p:spPr>
          <a:xfrm>
            <a:off x="822960" y="4434840"/>
            <a:ext cx="731520" cy="219456"/>
          </a:xfrm>
          <a:prstGeom prst="roundRect">
            <a:avLst>
              <a:gd name="adj" fmla="val 50000"/>
            </a:avLst>
          </a:prstGeom>
          <a:solidFill>
            <a:srgbClr val="FFC53D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24" name="Text 18"/>
          <p:cNvSpPr txBox="1"/>
          <p:nvPr/>
        </p:nvSpPr>
        <p:spPr>
          <a:xfrm>
            <a:off x="822960" y="4434840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chemeClr val="tx1"/>
                </a:solidFill>
              </a:rPr>
              <a:t>QUERY</a:t>
            </a:r>
            <a:endParaRPr lang="en-US" sz="900" dirty="0"/>
          </a:p>
        </p:txBody>
      </p:sp>
      <p:sp>
        <p:nvSpPr>
          <p:cNvPr id="25" name="Output panel"/>
          <p:cNvSpPr/>
          <p:nvPr/>
        </p:nvSpPr>
        <p:spPr>
          <a:xfrm>
            <a:off x="7232904" y="4544568"/>
            <a:ext cx="4242816" cy="1627632"/>
          </a:xfrm>
          <a:prstGeom prst="roundRect">
            <a:avLst>
              <a:gd name="adj" fmla="val 5618"/>
            </a:avLst>
          </a:prstGeom>
          <a:solidFill>
            <a:schemeClr val="bg2"/>
          </a:solidFill>
          <a:ln w="12700">
            <a:solidFill>
              <a:schemeClr val="tx1"/>
            </a:solidFill>
            <a:prstDash val="solid"/>
          </a:ln>
        </p:spPr>
      </p:sp>
      <p:pic>
        <p:nvPicPr>
          <p:cNvPr id="26" name="Image 4" descr="Output for request 1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972457" y="4654296"/>
            <a:ext cx="2763710" cy="1408176"/>
          </a:xfrm>
          <a:prstGeom prst="rect">
            <a:avLst/>
          </a:prstGeom>
        </p:spPr>
      </p:pic>
      <p:sp>
        <p:nvSpPr>
          <p:cNvPr id="27" name="Chip"/>
          <p:cNvSpPr/>
          <p:nvPr/>
        </p:nvSpPr>
        <p:spPr>
          <a:xfrm>
            <a:off x="7324344" y="4434840"/>
            <a:ext cx="777240" cy="219456"/>
          </a:xfrm>
          <a:prstGeom prst="roundRect">
            <a:avLst>
              <a:gd name="adj" fmla="val 50000"/>
            </a:avLst>
          </a:prstGeom>
          <a:solidFill>
            <a:srgbClr val="22C3B0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28" name="Text 21"/>
          <p:cNvSpPr txBox="1"/>
          <p:nvPr/>
        </p:nvSpPr>
        <p:spPr>
          <a:xfrm>
            <a:off x="7324344" y="4434840"/>
            <a:ext cx="777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chemeClr val="tx1"/>
                </a:solidFill>
              </a:rPr>
              <a:t>OUTPUT</a:t>
            </a:r>
            <a:endParaRPr lang="en-US" sz="900" dirty="0"/>
          </a:p>
        </p:txBody>
      </p:sp>
      <p:sp>
        <p:nvSpPr>
          <p:cNvPr id="2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2B3A7A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41</a:t>
            </a:fld>
            <a:endParaRPr lang="en-US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dge"/>
          <p:cNvSpPr/>
          <p:nvPr/>
        </p:nvSpPr>
        <p:spPr>
          <a:xfrm>
            <a:off x="706119" y="55882"/>
            <a:ext cx="1051560" cy="105156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bg1"/>
            </a:solidFill>
            <a:prstDash val="solid"/>
          </a:ln>
        </p:spPr>
      </p:sp>
      <p:pic>
        <p:nvPicPr>
          <p:cNvPr id="3" name="Image 0" descr="AtliQ log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3279" y="201367"/>
            <a:ext cx="777240" cy="760590"/>
          </a:xfrm>
          <a:prstGeom prst="rect">
            <a:avLst/>
          </a:prstGeom>
        </p:spPr>
      </p:pic>
      <p:sp>
        <p:nvSpPr>
          <p:cNvPr id="4" name="Text 0"/>
          <p:cNvSpPr>
            <a:spLocks noGrp="1"/>
          </p:cNvSpPr>
          <p:nvPr>
            <p:ph type="title" idx="100" hasCustomPrompt="1"/>
          </p:nvPr>
        </p:nvSpPr>
        <p:spPr>
          <a:xfrm>
            <a:off x="2103120" y="640080"/>
            <a:ext cx="307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600" b="1" dirty="0">
                <a:solidFill>
                  <a:schemeClr val="bg1"/>
                </a:solidFill>
              </a:rPr>
              <a:t>INSIGHTS</a:t>
            </a:r>
            <a:endParaRPr lang="en-US" sz="4600" dirty="0"/>
          </a:p>
        </p:txBody>
      </p:sp>
      <p:sp>
        <p:nvSpPr>
          <p:cNvPr id="5" name="Text 0"/>
          <p:cNvSpPr>
            <a:spLocks noGrp="1"/>
          </p:cNvSpPr>
          <p:nvPr>
            <p:ph type="body" idx="101" hasCustomPrompt="1"/>
          </p:nvPr>
        </p:nvSpPr>
        <p:spPr>
          <a:xfrm>
            <a:off x="152400" y="1463040"/>
            <a:ext cx="8390466" cy="52340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/>
            <a:r>
              <a:rPr lang="en-US" sz="1200" i="0" u="none" strike="noStrike" baseline="0" dirty="0">
                <a:solidFill>
                  <a:schemeClr val="bg1"/>
                </a:solidFill>
                <a:latin typeface="SegoeUI"/>
              </a:rPr>
              <a:t>• </a:t>
            </a:r>
            <a:r>
              <a:rPr lang="en-US" sz="1200" i="0" u="none" strike="noStrike" baseline="0" dirty="0" err="1">
                <a:solidFill>
                  <a:schemeClr val="bg1"/>
                </a:solidFill>
                <a:latin typeface="Tahoma" panose="020B0604030504040204" pitchFamily="34" charset="0"/>
              </a:rPr>
              <a:t>AtliQ</a:t>
            </a:r>
            <a:r>
              <a:rPr lang="en-US" sz="1200" i="0" u="none" strike="noStrike" baseline="0" dirty="0">
                <a:solidFill>
                  <a:schemeClr val="bg1"/>
                </a:solidFill>
                <a:latin typeface="Tahoma" panose="020B0604030504040204" pitchFamily="34" charset="0"/>
              </a:rPr>
              <a:t> Exclusive operates its business in eight countries within the APAC region are as follows: India, Indonesia,</a:t>
            </a:r>
          </a:p>
          <a:p>
            <a:pPr algn="l"/>
            <a:r>
              <a:rPr lang="en-IN" sz="1200" i="0" u="none" strike="noStrike" baseline="0" dirty="0">
                <a:solidFill>
                  <a:schemeClr val="bg1"/>
                </a:solidFill>
                <a:latin typeface="Tahoma" panose="020B0604030504040204" pitchFamily="34" charset="0"/>
              </a:rPr>
              <a:t>Japan, </a:t>
            </a:r>
            <a:r>
              <a:rPr lang="en-IN" sz="1200" i="0" u="none" strike="noStrike" baseline="0" dirty="0" err="1">
                <a:solidFill>
                  <a:schemeClr val="bg1"/>
                </a:solidFill>
                <a:latin typeface="Tahoma" panose="020B0604030504040204" pitchFamily="34" charset="0"/>
              </a:rPr>
              <a:t>Philiphines</a:t>
            </a:r>
            <a:r>
              <a:rPr lang="en-IN" sz="1200" i="0" u="none" strike="noStrike" baseline="0" dirty="0">
                <a:solidFill>
                  <a:schemeClr val="bg1"/>
                </a:solidFill>
                <a:latin typeface="Tahoma" panose="020B0604030504040204" pitchFamily="34" charset="0"/>
              </a:rPr>
              <a:t>, South Korea, Australia, New Zealand, Bangladesh.</a:t>
            </a:r>
          </a:p>
          <a:p>
            <a:pPr algn="l"/>
            <a:endParaRPr lang="en-IN" sz="1200" i="0" u="none" strike="noStrike" baseline="0" dirty="0">
              <a:solidFill>
                <a:schemeClr val="bg1"/>
              </a:solidFill>
              <a:latin typeface="Tahoma" panose="020B0604030504040204" pitchFamily="34" charset="0"/>
            </a:endParaRPr>
          </a:p>
          <a:p>
            <a:pPr algn="l"/>
            <a:r>
              <a:rPr lang="en-US" sz="1200" i="0" u="none" strike="noStrike" baseline="0" dirty="0">
                <a:solidFill>
                  <a:schemeClr val="bg1"/>
                </a:solidFill>
                <a:latin typeface="SegoeUI"/>
              </a:rPr>
              <a:t>• </a:t>
            </a:r>
            <a:r>
              <a:rPr lang="en-US" sz="1200" i="0" u="none" strike="noStrike" baseline="0" dirty="0">
                <a:solidFill>
                  <a:schemeClr val="bg1"/>
                </a:solidFill>
                <a:latin typeface="Tahoma" panose="020B0604030504040204" pitchFamily="34" charset="0"/>
              </a:rPr>
              <a:t>In the fiscal year 2020, we had a total of 245 products, which increased to 334 in the fiscal year 2021, marking</a:t>
            </a:r>
          </a:p>
          <a:p>
            <a:pPr algn="l"/>
            <a:r>
              <a:rPr lang="en-IN" sz="1200" i="0" u="none" strike="noStrike" baseline="0" dirty="0">
                <a:solidFill>
                  <a:schemeClr val="bg1"/>
                </a:solidFill>
                <a:latin typeface="Tahoma" panose="020B0604030504040204" pitchFamily="34" charset="0"/>
              </a:rPr>
              <a:t>a 36% growth.</a:t>
            </a:r>
          </a:p>
          <a:p>
            <a:pPr algn="l"/>
            <a:endParaRPr lang="en-IN" sz="1200" i="0" u="none" strike="noStrike" baseline="0" dirty="0">
              <a:solidFill>
                <a:schemeClr val="bg1"/>
              </a:solidFill>
              <a:latin typeface="Tahoma" panose="020B0604030504040204" pitchFamily="34" charset="0"/>
            </a:endParaRPr>
          </a:p>
          <a:p>
            <a:pPr algn="l"/>
            <a:r>
              <a:rPr lang="en-US" sz="1200" i="0" u="none" strike="noStrike" baseline="0" dirty="0">
                <a:solidFill>
                  <a:schemeClr val="bg1"/>
                </a:solidFill>
                <a:latin typeface="SegoeUI"/>
              </a:rPr>
              <a:t>• </a:t>
            </a:r>
            <a:r>
              <a:rPr lang="en-US" sz="1200" i="0" u="none" strike="noStrike" baseline="0" dirty="0">
                <a:solidFill>
                  <a:schemeClr val="bg1"/>
                </a:solidFill>
                <a:latin typeface="Tahoma" panose="020B0604030504040204" pitchFamily="34" charset="0"/>
              </a:rPr>
              <a:t>Notebooks, Accessories, and Peripherals are the three top segments.</a:t>
            </a:r>
          </a:p>
          <a:p>
            <a:pPr algn="l"/>
            <a:endParaRPr lang="en-US" sz="1200" i="0" u="none" strike="noStrike" baseline="0" dirty="0">
              <a:solidFill>
                <a:schemeClr val="bg1"/>
              </a:solidFill>
              <a:latin typeface="Tahoma" panose="020B0604030504040204" pitchFamily="34" charset="0"/>
            </a:endParaRPr>
          </a:p>
          <a:p>
            <a:pPr algn="l"/>
            <a:r>
              <a:rPr lang="en-US" sz="1200" i="0" u="none" strike="noStrike" baseline="0" dirty="0">
                <a:solidFill>
                  <a:schemeClr val="bg1"/>
                </a:solidFill>
                <a:latin typeface="SegoeUI"/>
              </a:rPr>
              <a:t>• </a:t>
            </a:r>
            <a:r>
              <a:rPr lang="en-US" sz="1200" i="0" u="none" strike="noStrike" baseline="0" dirty="0">
                <a:solidFill>
                  <a:schemeClr val="bg1"/>
                </a:solidFill>
                <a:latin typeface="Tahoma" panose="020B0604030504040204" pitchFamily="34" charset="0"/>
              </a:rPr>
              <a:t>The Accessories segment had the most unique products in 2021 compared to 2020.</a:t>
            </a:r>
          </a:p>
          <a:p>
            <a:pPr algn="l"/>
            <a:endParaRPr lang="en-US" sz="1200" i="0" u="none" strike="noStrike" baseline="0" dirty="0">
              <a:solidFill>
                <a:schemeClr val="bg1"/>
              </a:solidFill>
              <a:latin typeface="Tahoma" panose="020B0604030504040204" pitchFamily="34" charset="0"/>
            </a:endParaRPr>
          </a:p>
          <a:p>
            <a:pPr algn="l"/>
            <a:r>
              <a:rPr lang="en-US" sz="1200" i="0" u="none" strike="noStrike" baseline="0" dirty="0">
                <a:solidFill>
                  <a:schemeClr val="bg1"/>
                </a:solidFill>
                <a:latin typeface="SegoeUI"/>
              </a:rPr>
              <a:t>• </a:t>
            </a:r>
            <a:r>
              <a:rPr lang="en-US" sz="1200" i="0" u="none" strike="noStrike" baseline="0" dirty="0">
                <a:solidFill>
                  <a:schemeClr val="bg1"/>
                </a:solidFill>
                <a:latin typeface="Tahoma" panose="020B0604030504040204" pitchFamily="34" charset="0"/>
              </a:rPr>
              <a:t>The AQ HOME Allin1 Gen 2 has the highest manufacturing cost, while the AQ Master wired x1 MS has the</a:t>
            </a:r>
          </a:p>
          <a:p>
            <a:pPr algn="l"/>
            <a:r>
              <a:rPr lang="en-IN" sz="1200" i="0" u="none" strike="noStrike" baseline="0" dirty="0">
                <a:solidFill>
                  <a:schemeClr val="bg1"/>
                </a:solidFill>
                <a:latin typeface="Tahoma" panose="020B0604030504040204" pitchFamily="34" charset="0"/>
              </a:rPr>
              <a:t>lowest manufacturing cost.</a:t>
            </a:r>
          </a:p>
          <a:p>
            <a:pPr algn="l"/>
            <a:endParaRPr lang="en-IN" sz="1200" i="0" u="none" strike="noStrike" baseline="0" dirty="0">
              <a:solidFill>
                <a:schemeClr val="bg1"/>
              </a:solidFill>
              <a:latin typeface="Tahoma" panose="020B0604030504040204" pitchFamily="34" charset="0"/>
            </a:endParaRPr>
          </a:p>
          <a:p>
            <a:pPr algn="l"/>
            <a:r>
              <a:rPr lang="en-US" sz="1200" i="0" u="none" strike="noStrike" baseline="0" dirty="0">
                <a:solidFill>
                  <a:schemeClr val="bg1"/>
                </a:solidFill>
                <a:latin typeface="SegoeUI"/>
              </a:rPr>
              <a:t>• </a:t>
            </a:r>
            <a:r>
              <a:rPr lang="en-US" sz="1200" i="0" u="none" strike="noStrike" baseline="0" dirty="0">
                <a:solidFill>
                  <a:schemeClr val="bg1"/>
                </a:solidFill>
                <a:latin typeface="Tahoma" panose="020B0604030504040204" pitchFamily="34" charset="0"/>
              </a:rPr>
              <a:t>Flipkart, </a:t>
            </a:r>
            <a:r>
              <a:rPr lang="en-US" sz="1200" i="0" u="none" strike="noStrike" baseline="0" dirty="0" err="1">
                <a:solidFill>
                  <a:schemeClr val="bg1"/>
                </a:solidFill>
                <a:latin typeface="Tahoma" panose="020B0604030504040204" pitchFamily="34" charset="0"/>
              </a:rPr>
              <a:t>Viveks</a:t>
            </a:r>
            <a:r>
              <a:rPr lang="en-US" sz="1200" i="0" u="none" strike="noStrike" baseline="0" dirty="0">
                <a:solidFill>
                  <a:schemeClr val="bg1"/>
                </a:solidFill>
                <a:latin typeface="Tahoma" panose="020B0604030504040204" pitchFamily="34" charset="0"/>
              </a:rPr>
              <a:t>, Ezone, Croma, and Amazon offered the highest average discount percentages in the Indian</a:t>
            </a:r>
          </a:p>
          <a:p>
            <a:pPr algn="l"/>
            <a:r>
              <a:rPr lang="en-US" sz="1200" i="0" u="none" strike="noStrike" baseline="0" dirty="0">
                <a:solidFill>
                  <a:schemeClr val="bg1"/>
                </a:solidFill>
                <a:latin typeface="Tahoma" panose="020B0604030504040204" pitchFamily="34" charset="0"/>
              </a:rPr>
              <a:t>market for the fiscal year 2021.</a:t>
            </a:r>
          </a:p>
          <a:p>
            <a:pPr algn="l"/>
            <a:endParaRPr lang="en-US" sz="1200" i="0" u="none" strike="noStrike" baseline="0" dirty="0">
              <a:solidFill>
                <a:schemeClr val="bg1"/>
              </a:solidFill>
              <a:latin typeface="Tahoma" panose="020B0604030504040204" pitchFamily="34" charset="0"/>
            </a:endParaRPr>
          </a:p>
          <a:p>
            <a:pPr algn="l"/>
            <a:r>
              <a:rPr lang="en-US" sz="1200" i="0" u="none" strike="noStrike" baseline="0" dirty="0">
                <a:solidFill>
                  <a:schemeClr val="bg1"/>
                </a:solidFill>
                <a:latin typeface="SegoeUI"/>
              </a:rPr>
              <a:t>• </a:t>
            </a:r>
            <a:r>
              <a:rPr lang="en-US" sz="1200" i="0" u="none" strike="noStrike" baseline="0" dirty="0">
                <a:solidFill>
                  <a:schemeClr val="bg1"/>
                </a:solidFill>
                <a:latin typeface="Tahoma" panose="020B0604030504040204" pitchFamily="34" charset="0"/>
              </a:rPr>
              <a:t>In 2019, September was the lowest performing month, while November saw the highest performance. For</a:t>
            </a:r>
          </a:p>
          <a:p>
            <a:pPr algn="l"/>
            <a:r>
              <a:rPr lang="en-US" sz="1200" i="0" u="none" strike="noStrike" baseline="0" dirty="0">
                <a:solidFill>
                  <a:schemeClr val="bg1"/>
                </a:solidFill>
                <a:latin typeface="Tahoma" panose="020B0604030504040204" pitchFamily="34" charset="0"/>
              </a:rPr>
              <a:t>2020, March was the lowest performing month, with November again being the highest.</a:t>
            </a:r>
          </a:p>
          <a:p>
            <a:pPr algn="l"/>
            <a:r>
              <a:rPr lang="en-US" sz="1200" i="0" u="none" strike="noStrike" baseline="0" dirty="0">
                <a:solidFill>
                  <a:schemeClr val="bg1"/>
                </a:solidFill>
                <a:latin typeface="SegoeUI"/>
              </a:rPr>
              <a:t>• </a:t>
            </a:r>
            <a:r>
              <a:rPr lang="en-US" sz="1200" i="0" u="none" strike="noStrike" baseline="0" dirty="0">
                <a:solidFill>
                  <a:schemeClr val="bg1"/>
                </a:solidFill>
                <a:latin typeface="Tahoma" panose="020B0604030504040204" pitchFamily="34" charset="0"/>
              </a:rPr>
              <a:t>The first quarter of 2020 (September, October, November) saw the highest number of pro</a:t>
            </a:r>
          </a:p>
          <a:p>
            <a:pPr algn="l"/>
            <a:r>
              <a:rPr lang="en-US" sz="1200" i="0" u="none" strike="noStrike" baseline="0" dirty="0">
                <a:solidFill>
                  <a:schemeClr val="bg1"/>
                </a:solidFill>
                <a:latin typeface="Tahoma" panose="020B0604030504040204" pitchFamily="34" charset="0"/>
              </a:rPr>
              <a:t>ducts sold.</a:t>
            </a:r>
          </a:p>
          <a:p>
            <a:pPr algn="l"/>
            <a:r>
              <a:rPr lang="en-US" sz="1200" i="0" u="none" strike="noStrike" baseline="0" dirty="0">
                <a:solidFill>
                  <a:schemeClr val="bg1"/>
                </a:solidFill>
                <a:latin typeface="SegoeUI"/>
              </a:rPr>
              <a:t>• </a:t>
            </a:r>
            <a:r>
              <a:rPr lang="en-US" sz="1200" i="0" u="none" strike="noStrike" baseline="0" dirty="0">
                <a:solidFill>
                  <a:schemeClr val="bg1"/>
                </a:solidFill>
                <a:latin typeface="Tahoma" panose="020B0604030504040204" pitchFamily="34" charset="0"/>
              </a:rPr>
              <a:t>The retailer channel significantly boosted gross sales in the fiscal year 2021, contributing 73.23%.</a:t>
            </a:r>
          </a:p>
          <a:p>
            <a:pPr algn="l"/>
            <a:r>
              <a:rPr lang="en-US" sz="1200" i="0" u="none" strike="noStrike" baseline="0" dirty="0">
                <a:solidFill>
                  <a:schemeClr val="bg1"/>
                </a:solidFill>
                <a:latin typeface="SegoeUI"/>
              </a:rPr>
              <a:t>• </a:t>
            </a:r>
            <a:r>
              <a:rPr lang="en-US" sz="1200" i="0" u="none" strike="noStrike" baseline="0" dirty="0">
                <a:solidFill>
                  <a:schemeClr val="bg1"/>
                </a:solidFill>
                <a:latin typeface="Tahoma" panose="020B0604030504040204" pitchFamily="34" charset="0"/>
              </a:rPr>
              <a:t>The top-selling products in the fiscal year 2021 were as follows: N&amp;S Division: AQ Pen Drive 2 in 1, AQ Pen</a:t>
            </a:r>
          </a:p>
          <a:p>
            <a:pPr algn="l"/>
            <a:r>
              <a:rPr lang="en-IN" sz="1200" i="0" u="none" strike="noStrike" baseline="0" dirty="0">
                <a:solidFill>
                  <a:schemeClr val="bg1"/>
                </a:solidFill>
                <a:latin typeface="Tahoma" panose="020B0604030504040204" pitchFamily="34" charset="0"/>
              </a:rPr>
              <a:t>Drive DRC P&amp;A Division: AQ Gamers MS, AQ Maxima MS PC Division: AQ Digit, AQ Velocity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6" name="Hero circle"/>
          <p:cNvSpPr/>
          <p:nvPr/>
        </p:nvSpPr>
        <p:spPr>
          <a:xfrm>
            <a:off x="8542866" y="1752600"/>
            <a:ext cx="3070013" cy="3779520"/>
          </a:xfrm>
          <a:prstGeom prst="ellipse">
            <a:avLst/>
          </a:prstGeom>
          <a:solidFill>
            <a:schemeClr val="accent2"/>
          </a:solidFill>
          <a:ln w="38100">
            <a:solidFill>
              <a:schemeClr val="bg1"/>
            </a:solidFill>
            <a:prstDash val="solid"/>
          </a:ln>
          <a:effectLst>
            <a:outerShdw blurRad="101600" dist="63500" dir="2700000" algn="bl" rotWithShape="0">
              <a:srgbClr val="070D26">
                <a:alpha val="100000"/>
              </a:srgbClr>
            </a:outerShdw>
          </a:effectLst>
        </p:spPr>
      </p:sp>
      <p:pic>
        <p:nvPicPr>
          <p:cNvPr id="7" name="Image 1" descr="Cartoon analyst with laptop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60080" y="1463040"/>
            <a:ext cx="36576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dge"/>
          <p:cNvSpPr/>
          <p:nvPr/>
        </p:nvSpPr>
        <p:spPr>
          <a:xfrm>
            <a:off x="731520" y="640080"/>
            <a:ext cx="1051560" cy="105156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bg1"/>
            </a:solidFill>
            <a:prstDash val="solid"/>
          </a:ln>
        </p:spPr>
      </p:sp>
      <p:pic>
        <p:nvPicPr>
          <p:cNvPr id="3" name="Image 0" descr="AtliQ log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785565"/>
            <a:ext cx="777240" cy="760590"/>
          </a:xfrm>
          <a:prstGeom prst="rect">
            <a:avLst/>
          </a:prstGeom>
        </p:spPr>
      </p:pic>
      <p:sp>
        <p:nvSpPr>
          <p:cNvPr id="4" name="Text 0"/>
          <p:cNvSpPr>
            <a:spLocks noGrp="1"/>
          </p:cNvSpPr>
          <p:nvPr>
            <p:ph type="title" idx="100" hasCustomPrompt="1"/>
          </p:nvPr>
        </p:nvSpPr>
        <p:spPr>
          <a:xfrm>
            <a:off x="731520" y="1920240"/>
            <a:ext cx="6400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600" b="1" dirty="0">
                <a:solidFill>
                  <a:schemeClr val="bg1"/>
                </a:solidFill>
              </a:rPr>
              <a:t>Thank you</a:t>
            </a:r>
            <a:endParaRPr lang="en-US" sz="4600" dirty="0"/>
          </a:p>
        </p:txBody>
      </p:sp>
      <p:sp>
        <p:nvSpPr>
          <p:cNvPr id="5" name="Text 0"/>
          <p:cNvSpPr>
            <a:spLocks noGrp="1"/>
          </p:cNvSpPr>
          <p:nvPr>
            <p:ph type="body" idx="101" hasCustomPrompt="1"/>
          </p:nvPr>
        </p:nvSpPr>
        <p:spPr>
          <a:xfrm>
            <a:off x="731520" y="3200400"/>
            <a:ext cx="6035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200" dirty="0">
                <a:solidFill>
                  <a:schemeClr val="bg2"/>
                </a:solidFill>
              </a:rPr>
              <a:t>Questions and discussion</a:t>
            </a:r>
            <a:endParaRPr lang="en-US" sz="2200" dirty="0"/>
          </a:p>
        </p:txBody>
      </p:sp>
      <p:sp>
        <p:nvSpPr>
          <p:cNvPr id="6" name="Hero circle"/>
          <p:cNvSpPr/>
          <p:nvPr/>
        </p:nvSpPr>
        <p:spPr>
          <a:xfrm>
            <a:off x="7315200" y="1234440"/>
            <a:ext cx="4297680" cy="4297680"/>
          </a:xfrm>
          <a:prstGeom prst="ellipse">
            <a:avLst/>
          </a:prstGeom>
          <a:solidFill>
            <a:schemeClr val="accent2"/>
          </a:solidFill>
          <a:ln w="38100">
            <a:solidFill>
              <a:schemeClr val="bg1"/>
            </a:solidFill>
            <a:prstDash val="solid"/>
          </a:ln>
          <a:effectLst>
            <a:outerShdw blurRad="101600" dist="63500" dir="2700000" algn="bl" rotWithShape="0">
              <a:srgbClr val="070D26">
                <a:alpha val="100000"/>
              </a:srgbClr>
            </a:outerShdw>
          </a:effectLst>
        </p:spPr>
      </p:sp>
      <p:pic>
        <p:nvPicPr>
          <p:cNvPr id="7" name="Image 1" descr="Cartoon analyst with laptop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35240" y="1554480"/>
            <a:ext cx="3657600" cy="3657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6494497"/>
      </p:ext>
    </p:extLst>
  </p:cSld>
  <p:clrMapOvr>
    <a:masterClrMapping/>
  </p:clrMapOvr>
</p:sld>
</file>

<file path=ppt/theme/theme1.xml><?xml version="1.0" encoding="utf-8"?>
<a:theme xmlns:a="http://schemas.openxmlformats.org/drawingml/2006/main" name="AtliQ Cartoon Pro">
  <a:themeElements>
    <a:clrScheme name="AtliQ Cartoon Pro">
      <a:dk1>
        <a:srgbClr val="111A3E"/>
      </a:dk1>
      <a:lt1>
        <a:srgbClr val="FFFFFF"/>
      </a:lt1>
      <a:dk2>
        <a:srgbClr val="2B3A7A"/>
      </a:dk2>
      <a:lt2>
        <a:srgbClr val="F1F5FF"/>
      </a:lt2>
      <a:accent1>
        <a:srgbClr val="FF5A5F"/>
      </a:accent1>
      <a:accent2>
        <a:srgbClr val="FFC53D"/>
      </a:accent2>
      <a:accent3>
        <a:srgbClr val="22C3B0"/>
      </a:accent3>
      <a:accent4>
        <a:srgbClr val="7B61FF"/>
      </a:accent4>
      <a:accent5>
        <a:srgbClr val="3D8BFF"/>
      </a:accent5>
      <a:accent6>
        <a:srgbClr val="FF8A3D"/>
      </a:accent6>
      <a:hlink>
        <a:srgbClr val="3D8BFF"/>
      </a:hlink>
      <a:folHlink>
        <a:srgbClr val="7B61FF"/>
      </a:folHlink>
    </a:clrScheme>
    <a:fontScheme name="AtliQ Cartoon Pro">
      <a:majorFont>
        <a:latin typeface="Trebuchet M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63</TotalTime>
  <Words>5477</Words>
  <Application>Microsoft Office PowerPoint</Application>
  <PresentationFormat>Widescreen</PresentationFormat>
  <Paragraphs>713</Paragraphs>
  <Slides>43</Slides>
  <Notes>40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43</vt:i4>
      </vt:variant>
    </vt:vector>
  </HeadingPairs>
  <TitlesOfParts>
    <vt:vector size="49" baseType="lpstr">
      <vt:lpstr>Arial</vt:lpstr>
      <vt:lpstr>Calibri</vt:lpstr>
      <vt:lpstr>SegoeUI</vt:lpstr>
      <vt:lpstr>Tahoma</vt:lpstr>
      <vt:lpstr>Trebuchet MS</vt:lpstr>
      <vt:lpstr>AtliQ Cartoon Pro</vt:lpstr>
      <vt:lpstr>Ad-Hoc Analytics</vt:lpstr>
      <vt:lpstr>What we will cover</vt:lpstr>
      <vt:lpstr>India's leading hardware maker, going global</vt:lpstr>
      <vt:lpstr>Why the SQL challenge?</vt:lpstr>
      <vt:lpstr>Dataset and data model</vt:lpstr>
      <vt:lpstr>A peek at the data: gross_sales view</vt:lpstr>
      <vt:lpstr>18 business requests, one story</vt:lpstr>
      <vt:lpstr>Headline insights at a glance</vt:lpstr>
      <vt:lpstr>AtliQ Exclusive spans 8 APAC markets</vt:lpstr>
      <vt:lpstr>Product range up 36% in a year</vt:lpstr>
      <vt:lpstr>Three segments hold 83% of the range</vt:lpstr>
      <vt:lpstr>Accessories added the most new products</vt:lpstr>
      <vt:lpstr>Costliest vs cheapest to make</vt:lpstr>
      <vt:lpstr>Flipkart tops the discount list</vt:lpstr>
      <vt:lpstr>Sales rebounded after the COVID dip</vt:lpstr>
      <vt:lpstr>Q1 led volume; Q3 fell hardest</vt:lpstr>
      <vt:lpstr>Retailers drive 73% of gross sales</vt:lpstr>
      <vt:lpstr>Each division has a clear bestseller type</vt:lpstr>
      <vt:lpstr>Amazon leads FY2021 net sales</vt:lpstr>
      <vt:lpstr>Amazon holds 13% of APAC net sales</vt:lpstr>
      <vt:lpstr>Pen drives and mice sell in the millions</vt:lpstr>
      <vt:lpstr>Croma sales exploded 110x since 2017</vt:lpstr>
      <vt:lpstr>India and USA earn the Gold badge</vt:lpstr>
      <vt:lpstr>Forecast accuracy fell across markets</vt:lpstr>
      <vt:lpstr>AQ BZ Allin1 tops product net sales</vt:lpstr>
      <vt:lpstr>India is the top net-sales market</vt:lpstr>
      <vt:lpstr>Recommendations</vt:lpstr>
      <vt:lpstr>What the data told us</vt:lpstr>
      <vt:lpstr>How to improve the business</vt:lpstr>
      <vt:lpstr>Next steps: the 90-day plan</vt:lpstr>
      <vt:lpstr>Appendix: SQL queries (1 of 11)</vt:lpstr>
      <vt:lpstr>Appendix: SQL queries (2 of 11)</vt:lpstr>
      <vt:lpstr>Appendix: SQL queries (3 of 11)</vt:lpstr>
      <vt:lpstr>Appendix: SQL queries (4 of 11)</vt:lpstr>
      <vt:lpstr>Appendix: SQL queries (5 of 11)</vt:lpstr>
      <vt:lpstr>Appendix: SQL queries (6 of 11)</vt:lpstr>
      <vt:lpstr>Appendix: SQL queries (7 of 11)</vt:lpstr>
      <vt:lpstr>Appendix: SQL queries (8 of 11)</vt:lpstr>
      <vt:lpstr>Appendix: SQL queries (9 of 11)</vt:lpstr>
      <vt:lpstr>Appendix: SQL queries (10 of 11)</vt:lpstr>
      <vt:lpstr>Appendix: SQL queries (11 of 11)</vt:lpstr>
      <vt:lpstr>INSIGHTS</vt:lpstr>
      <vt:lpstr>Thank you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Finance Analytics - AtliQ Hardwares</dc:title>
  <dc:subject>PptxGenJS Presentation</dc:subject>
  <dc:creator>Finance Analytics</dc:creator>
  <cp:lastModifiedBy>Sebak Karmakar</cp:lastModifiedBy>
  <cp:revision>4</cp:revision>
  <dcterms:created xsi:type="dcterms:W3CDTF">2026-10-14T14:46:12Z</dcterms:created>
  <dcterms:modified xsi:type="dcterms:W3CDTF">2026-10-14T16:00:58Z</dcterms:modified>
</cp:coreProperties>
</file>